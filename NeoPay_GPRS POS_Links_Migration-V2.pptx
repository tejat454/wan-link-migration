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slides/slide2.xml" ContentType="application/vnd.openxmlformats-officedocument.presentationml.slide+xml"/>
  <Override PartName="/ppt/notesSlides/notesSlide3.xml" ContentType="application/vnd.openxmlformats-officedocument.presentationml.notesSlide+xml"/>
  <Override PartName="/ppt/tableStyles.xml" ContentType="application/vnd.openxmlformats-officedocument.presentationml.tableStyles+xml"/>
  <Override PartName="/ppt/presentation.xml" ContentType="application/vnd.openxmlformats-officedocument.presentationml.presentation.main+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s/slide4.xml" ContentType="application/vnd.openxmlformats-officedocument.presentationml.slide+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8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6593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7 services on 17 physical links — Etisalat 14, Du 3 — across DOZ (11 links) and DR (6 links). Every service carries the end goal "Migrate". Aggregate provisioned port bandwidth is about 355.5 Mbps, of which Etisalat GPRS accounts for 300 Mbps. CBUAE Certax (128 Kbps) rides the same DR link as CBUAE data backup.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 terminals reach the Etisalat or Du GPRS cloud over GPRS. Each GPRS cloud is physically connected to both Mashreq datacenters, which are joined by a 10G inter-DC link. Each Mashreq DC has one physical link into each ISP's dedicated VRF cloud, and each NeoPay DC has one physical link from each ISP's VRF cloud. Four GRE tunnels per ISP form a full mesh between the two Mashreq DCs and the two NeoPay DCs, delivering traffic to the Postilion servers. The NeoPay DCs are joined by a 2G inter-DC link.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D1DE1-3627-ACDD-BFE1-02493A684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7F0F2-03CD-3BBC-EE68-D4FE9178C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4FA76-A014-D256-B044-B71C41681D08}"/>
              </a:ext>
            </a:extLst>
          </p:cNvPr>
          <p:cNvSpPr>
            <a:spLocks noGrp="1"/>
          </p:cNvSpPr>
          <p:nvPr>
            <p:ph type="body" idx="1"/>
          </p:nvPr>
        </p:nvSpPr>
        <p:spPr/>
        <p:txBody>
          <a:bodyPr/>
          <a:lstStyle/>
          <a:p>
            <a:r>
              <a:rPr lang="en-US" dirty="0"/>
              <a:t>POS terminals reach the Etisalat or Du GPRS cloud over GPRS. Each GPRS cloud is physically connected to both Mashreq datacenters, which are joined by a 10G inter-DC link. Each Mashreq DC has one physical link into each ISP's dedicated VRF cloud, and each NeoPay DC has one physical link from each ISP's VRF cloud. Four GRE tunnels per ISP form a full mesh between the two Mashreq DCs and the two NeoPay DCs, delivering traffic to the Postilion servers. The NeoPay DCs are joined by a 2G inter-DC link.</a:t>
            </a:r>
          </a:p>
        </p:txBody>
      </p:sp>
      <p:sp>
        <p:nvSpPr>
          <p:cNvPr id="4" name="Slide Number Placeholder 3">
            <a:extLst>
              <a:ext uri="{FF2B5EF4-FFF2-40B4-BE49-F238E27FC236}">
                <a16:creationId xmlns:a16="http://schemas.microsoft.com/office/drawing/2014/main" id="{E5E205F9-472D-CED3-28FF-D55722C8542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236776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6.pn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svg"/><Relationship Id="rId4" Type="http://schemas.openxmlformats.org/officeDocument/2006/relationships/image" Target="../media/image6.png"/><Relationship Id="rId9"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01752"/>
            <a:ext cx="5486400" cy="219456"/>
          </a:xfrm>
          <a:prstGeom prst="rect">
            <a:avLst/>
          </a:prstGeom>
          <a:noFill/>
          <a:ln/>
        </p:spPr>
        <p:txBody>
          <a:bodyPr wrap="square" lIns="0" tIns="0" rIns="0" bIns="0" rtlCol="0" anchor="ctr"/>
          <a:lstStyle/>
          <a:p>
            <a:pPr marL="0" indent="0">
              <a:buNone/>
            </a:pPr>
            <a:r>
              <a:rPr lang="en-US" sz="1100" b="1" kern="0" spc="300" dirty="0">
                <a:solidFill>
                  <a:srgbClr val="667085"/>
                </a:solidFill>
                <a:latin typeface="Century Gothic" pitchFamily="34" charset="0"/>
                <a:ea typeface="Century Gothic" pitchFamily="34" charset="-122"/>
                <a:cs typeface="Century Gothic" pitchFamily="34" charset="-120"/>
              </a:rPr>
              <a:t>WAN LINKS MIGRATION</a:t>
            </a:r>
            <a:endParaRPr lang="en-US" sz="1100" dirty="0"/>
          </a:p>
        </p:txBody>
      </p:sp>
      <p:sp>
        <p:nvSpPr>
          <p:cNvPr id="3" name="Text 1"/>
          <p:cNvSpPr txBox="1"/>
          <p:nvPr/>
        </p:nvSpPr>
        <p:spPr>
          <a:xfrm>
            <a:off x="457200" y="548640"/>
            <a:ext cx="9326880" cy="548640"/>
          </a:xfrm>
          <a:prstGeom prst="rect">
            <a:avLst/>
          </a:prstGeom>
          <a:noFill/>
          <a:ln/>
        </p:spPr>
        <p:txBody>
          <a:bodyPr wrap="none" lIns="0" tIns="0" rIns="0" bIns="0" rtlCol="0" anchor="ctr"/>
          <a:lstStyle/>
          <a:p>
            <a:pPr marL="0" indent="0">
              <a:buNone/>
            </a:pPr>
            <a:r>
              <a:rPr lang="en-US" sz="3000" b="1" dirty="0">
                <a:solidFill>
                  <a:srgbClr val="EF4922"/>
                </a:solidFill>
                <a:latin typeface="Century Gothic" pitchFamily="34" charset="0"/>
                <a:ea typeface="Century Gothic" pitchFamily="34" charset="-122"/>
                <a:cs typeface="Century Gothic" pitchFamily="34" charset="-120"/>
              </a:rPr>
              <a:t>Executive </a:t>
            </a:r>
            <a:r>
              <a:rPr lang="en-US" sz="3000" b="1" dirty="0">
                <a:solidFill>
                  <a:srgbClr val="213C81"/>
                </a:solidFill>
                <a:latin typeface="Century Gothic" pitchFamily="34" charset="0"/>
                <a:ea typeface="Century Gothic" pitchFamily="34" charset="-122"/>
                <a:cs typeface="Century Gothic" pitchFamily="34" charset="-120"/>
              </a:rPr>
              <a:t>Summary</a:t>
            </a:r>
            <a:endParaRPr lang="en-US" sz="3000" dirty="0"/>
          </a:p>
        </p:txBody>
      </p:sp>
      <p:pic>
        <p:nvPicPr>
          <p:cNvPr id="4" name="Image 0" descr="/mnt/user-data/uploads/MASHREQ-NEO_PAY_LOGO-V2-2023-ENG-RGB-01.png"/>
          <p:cNvPicPr>
            <a:picLocks noChangeAspect="1"/>
          </p:cNvPicPr>
          <p:nvPr/>
        </p:nvPicPr>
        <p:blipFill>
          <a:blip r:embed="rId3"/>
          <a:stretch>
            <a:fillRect/>
          </a:stretch>
        </p:blipFill>
        <p:spPr>
          <a:xfrm>
            <a:off x="9905695" y="384048"/>
            <a:ext cx="1828800" cy="283515"/>
          </a:xfrm>
          <a:prstGeom prst="rect">
            <a:avLst/>
          </a:prstGeom>
        </p:spPr>
      </p:pic>
      <p:sp>
        <p:nvSpPr>
          <p:cNvPr id="5" name="Text 2"/>
          <p:cNvSpPr txBox="1"/>
          <p:nvPr/>
        </p:nvSpPr>
        <p:spPr>
          <a:xfrm>
            <a:off x="457200" y="1161288"/>
            <a:ext cx="11277295" cy="274320"/>
          </a:xfrm>
          <a:prstGeom prst="rect">
            <a:avLst/>
          </a:prstGeom>
          <a:noFill/>
          <a:ln/>
        </p:spPr>
        <p:txBody>
          <a:bodyPr wrap="square" lIns="0" tIns="0" rIns="0" bIns="0" rtlCol="0" anchor="ctr"/>
          <a:lstStyle/>
          <a:p>
            <a:pPr marL="0" indent="0">
              <a:buNone/>
            </a:pPr>
            <a:r>
              <a:rPr lang="en-US" sz="1400" dirty="0">
                <a:solidFill>
                  <a:srgbClr val="2B3140"/>
                </a:solidFill>
                <a:latin typeface="Century Gothic" pitchFamily="34" charset="0"/>
                <a:ea typeface="Century Gothic" pitchFamily="34" charset="-122"/>
                <a:cs typeface="Century Gothic" pitchFamily="34" charset="-120"/>
              </a:rPr>
              <a:t>7 services on 17 physical links across 2 locations (DOZ &amp; DR) and 2 ISPs — every service is flagged for migration.</a:t>
            </a:r>
            <a:endParaRPr lang="en-US" sz="1400" dirty="0"/>
          </a:p>
        </p:txBody>
      </p:sp>
      <p:sp>
        <p:nvSpPr>
          <p:cNvPr id="6" name="Shape 3"/>
          <p:cNvSpPr/>
          <p:nvPr/>
        </p:nvSpPr>
        <p:spPr>
          <a:xfrm>
            <a:off x="457200" y="1627632"/>
            <a:ext cx="2613584" cy="1207008"/>
          </a:xfrm>
          <a:prstGeom prst="roundRect">
            <a:avLst>
              <a:gd name="adj" fmla="val 7576"/>
            </a:avLst>
          </a:prstGeom>
          <a:solidFill>
            <a:srgbClr val="F4F6FB"/>
          </a:solidFill>
          <a:ln/>
        </p:spPr>
        <p:txBody>
          <a:bodyPr/>
          <a:lstStyle/>
          <a:p>
            <a:endParaRPr lang="en-US"/>
          </a:p>
        </p:txBody>
      </p:sp>
      <p:sp>
        <p:nvSpPr>
          <p:cNvPr id="7" name="Shape 4"/>
          <p:cNvSpPr/>
          <p:nvPr/>
        </p:nvSpPr>
        <p:spPr>
          <a:xfrm>
            <a:off x="2394128" y="1810512"/>
            <a:ext cx="457200" cy="457200"/>
          </a:xfrm>
          <a:prstGeom prst="ellipse">
            <a:avLst/>
          </a:prstGeom>
          <a:solidFill>
            <a:srgbClr val="FFFFFF"/>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2485568" y="1901952"/>
            <a:ext cx="274320" cy="274320"/>
          </a:xfrm>
          <a:prstGeom prst="rect">
            <a:avLst/>
          </a:prstGeom>
        </p:spPr>
      </p:pic>
      <p:sp>
        <p:nvSpPr>
          <p:cNvPr id="9" name="Text 5"/>
          <p:cNvSpPr txBox="1"/>
          <p:nvPr/>
        </p:nvSpPr>
        <p:spPr>
          <a:xfrm>
            <a:off x="685800" y="1737360"/>
            <a:ext cx="1463040" cy="566928"/>
          </a:xfrm>
          <a:prstGeom prst="rect">
            <a:avLst/>
          </a:prstGeom>
          <a:noFill/>
          <a:ln/>
        </p:spPr>
        <p:txBody>
          <a:bodyPr wrap="square" lIns="0" tIns="0" rIns="0" bIns="0" rtlCol="0" anchor="ctr"/>
          <a:lstStyle/>
          <a:p>
            <a:pPr marL="0" indent="0">
              <a:buNone/>
            </a:pPr>
            <a:r>
              <a:rPr lang="en-US" sz="3600" b="1" dirty="0">
                <a:solidFill>
                  <a:srgbClr val="EF4922"/>
                </a:solidFill>
                <a:latin typeface="Century Gothic" pitchFamily="34" charset="0"/>
                <a:ea typeface="Century Gothic" pitchFamily="34" charset="-122"/>
                <a:cs typeface="Century Gothic" pitchFamily="34" charset="-120"/>
              </a:rPr>
              <a:t>7</a:t>
            </a:r>
            <a:endParaRPr lang="en-US" sz="3600" dirty="0"/>
          </a:p>
        </p:txBody>
      </p:sp>
      <p:sp>
        <p:nvSpPr>
          <p:cNvPr id="10" name="Text 6"/>
          <p:cNvSpPr txBox="1"/>
          <p:nvPr/>
        </p:nvSpPr>
        <p:spPr>
          <a:xfrm>
            <a:off x="685800" y="2304288"/>
            <a:ext cx="2247824" cy="237744"/>
          </a:xfrm>
          <a:prstGeom prst="rect">
            <a:avLst/>
          </a:prstGeom>
          <a:noFill/>
          <a:ln/>
        </p:spPr>
        <p:txBody>
          <a:bodyPr wrap="square" lIns="0" tIns="0" rIns="0" bIns="0" rtlCol="0" anchor="ctr"/>
          <a:lstStyle/>
          <a:p>
            <a:pPr marL="0" indent="0">
              <a:buNone/>
            </a:pPr>
            <a:r>
              <a:rPr lang="en-US" sz="1300" b="1" dirty="0">
                <a:solidFill>
                  <a:srgbClr val="213C81"/>
                </a:solidFill>
                <a:latin typeface="Century Gothic" pitchFamily="34" charset="0"/>
                <a:ea typeface="Century Gothic" pitchFamily="34" charset="-122"/>
                <a:cs typeface="Century Gothic" pitchFamily="34" charset="-120"/>
              </a:rPr>
              <a:t>Services in scope</a:t>
            </a:r>
            <a:endParaRPr lang="en-US" sz="1300" dirty="0"/>
          </a:p>
        </p:txBody>
      </p:sp>
      <p:sp>
        <p:nvSpPr>
          <p:cNvPr id="11" name="Text 7"/>
          <p:cNvSpPr txBox="1"/>
          <p:nvPr/>
        </p:nvSpPr>
        <p:spPr>
          <a:xfrm>
            <a:off x="685800" y="2542032"/>
            <a:ext cx="2311832" cy="219456"/>
          </a:xfrm>
          <a:prstGeom prst="rect">
            <a:avLst/>
          </a:prstGeom>
          <a:noFill/>
          <a:ln/>
        </p:spPr>
        <p:txBody>
          <a:bodyPr wrap="square" lIns="0" tIns="0" rIns="0" bIns="0" rtlCol="0" anchor="ctr"/>
          <a:lstStyle/>
          <a:p>
            <a:pPr marL="0" indent="0">
              <a:buNone/>
            </a:pPr>
            <a:r>
              <a:rPr lang="en-US" sz="1000" dirty="0">
                <a:solidFill>
                  <a:srgbClr val="667085"/>
                </a:solidFill>
                <a:latin typeface="Century Gothic" pitchFamily="34" charset="0"/>
                <a:ea typeface="Century Gothic" pitchFamily="34" charset="-122"/>
                <a:cs typeface="Century Gothic" pitchFamily="34" charset="-120"/>
              </a:rPr>
              <a:t>All with end goal “Migrate”</a:t>
            </a:r>
            <a:endParaRPr lang="en-US" sz="1000" dirty="0"/>
          </a:p>
        </p:txBody>
      </p:sp>
      <p:sp>
        <p:nvSpPr>
          <p:cNvPr id="12" name="Shape 8"/>
          <p:cNvSpPr/>
          <p:nvPr/>
        </p:nvSpPr>
        <p:spPr>
          <a:xfrm>
            <a:off x="3345104" y="1627632"/>
            <a:ext cx="2613584" cy="1207008"/>
          </a:xfrm>
          <a:prstGeom prst="roundRect">
            <a:avLst>
              <a:gd name="adj" fmla="val 7576"/>
            </a:avLst>
          </a:prstGeom>
          <a:solidFill>
            <a:srgbClr val="F4F6FB"/>
          </a:solidFill>
          <a:ln/>
        </p:spPr>
        <p:txBody>
          <a:bodyPr/>
          <a:lstStyle/>
          <a:p>
            <a:endParaRPr lang="en-US"/>
          </a:p>
        </p:txBody>
      </p:sp>
      <p:sp>
        <p:nvSpPr>
          <p:cNvPr id="13" name="Shape 9"/>
          <p:cNvSpPr/>
          <p:nvPr/>
        </p:nvSpPr>
        <p:spPr>
          <a:xfrm>
            <a:off x="5282032" y="1810512"/>
            <a:ext cx="457200" cy="457200"/>
          </a:xfrm>
          <a:prstGeom prst="ellipse">
            <a:avLst/>
          </a:prstGeom>
          <a:solidFill>
            <a:srgbClr val="FFFFFF"/>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5373472" y="1901952"/>
            <a:ext cx="274320" cy="274320"/>
          </a:xfrm>
          <a:prstGeom prst="rect">
            <a:avLst/>
          </a:prstGeom>
        </p:spPr>
      </p:pic>
      <p:sp>
        <p:nvSpPr>
          <p:cNvPr id="15" name="Text 10"/>
          <p:cNvSpPr txBox="1"/>
          <p:nvPr/>
        </p:nvSpPr>
        <p:spPr>
          <a:xfrm>
            <a:off x="3573704" y="1737360"/>
            <a:ext cx="1463040" cy="566928"/>
          </a:xfrm>
          <a:prstGeom prst="rect">
            <a:avLst/>
          </a:prstGeom>
          <a:noFill/>
          <a:ln/>
        </p:spPr>
        <p:txBody>
          <a:bodyPr wrap="square" lIns="0" tIns="0" rIns="0" bIns="0" rtlCol="0" anchor="ctr"/>
          <a:lstStyle/>
          <a:p>
            <a:pPr marL="0" indent="0">
              <a:buNone/>
            </a:pPr>
            <a:r>
              <a:rPr lang="en-US" sz="3600" b="1" dirty="0">
                <a:solidFill>
                  <a:srgbClr val="EF4922"/>
                </a:solidFill>
                <a:latin typeface="Century Gothic" pitchFamily="34" charset="0"/>
                <a:ea typeface="Century Gothic" pitchFamily="34" charset="-122"/>
                <a:cs typeface="Century Gothic" pitchFamily="34" charset="-120"/>
              </a:rPr>
              <a:t>17</a:t>
            </a:r>
            <a:endParaRPr lang="en-US" sz="3600" dirty="0"/>
          </a:p>
        </p:txBody>
      </p:sp>
      <p:sp>
        <p:nvSpPr>
          <p:cNvPr id="16" name="Text 11"/>
          <p:cNvSpPr txBox="1"/>
          <p:nvPr/>
        </p:nvSpPr>
        <p:spPr>
          <a:xfrm>
            <a:off x="3573704" y="2304288"/>
            <a:ext cx="2247824" cy="237744"/>
          </a:xfrm>
          <a:prstGeom prst="rect">
            <a:avLst/>
          </a:prstGeom>
          <a:noFill/>
          <a:ln/>
        </p:spPr>
        <p:txBody>
          <a:bodyPr wrap="square" lIns="0" tIns="0" rIns="0" bIns="0" rtlCol="0" anchor="ctr"/>
          <a:lstStyle/>
          <a:p>
            <a:pPr marL="0" indent="0">
              <a:buNone/>
            </a:pPr>
            <a:r>
              <a:rPr lang="en-US" sz="1300" b="1" dirty="0">
                <a:solidFill>
                  <a:srgbClr val="213C81"/>
                </a:solidFill>
                <a:latin typeface="Century Gothic" pitchFamily="34" charset="0"/>
                <a:ea typeface="Century Gothic" pitchFamily="34" charset="-122"/>
                <a:cs typeface="Century Gothic" pitchFamily="34" charset="-120"/>
              </a:rPr>
              <a:t>Physical links</a:t>
            </a:r>
            <a:endParaRPr lang="en-US" sz="1300" dirty="0"/>
          </a:p>
        </p:txBody>
      </p:sp>
      <p:sp>
        <p:nvSpPr>
          <p:cNvPr id="17" name="Text 12"/>
          <p:cNvSpPr txBox="1"/>
          <p:nvPr/>
        </p:nvSpPr>
        <p:spPr>
          <a:xfrm>
            <a:off x="3573704" y="2542032"/>
            <a:ext cx="2311832" cy="219456"/>
          </a:xfrm>
          <a:prstGeom prst="rect">
            <a:avLst/>
          </a:prstGeom>
          <a:noFill/>
          <a:ln/>
        </p:spPr>
        <p:txBody>
          <a:bodyPr wrap="square" lIns="0" tIns="0" rIns="0" bIns="0" rtlCol="0" anchor="ctr"/>
          <a:lstStyle/>
          <a:p>
            <a:pPr marL="0" indent="0">
              <a:buNone/>
            </a:pPr>
            <a:r>
              <a:rPr lang="en-US" sz="1000" dirty="0">
                <a:solidFill>
                  <a:srgbClr val="667085"/>
                </a:solidFill>
                <a:latin typeface="Century Gothic" pitchFamily="34" charset="0"/>
                <a:ea typeface="Century Gothic" pitchFamily="34" charset="-122"/>
                <a:cs typeface="Century Gothic" pitchFamily="34" charset="-120"/>
              </a:rPr>
              <a:t>7 primary · 5 secondary · 5 backup</a:t>
            </a:r>
            <a:endParaRPr lang="en-US" sz="1000" dirty="0"/>
          </a:p>
        </p:txBody>
      </p:sp>
      <p:sp>
        <p:nvSpPr>
          <p:cNvPr id="18" name="Shape 13"/>
          <p:cNvSpPr/>
          <p:nvPr/>
        </p:nvSpPr>
        <p:spPr>
          <a:xfrm>
            <a:off x="6233008" y="1627632"/>
            <a:ext cx="2613584" cy="1207008"/>
          </a:xfrm>
          <a:prstGeom prst="roundRect">
            <a:avLst>
              <a:gd name="adj" fmla="val 7576"/>
            </a:avLst>
          </a:prstGeom>
          <a:solidFill>
            <a:srgbClr val="F4F6FB"/>
          </a:solidFill>
          <a:ln/>
        </p:spPr>
        <p:txBody>
          <a:bodyPr/>
          <a:lstStyle/>
          <a:p>
            <a:endParaRPr lang="en-US"/>
          </a:p>
        </p:txBody>
      </p:sp>
      <p:sp>
        <p:nvSpPr>
          <p:cNvPr id="19" name="Shape 14"/>
          <p:cNvSpPr/>
          <p:nvPr/>
        </p:nvSpPr>
        <p:spPr>
          <a:xfrm>
            <a:off x="8169935" y="1810512"/>
            <a:ext cx="457200" cy="457200"/>
          </a:xfrm>
          <a:prstGeom prst="ellipse">
            <a:avLst/>
          </a:prstGeom>
          <a:solidFill>
            <a:srgbClr val="FFFFFF"/>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8261375" y="1901952"/>
            <a:ext cx="274320" cy="274320"/>
          </a:xfrm>
          <a:prstGeom prst="rect">
            <a:avLst/>
          </a:prstGeom>
        </p:spPr>
      </p:pic>
      <p:sp>
        <p:nvSpPr>
          <p:cNvPr id="21" name="Text 15"/>
          <p:cNvSpPr txBox="1"/>
          <p:nvPr/>
        </p:nvSpPr>
        <p:spPr>
          <a:xfrm>
            <a:off x="6461608" y="1737360"/>
            <a:ext cx="1463040" cy="566928"/>
          </a:xfrm>
          <a:prstGeom prst="rect">
            <a:avLst/>
          </a:prstGeom>
          <a:noFill/>
          <a:ln/>
        </p:spPr>
        <p:txBody>
          <a:bodyPr wrap="square" lIns="0" tIns="0" rIns="0" bIns="0" rtlCol="0" anchor="ctr"/>
          <a:lstStyle/>
          <a:p>
            <a:pPr marL="0" indent="0">
              <a:buNone/>
            </a:pPr>
            <a:r>
              <a:rPr lang="en-US" sz="3600" b="1" dirty="0">
                <a:solidFill>
                  <a:srgbClr val="EF4922"/>
                </a:solidFill>
                <a:latin typeface="Century Gothic" pitchFamily="34" charset="0"/>
                <a:ea typeface="Century Gothic" pitchFamily="34" charset="-122"/>
                <a:cs typeface="Century Gothic" pitchFamily="34" charset="-120"/>
              </a:rPr>
              <a:t>2</a:t>
            </a:r>
            <a:endParaRPr lang="en-US" sz="3600" dirty="0"/>
          </a:p>
        </p:txBody>
      </p:sp>
      <p:sp>
        <p:nvSpPr>
          <p:cNvPr id="22" name="Text 16"/>
          <p:cNvSpPr txBox="1"/>
          <p:nvPr/>
        </p:nvSpPr>
        <p:spPr>
          <a:xfrm>
            <a:off x="6461608" y="2304288"/>
            <a:ext cx="2247824" cy="237744"/>
          </a:xfrm>
          <a:prstGeom prst="rect">
            <a:avLst/>
          </a:prstGeom>
          <a:noFill/>
          <a:ln/>
        </p:spPr>
        <p:txBody>
          <a:bodyPr wrap="square" lIns="0" tIns="0" rIns="0" bIns="0" rtlCol="0" anchor="ctr"/>
          <a:lstStyle/>
          <a:p>
            <a:pPr marL="0" indent="0">
              <a:buNone/>
            </a:pPr>
            <a:r>
              <a:rPr lang="en-US" sz="1300" b="1" dirty="0">
                <a:solidFill>
                  <a:srgbClr val="213C81"/>
                </a:solidFill>
                <a:latin typeface="Century Gothic" pitchFamily="34" charset="0"/>
                <a:ea typeface="Century Gothic" pitchFamily="34" charset="-122"/>
                <a:cs typeface="Century Gothic" pitchFamily="34" charset="-120"/>
              </a:rPr>
              <a:t>Locations</a:t>
            </a:r>
            <a:endParaRPr lang="en-US" sz="1300" dirty="0"/>
          </a:p>
        </p:txBody>
      </p:sp>
      <p:sp>
        <p:nvSpPr>
          <p:cNvPr id="23" name="Text 17"/>
          <p:cNvSpPr txBox="1"/>
          <p:nvPr/>
        </p:nvSpPr>
        <p:spPr>
          <a:xfrm>
            <a:off x="6461608" y="2542032"/>
            <a:ext cx="2311832" cy="219456"/>
          </a:xfrm>
          <a:prstGeom prst="rect">
            <a:avLst/>
          </a:prstGeom>
          <a:noFill/>
          <a:ln/>
        </p:spPr>
        <p:txBody>
          <a:bodyPr wrap="square" lIns="0" tIns="0" rIns="0" bIns="0" rtlCol="0" anchor="ctr"/>
          <a:lstStyle/>
          <a:p>
            <a:pPr marL="0" indent="0">
              <a:buNone/>
            </a:pPr>
            <a:r>
              <a:rPr lang="en-US" sz="1000" dirty="0">
                <a:solidFill>
                  <a:srgbClr val="667085"/>
                </a:solidFill>
                <a:latin typeface="Century Gothic" pitchFamily="34" charset="0"/>
                <a:ea typeface="Century Gothic" pitchFamily="34" charset="-122"/>
                <a:cs typeface="Century Gothic" pitchFamily="34" charset="-120"/>
              </a:rPr>
              <a:t>DOZ 11 links · DR 6 links</a:t>
            </a:r>
            <a:endParaRPr lang="en-US" sz="1000" dirty="0"/>
          </a:p>
        </p:txBody>
      </p:sp>
      <p:sp>
        <p:nvSpPr>
          <p:cNvPr id="24" name="Shape 18"/>
          <p:cNvSpPr/>
          <p:nvPr/>
        </p:nvSpPr>
        <p:spPr>
          <a:xfrm>
            <a:off x="9120911" y="1627632"/>
            <a:ext cx="2613584" cy="1207008"/>
          </a:xfrm>
          <a:prstGeom prst="roundRect">
            <a:avLst>
              <a:gd name="adj" fmla="val 7576"/>
            </a:avLst>
          </a:prstGeom>
          <a:solidFill>
            <a:srgbClr val="F4F6FB"/>
          </a:solidFill>
          <a:ln/>
        </p:spPr>
        <p:txBody>
          <a:bodyPr/>
          <a:lstStyle/>
          <a:p>
            <a:endParaRPr lang="en-US"/>
          </a:p>
        </p:txBody>
      </p:sp>
      <p:sp>
        <p:nvSpPr>
          <p:cNvPr id="25" name="Shape 19"/>
          <p:cNvSpPr/>
          <p:nvPr/>
        </p:nvSpPr>
        <p:spPr>
          <a:xfrm>
            <a:off x="11057839" y="1810512"/>
            <a:ext cx="457200" cy="457200"/>
          </a:xfrm>
          <a:prstGeom prst="ellipse">
            <a:avLst/>
          </a:prstGeom>
          <a:solidFill>
            <a:srgbClr val="FFFFFF"/>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11149279" y="1901952"/>
            <a:ext cx="274320" cy="274320"/>
          </a:xfrm>
          <a:prstGeom prst="rect">
            <a:avLst/>
          </a:prstGeom>
        </p:spPr>
      </p:pic>
      <p:sp>
        <p:nvSpPr>
          <p:cNvPr id="27" name="Text 20"/>
          <p:cNvSpPr txBox="1"/>
          <p:nvPr/>
        </p:nvSpPr>
        <p:spPr>
          <a:xfrm>
            <a:off x="9349511" y="1737360"/>
            <a:ext cx="1463040" cy="566928"/>
          </a:xfrm>
          <a:prstGeom prst="rect">
            <a:avLst/>
          </a:prstGeom>
          <a:noFill/>
          <a:ln/>
        </p:spPr>
        <p:txBody>
          <a:bodyPr wrap="square" lIns="0" tIns="0" rIns="0" bIns="0" rtlCol="0" anchor="ctr"/>
          <a:lstStyle/>
          <a:p>
            <a:pPr marL="0" indent="0">
              <a:buNone/>
            </a:pPr>
            <a:r>
              <a:rPr lang="en-US" sz="3600" b="1" dirty="0">
                <a:solidFill>
                  <a:srgbClr val="EF4922"/>
                </a:solidFill>
                <a:latin typeface="Century Gothic" pitchFamily="34" charset="0"/>
                <a:ea typeface="Century Gothic" pitchFamily="34" charset="-122"/>
                <a:cs typeface="Century Gothic" pitchFamily="34" charset="-120"/>
              </a:rPr>
              <a:t>2</a:t>
            </a:r>
            <a:endParaRPr lang="en-US" sz="3600" dirty="0"/>
          </a:p>
        </p:txBody>
      </p:sp>
      <p:sp>
        <p:nvSpPr>
          <p:cNvPr id="28" name="Text 21"/>
          <p:cNvSpPr txBox="1"/>
          <p:nvPr/>
        </p:nvSpPr>
        <p:spPr>
          <a:xfrm>
            <a:off x="9349511" y="2304288"/>
            <a:ext cx="2247824" cy="237744"/>
          </a:xfrm>
          <a:prstGeom prst="rect">
            <a:avLst/>
          </a:prstGeom>
          <a:noFill/>
          <a:ln/>
        </p:spPr>
        <p:txBody>
          <a:bodyPr wrap="square" lIns="0" tIns="0" rIns="0" bIns="0" rtlCol="0" anchor="ctr"/>
          <a:lstStyle/>
          <a:p>
            <a:pPr marL="0" indent="0">
              <a:buNone/>
            </a:pPr>
            <a:r>
              <a:rPr lang="en-US" sz="1300" b="1" dirty="0">
                <a:solidFill>
                  <a:srgbClr val="213C81"/>
                </a:solidFill>
                <a:latin typeface="Century Gothic" pitchFamily="34" charset="0"/>
                <a:ea typeface="Century Gothic" pitchFamily="34" charset="-122"/>
                <a:cs typeface="Century Gothic" pitchFamily="34" charset="-120"/>
              </a:rPr>
              <a:t>ISPs</a:t>
            </a:r>
            <a:endParaRPr lang="en-US" sz="1300" dirty="0"/>
          </a:p>
        </p:txBody>
      </p:sp>
      <p:sp>
        <p:nvSpPr>
          <p:cNvPr id="29" name="Text 22"/>
          <p:cNvSpPr txBox="1"/>
          <p:nvPr/>
        </p:nvSpPr>
        <p:spPr>
          <a:xfrm>
            <a:off x="9349511" y="2542032"/>
            <a:ext cx="2311832" cy="219456"/>
          </a:xfrm>
          <a:prstGeom prst="rect">
            <a:avLst/>
          </a:prstGeom>
          <a:noFill/>
          <a:ln/>
        </p:spPr>
        <p:txBody>
          <a:bodyPr wrap="square" lIns="0" tIns="0" rIns="0" bIns="0" rtlCol="0" anchor="ctr"/>
          <a:lstStyle/>
          <a:p>
            <a:pPr marL="0" indent="0">
              <a:buNone/>
            </a:pPr>
            <a:r>
              <a:rPr lang="en-US" sz="1000" b="1" dirty="0">
                <a:solidFill>
                  <a:srgbClr val="1B8A3E"/>
                </a:solidFill>
                <a:latin typeface="Century Gothic" pitchFamily="34" charset="0"/>
                <a:ea typeface="Century Gothic" pitchFamily="34" charset="-122"/>
                <a:cs typeface="Century Gothic" pitchFamily="34" charset="-120"/>
              </a:rPr>
              <a:t>Etisalat</a:t>
            </a:r>
            <a:r>
              <a:rPr lang="en-US" sz="1000" dirty="0">
                <a:solidFill>
                  <a:srgbClr val="667085"/>
                </a:solidFill>
                <a:latin typeface="Century Gothic" pitchFamily="34" charset="0"/>
                <a:ea typeface="Century Gothic" pitchFamily="34" charset="-122"/>
                <a:cs typeface="Century Gothic" pitchFamily="34" charset="-120"/>
              </a:rPr>
              <a:t> 14 links · </a:t>
            </a:r>
            <a:r>
              <a:rPr lang="en-US" sz="1000" b="1" dirty="0">
                <a:solidFill>
                  <a:srgbClr val="1A62C4"/>
                </a:solidFill>
                <a:latin typeface="Century Gothic" pitchFamily="34" charset="0"/>
                <a:ea typeface="Century Gothic" pitchFamily="34" charset="-122"/>
                <a:cs typeface="Century Gothic" pitchFamily="34" charset="-120"/>
              </a:rPr>
              <a:t>Du</a:t>
            </a:r>
            <a:r>
              <a:rPr lang="en-US" sz="1000" dirty="0">
                <a:solidFill>
                  <a:srgbClr val="667085"/>
                </a:solidFill>
                <a:latin typeface="Century Gothic" pitchFamily="34" charset="0"/>
                <a:ea typeface="Century Gothic" pitchFamily="34" charset="-122"/>
                <a:cs typeface="Century Gothic" pitchFamily="34" charset="-120"/>
              </a:rPr>
              <a:t> 3 links</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798938269"/>
              </p:ext>
            </p:extLst>
          </p:nvPr>
        </p:nvGraphicFramePr>
        <p:xfrm>
          <a:off x="457200" y="3090672"/>
          <a:ext cx="11277295" cy="2756916"/>
        </p:xfrm>
        <a:graphic>
          <a:graphicData uri="http://schemas.openxmlformats.org/drawingml/2006/table">
            <a:tbl>
              <a:tblPr/>
              <a:tblGrid>
                <a:gridCol w="2788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2864815">
                  <a:extLst>
                    <a:ext uri="{9D8B030D-6E8A-4147-A177-3AD203B41FA5}">
                      <a16:colId xmlns:a16="http://schemas.microsoft.com/office/drawing/2014/main" val="20005"/>
                    </a:ext>
                  </a:extLst>
                </a:gridCol>
              </a:tblGrid>
              <a:tr h="306324">
                <a:tc>
                  <a:txBody>
                    <a:bodyPr/>
                    <a:lstStyle/>
                    <a:p>
                      <a:pPr marL="0" indent="0">
                        <a:buNone/>
                      </a:pPr>
                      <a:r>
                        <a:rPr lang="en-US" sz="1100" b="1" dirty="0">
                          <a:solidFill>
                            <a:srgbClr val="FFFFFF"/>
                          </a:solidFill>
                          <a:latin typeface="Century Gothic" pitchFamily="34" charset="0"/>
                          <a:ea typeface="Century Gothic" pitchFamily="34" charset="-122"/>
                          <a:cs typeface="Century Gothic" pitchFamily="34" charset="-120"/>
                        </a:rPr>
                        <a:t>Service</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213C81"/>
                    </a:solidFill>
                  </a:tcPr>
                </a:tc>
                <a:tc>
                  <a:txBody>
                    <a:bodyPr/>
                    <a:lstStyle/>
                    <a:p>
                      <a:pPr marL="0" indent="0">
                        <a:buNone/>
                      </a:pPr>
                      <a:r>
                        <a:rPr lang="en-US" sz="1100" b="1" dirty="0">
                          <a:solidFill>
                            <a:srgbClr val="FFFFFF"/>
                          </a:solidFill>
                          <a:latin typeface="Century Gothic" pitchFamily="34" charset="0"/>
                          <a:ea typeface="Century Gothic" pitchFamily="34" charset="-122"/>
                          <a:cs typeface="Century Gothic" pitchFamily="34" charset="-120"/>
                        </a:rPr>
                        <a:t>ISP</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213C81"/>
                    </a:solidFill>
                  </a:tcPr>
                </a:tc>
                <a:tc>
                  <a:txBody>
                    <a:bodyPr/>
                    <a:lstStyle/>
                    <a:p>
                      <a:pPr marL="0" indent="0">
                        <a:buNone/>
                      </a:pPr>
                      <a:r>
                        <a:rPr lang="en-US" sz="1100" b="1" dirty="0">
                          <a:solidFill>
                            <a:srgbClr val="FFFFFF"/>
                          </a:solidFill>
                          <a:latin typeface="Century Gothic" pitchFamily="34" charset="0"/>
                          <a:ea typeface="Century Gothic" pitchFamily="34" charset="-122"/>
                          <a:cs typeface="Century Gothic" pitchFamily="34" charset="-120"/>
                        </a:rPr>
                        <a:t>DOZ</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213C81"/>
                    </a:solidFill>
                  </a:tcPr>
                </a:tc>
                <a:tc>
                  <a:txBody>
                    <a:bodyPr/>
                    <a:lstStyle/>
                    <a:p>
                      <a:pPr marL="0" indent="0">
                        <a:buNone/>
                      </a:pPr>
                      <a:r>
                        <a:rPr lang="en-US" sz="1100" b="1" dirty="0">
                          <a:solidFill>
                            <a:srgbClr val="FFFFFF"/>
                          </a:solidFill>
                          <a:latin typeface="Century Gothic" pitchFamily="34" charset="0"/>
                          <a:ea typeface="Century Gothic" pitchFamily="34" charset="-122"/>
                          <a:cs typeface="Century Gothic" pitchFamily="34" charset="-120"/>
                        </a:rPr>
                        <a:t>DR</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213C81"/>
                    </a:solidFill>
                  </a:tcPr>
                </a:tc>
                <a:tc>
                  <a:txBody>
                    <a:bodyPr/>
                    <a:lstStyle/>
                    <a:p>
                      <a:pPr marL="0" indent="0" algn="ctr">
                        <a:buNone/>
                      </a:pPr>
                      <a:r>
                        <a:rPr lang="en-US" sz="1100" b="1" dirty="0">
                          <a:solidFill>
                            <a:srgbClr val="FFFFFF"/>
                          </a:solidFill>
                          <a:latin typeface="Century Gothic" pitchFamily="34" charset="0"/>
                          <a:ea typeface="Century Gothic" pitchFamily="34" charset="-122"/>
                          <a:cs typeface="Century Gothic" pitchFamily="34" charset="-120"/>
                        </a:rPr>
                        <a:t>Links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213C81"/>
                    </a:solidFill>
                  </a:tcPr>
                </a:tc>
                <a:tc>
                  <a:txBody>
                    <a:bodyPr/>
                    <a:lstStyle/>
                    <a:p>
                      <a:pPr marL="0" indent="0">
                        <a:buNone/>
                      </a:pPr>
                      <a:r>
                        <a:rPr lang="en-US" sz="1100" b="1" dirty="0">
                          <a:solidFill>
                            <a:srgbClr val="FFFFFF"/>
                          </a:solidFill>
                          <a:latin typeface="Century Gothic" pitchFamily="34" charset="0"/>
                          <a:ea typeface="Century Gothic" pitchFamily="34" charset="-122"/>
                          <a:cs typeface="Century Gothic" pitchFamily="34" charset="-120"/>
                        </a:rPr>
                        <a:t>Port bandwidth</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213C81"/>
                    </a:solidFill>
                  </a:tcPr>
                </a:tc>
                <a:extLst>
                  <a:ext uri="{0D108BD9-81ED-4DB2-BD59-A6C34878D82A}">
                    <a16:rowId xmlns:a16="http://schemas.microsoft.com/office/drawing/2014/main" val="10000"/>
                  </a:ext>
                </a:extLst>
              </a:tr>
              <a:tr h="306324">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GPRS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b="1" dirty="0">
                          <a:solidFill>
                            <a:srgbClr val="1B8A3E"/>
                          </a:solidFill>
                          <a:latin typeface="Century Gothic" pitchFamily="34" charset="0"/>
                          <a:ea typeface="Century Gothic" pitchFamily="34" charset="-122"/>
                          <a:cs typeface="Century Gothic" pitchFamily="34" charset="-120"/>
                        </a:rPr>
                        <a:t>Etisalat</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Primary · Secondary</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Backup</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CE2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B3140"/>
                          </a:solidFill>
                          <a:latin typeface="Century Gothic" pitchFamily="34" charset="0"/>
                          <a:ea typeface="Century Gothic" pitchFamily="34" charset="-122"/>
                          <a:cs typeface="Century Gothic" pitchFamily="34" charset="-120"/>
                        </a:rPr>
                        <a:t>3</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3 × 100 Mbps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C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6324">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Etisalat Payment GW (DSG-Comtrust)</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b="1" dirty="0">
                          <a:solidFill>
                            <a:srgbClr val="1B8A3E"/>
                          </a:solidFill>
                          <a:latin typeface="Century Gothic" pitchFamily="34" charset="0"/>
                          <a:ea typeface="Century Gothic" pitchFamily="34" charset="-122"/>
                          <a:cs typeface="Century Gothic" pitchFamily="34" charset="-120"/>
                        </a:rPr>
                        <a:t>Etisalat</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Primary</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Backup</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lgn="ctr">
                        <a:buNone/>
                      </a:pPr>
                      <a:r>
                        <a:rPr lang="en-US" sz="1100" b="1" dirty="0">
                          <a:solidFill>
                            <a:srgbClr val="2B3140"/>
                          </a:solidFill>
                          <a:latin typeface="Century Gothic" pitchFamily="34" charset="0"/>
                          <a:ea typeface="Century Gothic" pitchFamily="34" charset="-122"/>
                          <a:cs typeface="Century Gothic" pitchFamily="34" charset="-120"/>
                        </a:rPr>
                        <a:t>2</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8 Mbps (DOZ) + 2 Mbps (DR)</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06324">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Dubai Police</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b="1" dirty="0">
                          <a:solidFill>
                            <a:srgbClr val="1B8A3E"/>
                          </a:solidFill>
                          <a:latin typeface="Century Gothic" pitchFamily="34" charset="0"/>
                          <a:ea typeface="Century Gothic" pitchFamily="34" charset="-122"/>
                          <a:cs typeface="Century Gothic" pitchFamily="34" charset="-120"/>
                        </a:rPr>
                        <a:t>Etisalat</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Primary</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Backup</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B3140"/>
                          </a:solidFill>
                          <a:latin typeface="Century Gothic" pitchFamily="34" charset="0"/>
                          <a:ea typeface="Century Gothic" pitchFamily="34" charset="-122"/>
                          <a:cs typeface="Century Gothic" pitchFamily="34" charset="-120"/>
                        </a:rPr>
                        <a:t>2</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2 × 8 Mbps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6324">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Carrefour</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b="1" dirty="0">
                          <a:solidFill>
                            <a:srgbClr val="1B8A3E"/>
                          </a:solidFill>
                          <a:latin typeface="Century Gothic" pitchFamily="34" charset="0"/>
                          <a:ea typeface="Century Gothic" pitchFamily="34" charset="-122"/>
                          <a:cs typeface="Century Gothic" pitchFamily="34" charset="-120"/>
                        </a:rPr>
                        <a:t>Etisalat</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Primary</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Secondary</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lgn="ctr">
                        <a:buNone/>
                      </a:pPr>
                      <a:r>
                        <a:rPr lang="en-US" sz="1100" b="1" dirty="0">
                          <a:solidFill>
                            <a:srgbClr val="2B3140"/>
                          </a:solidFill>
                          <a:latin typeface="Century Gothic" pitchFamily="34" charset="0"/>
                          <a:ea typeface="Century Gothic" pitchFamily="34" charset="-122"/>
                          <a:cs typeface="Century Gothic" pitchFamily="34" charset="-120"/>
                        </a:rPr>
                        <a:t>2</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2 × 1 Mbps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06324">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RTA NOL</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b="1" dirty="0">
                          <a:solidFill>
                            <a:srgbClr val="1B8A3E"/>
                          </a:solidFill>
                          <a:latin typeface="Century Gothic" pitchFamily="34" charset="0"/>
                          <a:ea typeface="Century Gothic" pitchFamily="34" charset="-122"/>
                          <a:cs typeface="Century Gothic" pitchFamily="34" charset="-120"/>
                        </a:rPr>
                        <a:t>Etisalat</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Primary · Secondary</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667085"/>
                          </a:solidFill>
                          <a:latin typeface="Century Gothic" pitchFamily="34" charset="0"/>
                          <a:ea typeface="Century Gothic" pitchFamily="34" charset="-122"/>
                          <a:cs typeface="Century Gothic" pitchFamily="34" charset="-120"/>
                        </a:rPr>
                        <a:t>—</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B3140"/>
                          </a:solidFill>
                          <a:latin typeface="Century Gothic" pitchFamily="34" charset="0"/>
                          <a:ea typeface="Century Gothic" pitchFamily="34" charset="-122"/>
                          <a:cs typeface="Century Gothic" pitchFamily="34" charset="-120"/>
                        </a:rPr>
                        <a:t>2</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2 × 1 Mbps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6324">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CBUAE</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b="1" dirty="0">
                          <a:solidFill>
                            <a:srgbClr val="1B8A3E"/>
                          </a:solidFill>
                          <a:latin typeface="Century Gothic" pitchFamily="34" charset="0"/>
                          <a:ea typeface="Century Gothic" pitchFamily="34" charset="-122"/>
                          <a:cs typeface="Century Gothic" pitchFamily="34" charset="-120"/>
                        </a:rPr>
                        <a:t>Etisalat</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Primary · Secondary</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Backup</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lgn="ctr">
                        <a:buNone/>
                      </a:pPr>
                      <a:r>
                        <a:rPr lang="en-US" sz="1100" b="1" dirty="0">
                          <a:solidFill>
                            <a:srgbClr val="2B3140"/>
                          </a:solidFill>
                          <a:latin typeface="Century Gothic" pitchFamily="34" charset="0"/>
                          <a:ea typeface="Century Gothic" pitchFamily="34" charset="-122"/>
                          <a:cs typeface="Century Gothic" pitchFamily="34" charset="-120"/>
                        </a:rPr>
                        <a:t>3</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3 × 8 Mbps + MGMT 128 Kbps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306324">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Du POS links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b="1" dirty="0">
                          <a:solidFill>
                            <a:srgbClr val="1A62C4"/>
                          </a:solidFill>
                          <a:latin typeface="Century Gothic" pitchFamily="34" charset="0"/>
                          <a:ea typeface="Century Gothic" pitchFamily="34" charset="-122"/>
                          <a:cs typeface="Century Gothic" pitchFamily="34" charset="-120"/>
                        </a:rPr>
                        <a:t>Du</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Primary · Secondary</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Backup</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B3140"/>
                          </a:solidFill>
                          <a:latin typeface="Century Gothic" pitchFamily="34" charset="0"/>
                          <a:ea typeface="Century Gothic" pitchFamily="34" charset="-122"/>
                          <a:cs typeface="Century Gothic" pitchFamily="34" charset="-120"/>
                        </a:rPr>
                        <a:t>3</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marL="0" indent="0">
                        <a:buNone/>
                      </a:pPr>
                      <a:r>
                        <a:rPr lang="en-US" sz="1100" dirty="0">
                          <a:solidFill>
                            <a:srgbClr val="2B3140"/>
                          </a:solidFill>
                          <a:latin typeface="Century Gothic" pitchFamily="34" charset="0"/>
                          <a:ea typeface="Century Gothic" pitchFamily="34" charset="-122"/>
                          <a:cs typeface="Century Gothic" pitchFamily="34" charset="-120"/>
                        </a:rPr>
                        <a:t>3 × 512 Kbps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6324">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Total</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0" cap="flat" cmpd="sng" algn="ctr">
                      <a:noFill/>
                    </a:lnB>
                    <a:solidFill>
                      <a:srgbClr val="E9EEF8"/>
                    </a:solidFill>
                  </a:tcPr>
                </a:tc>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2 ISPs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0" cap="flat" cmpd="sng" algn="ctr">
                      <a:noFill/>
                    </a:lnB>
                    <a:solidFill>
                      <a:srgbClr val="E9EEF8"/>
                    </a:solidFill>
                  </a:tcPr>
                </a:tc>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11 links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0" cap="flat" cmpd="sng" algn="ctr">
                      <a:noFill/>
                    </a:lnB>
                    <a:solidFill>
                      <a:srgbClr val="E9EEF8"/>
                    </a:solidFill>
                  </a:tcPr>
                </a:tc>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6 links</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0" cap="flat" cmpd="sng" algn="ctr">
                      <a:noFill/>
                    </a:lnB>
                    <a:solidFill>
                      <a:srgbClr val="E9EEF8"/>
                    </a:solidFill>
                  </a:tcPr>
                </a:tc>
                <a:tc>
                  <a:txBody>
                    <a:bodyPr/>
                    <a:lstStyle/>
                    <a:p>
                      <a:pPr marL="0" indent="0" algn="ctr">
                        <a:buNone/>
                      </a:pPr>
                      <a:r>
                        <a:rPr lang="en-US" sz="1100" b="1" dirty="0">
                          <a:solidFill>
                            <a:srgbClr val="213C81"/>
                          </a:solidFill>
                          <a:latin typeface="Century Gothic" pitchFamily="34" charset="0"/>
                          <a:ea typeface="Century Gothic" pitchFamily="34" charset="-122"/>
                          <a:cs typeface="Century Gothic" pitchFamily="34" charset="-120"/>
                        </a:rPr>
                        <a:t>17</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0" cap="flat" cmpd="sng" algn="ctr">
                      <a:noFill/>
                    </a:lnB>
                    <a:solidFill>
                      <a:srgbClr val="E9EEF8"/>
                    </a:solidFill>
                  </a:tcPr>
                </a:tc>
                <a:tc>
                  <a:txBody>
                    <a:bodyPr/>
                    <a:lstStyle/>
                    <a:p>
                      <a:pPr marL="0" indent="0">
                        <a:buNone/>
                      </a:pPr>
                      <a:r>
                        <a:rPr lang="en-US" sz="1100" b="1" dirty="0">
                          <a:solidFill>
                            <a:srgbClr val="213C81"/>
                          </a:solidFill>
                          <a:latin typeface="Century Gothic" pitchFamily="34" charset="0"/>
                          <a:ea typeface="Century Gothic" pitchFamily="34" charset="-122"/>
                          <a:cs typeface="Century Gothic" pitchFamily="34" charset="-120"/>
                        </a:rPr>
                        <a:t>Aggregate</a:t>
                      </a:r>
                      <a:endParaRPr lang="en-US" sz="1100" dirty="0">
                        <a:latin typeface="Century Gothic" charset="0"/>
                        <a:ea typeface="Century Gothic" charset="0"/>
                        <a:cs typeface="Century Gothic" charset="0"/>
                      </a:endParaRPr>
                    </a:p>
                  </a:txBody>
                  <a:tcPr marL="109728" marR="109728" marT="36576" marB="36576" anchor="ctr">
                    <a:lnL w="0" cap="flat" cmpd="sng" algn="ctr">
                      <a:noFill/>
                    </a:lnL>
                    <a:lnR w="0" cap="flat" cmpd="sng" algn="ctr">
                      <a:noFill/>
                    </a:lnR>
                    <a:lnT w="9525" cap="flat" cmpd="sng" algn="ctr">
                      <a:solidFill>
                        <a:srgbClr val="DCE2EC"/>
                      </a:solidFill>
                      <a:prstDash val="solid"/>
                      <a:round/>
                      <a:headEnd type="none" w="med" len="med"/>
                      <a:tailEnd type="none" w="med" len="med"/>
                    </a:lnT>
                    <a:lnB w="0" cap="flat" cmpd="sng" algn="ctr">
                      <a:noFill/>
                    </a:lnB>
                    <a:solidFill>
                      <a:srgbClr val="E9EEF8"/>
                    </a:solidFill>
                  </a:tcPr>
                </a:tc>
                <a:extLst>
                  <a:ext uri="{0D108BD9-81ED-4DB2-BD59-A6C34878D82A}">
                    <a16:rowId xmlns:a16="http://schemas.microsoft.com/office/drawing/2014/main" val="10008"/>
                  </a:ext>
                </a:extLst>
              </a:tr>
            </a:tbl>
          </a:graphicData>
        </a:graphic>
      </p:graphicFrame>
      <p:sp>
        <p:nvSpPr>
          <p:cNvPr id="31" name="Text 23"/>
          <p:cNvSpPr txBox="1"/>
          <p:nvPr/>
        </p:nvSpPr>
        <p:spPr>
          <a:xfrm>
            <a:off x="457200" y="6071616"/>
            <a:ext cx="11277295" cy="329184"/>
          </a:xfrm>
          <a:prstGeom prst="rect">
            <a:avLst/>
          </a:prstGeom>
          <a:noFill/>
          <a:ln/>
        </p:spPr>
        <p:txBody>
          <a:bodyPr wrap="square" lIns="0" tIns="0" rIns="0" bIns="0" rtlCol="0" anchor="t"/>
          <a:lstStyle/>
          <a:p>
            <a:pPr marL="0" indent="0">
              <a:buNone/>
            </a:pPr>
            <a:r>
              <a:rPr lang="en-US" sz="900" b="1" i="1" dirty="0">
                <a:solidFill>
                  <a:srgbClr val="0070C0"/>
                </a:solidFill>
                <a:latin typeface="Century Gothic" pitchFamily="34" charset="0"/>
                <a:ea typeface="Century Gothic" pitchFamily="34" charset="-122"/>
                <a:cs typeface="Century Gothic" pitchFamily="34" charset="-120"/>
              </a:rPr>
              <a:t>AMEX, JCB, CUP are live for production services at NEOPAY over Internet VPN, serving transaction authorization from 7</a:t>
            </a:r>
            <a:r>
              <a:rPr lang="en-US" sz="900" b="1" i="1" baseline="30000" dirty="0">
                <a:solidFill>
                  <a:srgbClr val="0070C0"/>
                </a:solidFill>
                <a:latin typeface="Century Gothic" pitchFamily="34" charset="0"/>
                <a:ea typeface="Century Gothic" pitchFamily="34" charset="-122"/>
                <a:cs typeface="Century Gothic" pitchFamily="34" charset="-120"/>
              </a:rPr>
              <a:t>th</a:t>
            </a:r>
            <a:r>
              <a:rPr lang="en-US" sz="900" b="1" i="1" dirty="0">
                <a:solidFill>
                  <a:srgbClr val="0070C0"/>
                </a:solidFill>
                <a:latin typeface="Century Gothic" pitchFamily="34" charset="0"/>
                <a:ea typeface="Century Gothic" pitchFamily="34" charset="-122"/>
                <a:cs typeface="Century Gothic" pitchFamily="34" charset="-120"/>
              </a:rPr>
              <a:t> Sep 2026. </a:t>
            </a:r>
          </a:p>
          <a:p>
            <a:pPr marL="0" indent="0">
              <a:buNone/>
            </a:pPr>
            <a:endParaRPr lang="en-US" sz="900" b="1" i="1" dirty="0">
              <a:solidFill>
                <a:srgbClr val="0070C0"/>
              </a:solidFill>
              <a:latin typeface="Century Gothic" pitchFamily="34" charset="0"/>
              <a:ea typeface="Century Gothic" pitchFamily="34" charset="-122"/>
              <a:cs typeface="Century Gothic" pitchFamily="34" charset="-120"/>
            </a:endParaRPr>
          </a:p>
          <a:p>
            <a:pPr marL="0" indent="0">
              <a:buNone/>
            </a:pPr>
            <a:r>
              <a:rPr lang="en-US" sz="900" b="1" i="1" dirty="0">
                <a:solidFill>
                  <a:srgbClr val="0070C0"/>
                </a:solidFill>
                <a:latin typeface="Century Gothic" pitchFamily="34" charset="0"/>
                <a:ea typeface="Century Gothic" pitchFamily="34" charset="-122"/>
                <a:cs typeface="Century Gothic" pitchFamily="34" charset="-120"/>
              </a:rPr>
              <a:t>Mastercard &amp; VISA connection will stay at Mashreq DC </a:t>
            </a:r>
            <a:endParaRPr lang="en-US" sz="900" b="1" i="1"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99" name="Shape 15">
            <a:extLst>
              <a:ext uri="{FF2B5EF4-FFF2-40B4-BE49-F238E27FC236}">
                <a16:creationId xmlns:a16="http://schemas.microsoft.com/office/drawing/2014/main" id="{02B85842-6270-908B-56D0-6DE7C61AF34B}"/>
              </a:ext>
            </a:extLst>
          </p:cNvPr>
          <p:cNvSpPr/>
          <p:nvPr/>
        </p:nvSpPr>
        <p:spPr>
          <a:xfrm>
            <a:off x="5468576" y="3145537"/>
            <a:ext cx="0" cy="1097280"/>
          </a:xfrm>
          <a:prstGeom prst="line">
            <a:avLst/>
          </a:prstGeom>
          <a:noFill/>
          <a:ln w="50800">
            <a:solidFill>
              <a:srgbClr val="2F3747"/>
            </a:solidFill>
            <a:prstDash val="solid"/>
          </a:ln>
        </p:spPr>
        <p:txBody>
          <a:bodyPr/>
          <a:lstStyle/>
          <a:p>
            <a:endParaRPr lang="en-US"/>
          </a:p>
        </p:txBody>
      </p:sp>
      <p:sp>
        <p:nvSpPr>
          <p:cNvPr id="97" name="Shape 16">
            <a:extLst>
              <a:ext uri="{FF2B5EF4-FFF2-40B4-BE49-F238E27FC236}">
                <a16:creationId xmlns:a16="http://schemas.microsoft.com/office/drawing/2014/main" id="{C11544F0-936A-8ED3-C591-5DB2F3E55DE4}"/>
              </a:ext>
            </a:extLst>
          </p:cNvPr>
          <p:cNvSpPr/>
          <p:nvPr/>
        </p:nvSpPr>
        <p:spPr>
          <a:xfrm>
            <a:off x="11019732" y="3108960"/>
            <a:ext cx="0" cy="1097280"/>
          </a:xfrm>
          <a:prstGeom prst="line">
            <a:avLst/>
          </a:prstGeom>
          <a:noFill/>
          <a:ln w="50800">
            <a:solidFill>
              <a:srgbClr val="2F3747"/>
            </a:solidFill>
            <a:prstDash val="solid"/>
          </a:ln>
        </p:spPr>
        <p:txBody>
          <a:bodyPr/>
          <a:lstStyle/>
          <a:p>
            <a:endParaRPr lang="en-US"/>
          </a:p>
        </p:txBody>
      </p:sp>
      <p:sp>
        <p:nvSpPr>
          <p:cNvPr id="95" name="Shape 6">
            <a:extLst>
              <a:ext uri="{FF2B5EF4-FFF2-40B4-BE49-F238E27FC236}">
                <a16:creationId xmlns:a16="http://schemas.microsoft.com/office/drawing/2014/main" id="{C96D52A9-CF53-EF98-A4F1-FAC126ABE1D8}"/>
              </a:ext>
            </a:extLst>
          </p:cNvPr>
          <p:cNvSpPr/>
          <p:nvPr/>
        </p:nvSpPr>
        <p:spPr>
          <a:xfrm flipV="1">
            <a:off x="3115496" y="2666255"/>
            <a:ext cx="1590687" cy="2423905"/>
          </a:xfrm>
          <a:prstGeom prst="line">
            <a:avLst/>
          </a:prstGeom>
          <a:noFill/>
          <a:ln w="28575">
            <a:solidFill>
              <a:srgbClr val="1E73E8"/>
            </a:solidFill>
            <a:prstDash val="solid"/>
          </a:ln>
        </p:spPr>
        <p:txBody>
          <a:bodyPr/>
          <a:lstStyle/>
          <a:p>
            <a:endParaRPr lang="en-US"/>
          </a:p>
        </p:txBody>
      </p:sp>
      <p:sp>
        <p:nvSpPr>
          <p:cNvPr id="93" name="Shape 3">
            <a:extLst>
              <a:ext uri="{FF2B5EF4-FFF2-40B4-BE49-F238E27FC236}">
                <a16:creationId xmlns:a16="http://schemas.microsoft.com/office/drawing/2014/main" id="{11F0BE3F-5691-8DD3-6C5C-16340B65DF3C}"/>
              </a:ext>
            </a:extLst>
          </p:cNvPr>
          <p:cNvSpPr/>
          <p:nvPr/>
        </p:nvSpPr>
        <p:spPr>
          <a:xfrm>
            <a:off x="3203136" y="2529840"/>
            <a:ext cx="1714500" cy="0"/>
          </a:xfrm>
          <a:prstGeom prst="line">
            <a:avLst/>
          </a:prstGeom>
          <a:noFill/>
          <a:ln w="28575">
            <a:solidFill>
              <a:srgbClr val="23A04A"/>
            </a:solidFill>
            <a:prstDash val="solid"/>
          </a:ln>
        </p:spPr>
        <p:txBody>
          <a:bodyPr/>
          <a:lstStyle/>
          <a:p>
            <a:endParaRPr lang="en-US"/>
          </a:p>
        </p:txBody>
      </p:sp>
      <p:sp>
        <p:nvSpPr>
          <p:cNvPr id="2" name="Text 0"/>
          <p:cNvSpPr txBox="1"/>
          <p:nvPr/>
        </p:nvSpPr>
        <p:spPr>
          <a:xfrm>
            <a:off x="457200" y="301752"/>
            <a:ext cx="5486400" cy="219456"/>
          </a:xfrm>
          <a:prstGeom prst="rect">
            <a:avLst/>
          </a:prstGeom>
          <a:noFill/>
          <a:ln/>
        </p:spPr>
        <p:txBody>
          <a:bodyPr wrap="square" lIns="0" tIns="0" rIns="0" bIns="0" rtlCol="0" anchor="ctr"/>
          <a:lstStyle/>
          <a:p>
            <a:pPr marL="0" indent="0">
              <a:buNone/>
            </a:pPr>
            <a:r>
              <a:rPr lang="en-US" sz="1100" b="1" kern="0" spc="300" dirty="0">
                <a:solidFill>
                  <a:srgbClr val="667085"/>
                </a:solidFill>
                <a:latin typeface="Century Gothic" pitchFamily="34" charset="0"/>
                <a:ea typeface="Century Gothic" pitchFamily="34" charset="-122"/>
                <a:cs typeface="Century Gothic" pitchFamily="34" charset="-120"/>
              </a:rPr>
              <a:t>WAN LINKS MIGRATION</a:t>
            </a:r>
            <a:endParaRPr lang="en-US" sz="1100" dirty="0"/>
          </a:p>
        </p:txBody>
      </p:sp>
      <p:sp>
        <p:nvSpPr>
          <p:cNvPr id="3" name="Text 1"/>
          <p:cNvSpPr txBox="1"/>
          <p:nvPr/>
        </p:nvSpPr>
        <p:spPr>
          <a:xfrm>
            <a:off x="457200" y="548640"/>
            <a:ext cx="9326880" cy="548640"/>
          </a:xfrm>
          <a:prstGeom prst="rect">
            <a:avLst/>
          </a:prstGeom>
          <a:noFill/>
          <a:ln/>
        </p:spPr>
        <p:txBody>
          <a:bodyPr wrap="none" lIns="0" tIns="0" rIns="0" bIns="0" rtlCol="0" anchor="ctr"/>
          <a:lstStyle/>
          <a:p>
            <a:pPr marL="0" indent="0">
              <a:buNone/>
            </a:pPr>
            <a:r>
              <a:rPr lang="en-US" sz="3000" b="1" dirty="0">
                <a:solidFill>
                  <a:srgbClr val="EF4922"/>
                </a:solidFill>
                <a:latin typeface="Century Gothic" pitchFamily="34" charset="0"/>
                <a:ea typeface="Century Gothic" pitchFamily="34" charset="-122"/>
                <a:cs typeface="Century Gothic" pitchFamily="34" charset="-120"/>
              </a:rPr>
              <a:t>POS Traffic Flow </a:t>
            </a:r>
            <a:r>
              <a:rPr lang="en-US" sz="3000" b="1" dirty="0">
                <a:solidFill>
                  <a:srgbClr val="213C81"/>
                </a:solidFill>
                <a:latin typeface="Century Gothic" pitchFamily="34" charset="0"/>
                <a:ea typeface="Century Gothic" pitchFamily="34" charset="-122"/>
                <a:cs typeface="Century Gothic" pitchFamily="34" charset="-120"/>
              </a:rPr>
              <a:t>&amp; Connectivity </a:t>
            </a:r>
            <a:r>
              <a:rPr lang="en-US" sz="3000" b="1" dirty="0">
                <a:solidFill>
                  <a:srgbClr val="EF4922"/>
                </a:solidFill>
                <a:latin typeface="Century Gothic" pitchFamily="34" charset="0"/>
              </a:rPr>
              <a:t>| Pilot</a:t>
            </a:r>
          </a:p>
        </p:txBody>
      </p:sp>
      <p:pic>
        <p:nvPicPr>
          <p:cNvPr id="4" name="Image 0" descr="/mnt/user-data/uploads/MASHREQ-NEO_PAY_LOGO-V2-2023-ENG-RGB-01.png"/>
          <p:cNvPicPr>
            <a:picLocks noChangeAspect="1"/>
          </p:cNvPicPr>
          <p:nvPr/>
        </p:nvPicPr>
        <p:blipFill>
          <a:blip r:embed="rId3"/>
          <a:stretch>
            <a:fillRect/>
          </a:stretch>
        </p:blipFill>
        <p:spPr>
          <a:xfrm>
            <a:off x="9902952" y="384048"/>
            <a:ext cx="1828800" cy="283515"/>
          </a:xfrm>
          <a:prstGeom prst="rect">
            <a:avLst/>
          </a:prstGeom>
        </p:spPr>
      </p:pic>
      <p:sp>
        <p:nvSpPr>
          <p:cNvPr id="5" name="Text 2"/>
          <p:cNvSpPr txBox="1"/>
          <p:nvPr/>
        </p:nvSpPr>
        <p:spPr>
          <a:xfrm>
            <a:off x="457200" y="1161288"/>
            <a:ext cx="11277295" cy="274320"/>
          </a:xfrm>
          <a:prstGeom prst="rect">
            <a:avLst/>
          </a:prstGeom>
          <a:noFill/>
          <a:ln/>
        </p:spPr>
        <p:txBody>
          <a:bodyPr wrap="square" lIns="0" tIns="0" rIns="0" bIns="0" rtlCol="0" anchor="ctr"/>
          <a:lstStyle/>
          <a:p>
            <a:pPr marL="0" indent="0">
              <a:buNone/>
            </a:pPr>
            <a:r>
              <a:rPr lang="en-US" sz="1200" b="1" dirty="0">
                <a:solidFill>
                  <a:srgbClr val="213C81"/>
                </a:solidFill>
                <a:latin typeface="Century Gothic" pitchFamily="34" charset="0"/>
                <a:ea typeface="Century Gothic" pitchFamily="34" charset="-122"/>
                <a:cs typeface="Century Gothic" pitchFamily="34" charset="-120"/>
              </a:rPr>
              <a:t>Transaction path:  </a:t>
            </a:r>
            <a:r>
              <a:rPr lang="en-US" sz="1200" dirty="0">
                <a:solidFill>
                  <a:srgbClr val="2B3140"/>
                </a:solidFill>
                <a:latin typeface="Century Gothic" pitchFamily="34" charset="0"/>
                <a:ea typeface="Century Gothic" pitchFamily="34" charset="-122"/>
                <a:cs typeface="Century Gothic" pitchFamily="34" charset="-120"/>
              </a:rPr>
              <a:t>POS terminal  →  ISP GPRS cloud  →  Mashreq DC  →  GRE tunnel over ISP dedicated VRF  →  Postilion at NeoPay DC</a:t>
            </a:r>
            <a:endParaRPr lang="en-US" sz="1200" dirty="0"/>
          </a:p>
        </p:txBody>
      </p:sp>
      <p:sp>
        <p:nvSpPr>
          <p:cNvPr id="6" name="Shape 3"/>
          <p:cNvSpPr/>
          <p:nvPr/>
        </p:nvSpPr>
        <p:spPr>
          <a:xfrm>
            <a:off x="3050736" y="2377440"/>
            <a:ext cx="1714500" cy="0"/>
          </a:xfrm>
          <a:prstGeom prst="line">
            <a:avLst/>
          </a:prstGeom>
          <a:noFill/>
          <a:ln w="28575">
            <a:solidFill>
              <a:srgbClr val="23A04A"/>
            </a:solidFill>
            <a:prstDash val="solid"/>
          </a:ln>
        </p:spPr>
        <p:txBody>
          <a:bodyPr/>
          <a:lstStyle/>
          <a:p>
            <a:endParaRPr lang="en-US"/>
          </a:p>
        </p:txBody>
      </p:sp>
      <p:sp>
        <p:nvSpPr>
          <p:cNvPr id="7" name="Shape 4"/>
          <p:cNvSpPr/>
          <p:nvPr/>
        </p:nvSpPr>
        <p:spPr>
          <a:xfrm>
            <a:off x="3050736" y="2377440"/>
            <a:ext cx="1590687" cy="2423905"/>
          </a:xfrm>
          <a:prstGeom prst="line">
            <a:avLst/>
          </a:prstGeom>
          <a:noFill/>
          <a:ln w="28575">
            <a:solidFill>
              <a:srgbClr val="23A04A"/>
            </a:solidFill>
            <a:prstDash val="solid"/>
          </a:ln>
        </p:spPr>
        <p:txBody>
          <a:bodyPr/>
          <a:lstStyle/>
          <a:p>
            <a:endParaRPr lang="en-US"/>
          </a:p>
        </p:txBody>
      </p:sp>
      <p:sp>
        <p:nvSpPr>
          <p:cNvPr id="8" name="Shape 5"/>
          <p:cNvSpPr/>
          <p:nvPr/>
        </p:nvSpPr>
        <p:spPr>
          <a:xfrm>
            <a:off x="3050736" y="4937760"/>
            <a:ext cx="1714500" cy="0"/>
          </a:xfrm>
          <a:prstGeom prst="line">
            <a:avLst/>
          </a:prstGeom>
          <a:noFill/>
          <a:ln w="28575">
            <a:solidFill>
              <a:srgbClr val="1E73E8"/>
            </a:solidFill>
            <a:prstDash val="solid"/>
          </a:ln>
        </p:spPr>
        <p:txBody>
          <a:bodyPr/>
          <a:lstStyle/>
          <a:p>
            <a:endParaRPr lang="en-US"/>
          </a:p>
        </p:txBody>
      </p:sp>
      <p:sp>
        <p:nvSpPr>
          <p:cNvPr id="9" name="Shape 6"/>
          <p:cNvSpPr/>
          <p:nvPr/>
        </p:nvSpPr>
        <p:spPr>
          <a:xfrm flipV="1">
            <a:off x="3050736" y="2513855"/>
            <a:ext cx="1590687" cy="2423905"/>
          </a:xfrm>
          <a:prstGeom prst="line">
            <a:avLst/>
          </a:prstGeom>
          <a:noFill/>
          <a:ln w="28575">
            <a:solidFill>
              <a:srgbClr val="1E73E8"/>
            </a:solidFill>
            <a:prstDash val="solid"/>
          </a:ln>
        </p:spPr>
        <p:txBody>
          <a:bodyPr/>
          <a:lstStyle/>
          <a:p>
            <a:endParaRPr lang="en-US"/>
          </a:p>
        </p:txBody>
      </p:sp>
      <p:sp>
        <p:nvSpPr>
          <p:cNvPr id="10" name="Shape 7"/>
          <p:cNvSpPr/>
          <p:nvPr/>
        </p:nvSpPr>
        <p:spPr>
          <a:xfrm>
            <a:off x="5953956" y="2377440"/>
            <a:ext cx="2057400" cy="0"/>
          </a:xfrm>
          <a:prstGeom prst="line">
            <a:avLst/>
          </a:prstGeom>
          <a:noFill/>
          <a:ln w="28575">
            <a:solidFill>
              <a:srgbClr val="23A04A"/>
            </a:solidFill>
            <a:prstDash val="solid"/>
          </a:ln>
        </p:spPr>
        <p:txBody>
          <a:bodyPr/>
          <a:lstStyle/>
          <a:p>
            <a:endParaRPr lang="en-US"/>
          </a:p>
        </p:txBody>
      </p:sp>
      <p:sp>
        <p:nvSpPr>
          <p:cNvPr id="11" name="Shape 8"/>
          <p:cNvSpPr/>
          <p:nvPr/>
        </p:nvSpPr>
        <p:spPr>
          <a:xfrm flipV="1">
            <a:off x="6055292" y="2377440"/>
            <a:ext cx="1956064" cy="2407464"/>
          </a:xfrm>
          <a:prstGeom prst="line">
            <a:avLst/>
          </a:prstGeom>
          <a:noFill/>
          <a:ln w="28575">
            <a:solidFill>
              <a:srgbClr val="23A04A"/>
            </a:solidFill>
            <a:prstDash val="solid"/>
          </a:ln>
        </p:spPr>
        <p:txBody>
          <a:bodyPr/>
          <a:lstStyle/>
          <a:p>
            <a:endParaRPr lang="en-US"/>
          </a:p>
        </p:txBody>
      </p:sp>
      <p:sp>
        <p:nvSpPr>
          <p:cNvPr id="12" name="Shape 9"/>
          <p:cNvSpPr/>
          <p:nvPr/>
        </p:nvSpPr>
        <p:spPr>
          <a:xfrm>
            <a:off x="6055292" y="2530296"/>
            <a:ext cx="1956064" cy="2407464"/>
          </a:xfrm>
          <a:prstGeom prst="line">
            <a:avLst/>
          </a:prstGeom>
          <a:noFill/>
          <a:ln w="28575">
            <a:solidFill>
              <a:srgbClr val="1E73E8"/>
            </a:solidFill>
            <a:prstDash val="solid"/>
          </a:ln>
        </p:spPr>
        <p:txBody>
          <a:bodyPr/>
          <a:lstStyle/>
          <a:p>
            <a:endParaRPr lang="en-US"/>
          </a:p>
        </p:txBody>
      </p:sp>
      <p:sp>
        <p:nvSpPr>
          <p:cNvPr id="13" name="Shape 10"/>
          <p:cNvSpPr/>
          <p:nvPr/>
        </p:nvSpPr>
        <p:spPr>
          <a:xfrm>
            <a:off x="5953956" y="4937760"/>
            <a:ext cx="2057400" cy="0"/>
          </a:xfrm>
          <a:prstGeom prst="line">
            <a:avLst/>
          </a:prstGeom>
          <a:noFill/>
          <a:ln w="28575">
            <a:solidFill>
              <a:srgbClr val="1E73E8"/>
            </a:solidFill>
            <a:prstDash val="solid"/>
          </a:ln>
        </p:spPr>
        <p:txBody>
          <a:bodyPr/>
          <a:lstStyle/>
          <a:p>
            <a:endParaRPr lang="en-US"/>
          </a:p>
        </p:txBody>
      </p:sp>
      <p:sp>
        <p:nvSpPr>
          <p:cNvPr id="14" name="Shape 11"/>
          <p:cNvSpPr/>
          <p:nvPr/>
        </p:nvSpPr>
        <p:spPr>
          <a:xfrm>
            <a:off x="8011356" y="2377440"/>
            <a:ext cx="2057400" cy="0"/>
          </a:xfrm>
          <a:prstGeom prst="line">
            <a:avLst/>
          </a:prstGeom>
          <a:noFill/>
          <a:ln w="28575">
            <a:solidFill>
              <a:srgbClr val="23A04A"/>
            </a:solidFill>
            <a:prstDash val="solid"/>
          </a:ln>
        </p:spPr>
        <p:txBody>
          <a:bodyPr/>
          <a:lstStyle/>
          <a:p>
            <a:endParaRPr lang="en-US"/>
          </a:p>
        </p:txBody>
      </p:sp>
      <p:sp>
        <p:nvSpPr>
          <p:cNvPr id="15" name="Shape 12"/>
          <p:cNvSpPr/>
          <p:nvPr/>
        </p:nvSpPr>
        <p:spPr>
          <a:xfrm>
            <a:off x="8011356" y="2377440"/>
            <a:ext cx="1956064" cy="2407464"/>
          </a:xfrm>
          <a:prstGeom prst="line">
            <a:avLst/>
          </a:prstGeom>
          <a:noFill/>
          <a:ln w="28575">
            <a:solidFill>
              <a:srgbClr val="23A04A"/>
            </a:solidFill>
            <a:prstDash val="solid"/>
          </a:ln>
        </p:spPr>
        <p:txBody>
          <a:bodyPr/>
          <a:lstStyle/>
          <a:p>
            <a:endParaRPr lang="en-US"/>
          </a:p>
        </p:txBody>
      </p:sp>
      <p:sp>
        <p:nvSpPr>
          <p:cNvPr id="16" name="Shape 13"/>
          <p:cNvSpPr/>
          <p:nvPr/>
        </p:nvSpPr>
        <p:spPr>
          <a:xfrm flipV="1">
            <a:off x="8011356" y="2530296"/>
            <a:ext cx="1956064" cy="2407464"/>
          </a:xfrm>
          <a:prstGeom prst="line">
            <a:avLst/>
          </a:prstGeom>
          <a:noFill/>
          <a:ln w="28575">
            <a:solidFill>
              <a:srgbClr val="1E73E8"/>
            </a:solidFill>
            <a:prstDash val="solid"/>
          </a:ln>
        </p:spPr>
        <p:txBody>
          <a:bodyPr/>
          <a:lstStyle/>
          <a:p>
            <a:endParaRPr lang="en-US"/>
          </a:p>
        </p:txBody>
      </p:sp>
      <p:sp>
        <p:nvSpPr>
          <p:cNvPr id="17" name="Shape 14"/>
          <p:cNvSpPr/>
          <p:nvPr/>
        </p:nvSpPr>
        <p:spPr>
          <a:xfrm>
            <a:off x="8011356" y="4937760"/>
            <a:ext cx="2057400" cy="0"/>
          </a:xfrm>
          <a:prstGeom prst="line">
            <a:avLst/>
          </a:prstGeom>
          <a:noFill/>
          <a:ln w="28575">
            <a:solidFill>
              <a:srgbClr val="1E73E8"/>
            </a:solidFill>
            <a:prstDash val="solid"/>
          </a:ln>
        </p:spPr>
        <p:txBody>
          <a:bodyPr/>
          <a:lstStyle/>
          <a:p>
            <a:endParaRPr lang="en-US"/>
          </a:p>
        </p:txBody>
      </p:sp>
      <p:sp>
        <p:nvSpPr>
          <p:cNvPr id="18" name="Shape 15"/>
          <p:cNvSpPr/>
          <p:nvPr/>
        </p:nvSpPr>
        <p:spPr>
          <a:xfrm>
            <a:off x="5359596" y="3108960"/>
            <a:ext cx="0" cy="1097280"/>
          </a:xfrm>
          <a:prstGeom prst="line">
            <a:avLst/>
          </a:prstGeom>
          <a:noFill/>
          <a:ln w="50800">
            <a:solidFill>
              <a:srgbClr val="2F3747"/>
            </a:solidFill>
            <a:prstDash val="solid"/>
          </a:ln>
        </p:spPr>
        <p:txBody>
          <a:bodyPr/>
          <a:lstStyle/>
          <a:p>
            <a:endParaRPr lang="en-US"/>
          </a:p>
        </p:txBody>
      </p:sp>
      <p:sp>
        <p:nvSpPr>
          <p:cNvPr id="19" name="Shape 16"/>
          <p:cNvSpPr/>
          <p:nvPr/>
        </p:nvSpPr>
        <p:spPr>
          <a:xfrm>
            <a:off x="10905432" y="3108960"/>
            <a:ext cx="0" cy="1097280"/>
          </a:xfrm>
          <a:prstGeom prst="line">
            <a:avLst/>
          </a:prstGeom>
          <a:noFill/>
          <a:ln w="50800">
            <a:solidFill>
              <a:srgbClr val="2F3747"/>
            </a:solidFill>
            <a:prstDash val="solid"/>
          </a:ln>
        </p:spPr>
        <p:txBody>
          <a:bodyPr/>
          <a:lstStyle/>
          <a:p>
            <a:endParaRPr lang="en-US"/>
          </a:p>
        </p:txBody>
      </p:sp>
      <p:sp>
        <p:nvSpPr>
          <p:cNvPr id="20" name="Shape 17"/>
          <p:cNvSpPr/>
          <p:nvPr/>
        </p:nvSpPr>
        <p:spPr>
          <a:xfrm>
            <a:off x="1610556" y="2514600"/>
            <a:ext cx="1458468" cy="630936"/>
          </a:xfrm>
          <a:custGeom>
            <a:avLst/>
            <a:gdLst/>
            <a:ahLst/>
            <a:cxnLst/>
            <a:rect l="l" t="t" r="r" b="b"/>
            <a:pathLst>
              <a:path w="1458468" h="630936">
                <a:moveTo>
                  <a:pt x="18288" y="612648"/>
                </a:moveTo>
                <a:lnTo>
                  <a:pt x="340583" y="477927"/>
                </a:lnTo>
                <a:lnTo>
                  <a:pt x="515744" y="493905"/>
                </a:lnTo>
                <a:lnTo>
                  <a:pt x="334154" y="391418"/>
                </a:lnTo>
                <a:lnTo>
                  <a:pt x="509315" y="407396"/>
                </a:lnTo>
                <a:lnTo>
                  <a:pt x="1440180" y="18288"/>
                </a:lnTo>
              </a:path>
            </a:pathLst>
          </a:custGeom>
          <a:noFill/>
          <a:ln w="25400">
            <a:solidFill>
              <a:srgbClr val="23A04A"/>
            </a:solidFill>
            <a:prstDash val="solid"/>
          </a:ln>
        </p:spPr>
        <p:txBody>
          <a:bodyPr/>
          <a:lstStyle/>
          <a:p>
            <a:endParaRPr lang="en-US"/>
          </a:p>
        </p:txBody>
      </p:sp>
      <p:sp>
        <p:nvSpPr>
          <p:cNvPr id="21" name="Shape 18"/>
          <p:cNvSpPr/>
          <p:nvPr/>
        </p:nvSpPr>
        <p:spPr>
          <a:xfrm>
            <a:off x="1610556" y="3291840"/>
            <a:ext cx="1458468" cy="1508760"/>
          </a:xfrm>
          <a:custGeom>
            <a:avLst/>
            <a:gdLst/>
            <a:ahLst/>
            <a:cxnLst/>
            <a:rect l="l" t="t" r="r" b="b"/>
            <a:pathLst>
              <a:path w="1458468" h="1508760">
                <a:moveTo>
                  <a:pt x="18288" y="18288"/>
                </a:moveTo>
                <a:lnTo>
                  <a:pt x="460957" y="476614"/>
                </a:lnTo>
                <a:lnTo>
                  <a:pt x="509754" y="645598"/>
                </a:lnTo>
                <a:lnTo>
                  <a:pt x="539209" y="439173"/>
                </a:lnTo>
                <a:lnTo>
                  <a:pt x="588006" y="608157"/>
                </a:lnTo>
                <a:lnTo>
                  <a:pt x="1440180" y="1490472"/>
                </a:lnTo>
              </a:path>
            </a:pathLst>
          </a:custGeom>
          <a:noFill/>
          <a:ln w="25400">
            <a:solidFill>
              <a:srgbClr val="1E73E8"/>
            </a:solidFill>
            <a:prstDash val="solid"/>
          </a:ln>
        </p:spPr>
        <p:txBody>
          <a:bodyPr/>
          <a:lstStyle/>
          <a:p>
            <a:endParaRPr lang="en-US"/>
          </a:p>
        </p:txBody>
      </p:sp>
      <p:sp>
        <p:nvSpPr>
          <p:cNvPr id="22" name="Shape 19"/>
          <p:cNvSpPr/>
          <p:nvPr/>
        </p:nvSpPr>
        <p:spPr>
          <a:xfrm>
            <a:off x="2296356" y="1938528"/>
            <a:ext cx="1508760" cy="1188720"/>
          </a:xfrm>
          <a:prstGeom prst="cloud">
            <a:avLst/>
          </a:prstGeom>
          <a:solidFill>
            <a:srgbClr val="E9F6EE"/>
          </a:solidFill>
          <a:ln w="19050">
            <a:solidFill>
              <a:srgbClr val="23A04A"/>
            </a:solidFill>
            <a:prstDash val="solid"/>
          </a:ln>
        </p:spPr>
        <p:txBody>
          <a:bodyPr/>
          <a:lstStyle/>
          <a:p>
            <a:endParaRPr lang="en-US"/>
          </a:p>
        </p:txBody>
      </p:sp>
      <p:sp>
        <p:nvSpPr>
          <p:cNvPr id="23" name="Shape 20"/>
          <p:cNvSpPr/>
          <p:nvPr/>
        </p:nvSpPr>
        <p:spPr>
          <a:xfrm>
            <a:off x="2296356" y="4187952"/>
            <a:ext cx="1508760" cy="1188720"/>
          </a:xfrm>
          <a:prstGeom prst="cloud">
            <a:avLst/>
          </a:prstGeom>
          <a:solidFill>
            <a:srgbClr val="E8F0FD"/>
          </a:solidFill>
          <a:ln w="19050">
            <a:solidFill>
              <a:srgbClr val="1E73E8"/>
            </a:solidFill>
            <a:prstDash val="solid"/>
          </a:ln>
        </p:spPr>
        <p:txBody>
          <a:bodyPr/>
          <a:lstStyle/>
          <a:p>
            <a:endParaRPr lang="en-US"/>
          </a:p>
        </p:txBody>
      </p:sp>
      <p:sp>
        <p:nvSpPr>
          <p:cNvPr id="24" name="Shape 21"/>
          <p:cNvSpPr/>
          <p:nvPr/>
        </p:nvSpPr>
        <p:spPr>
          <a:xfrm>
            <a:off x="7142676" y="1938528"/>
            <a:ext cx="1737360" cy="1188720"/>
          </a:xfrm>
          <a:prstGeom prst="cloud">
            <a:avLst/>
          </a:prstGeom>
          <a:solidFill>
            <a:srgbClr val="E9F6EE"/>
          </a:solidFill>
          <a:ln w="19050">
            <a:solidFill>
              <a:srgbClr val="23A04A"/>
            </a:solidFill>
            <a:prstDash val="solid"/>
          </a:ln>
        </p:spPr>
        <p:txBody>
          <a:bodyPr/>
          <a:lstStyle/>
          <a:p>
            <a:endParaRPr lang="en-US"/>
          </a:p>
        </p:txBody>
      </p:sp>
      <p:sp>
        <p:nvSpPr>
          <p:cNvPr id="25" name="Shape 22"/>
          <p:cNvSpPr/>
          <p:nvPr/>
        </p:nvSpPr>
        <p:spPr>
          <a:xfrm>
            <a:off x="7142676" y="4187952"/>
            <a:ext cx="1737360" cy="1188720"/>
          </a:xfrm>
          <a:prstGeom prst="cloud">
            <a:avLst/>
          </a:prstGeom>
          <a:solidFill>
            <a:srgbClr val="E8F0FD"/>
          </a:solidFill>
          <a:ln w="19050">
            <a:solidFill>
              <a:srgbClr val="1E73E8"/>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2803848" y="2286000"/>
            <a:ext cx="493776" cy="493776"/>
          </a:xfrm>
          <a:prstGeom prst="rect">
            <a:avLst/>
          </a:prstGeom>
        </p:spPr>
      </p:pic>
      <p:pic>
        <p:nvPicPr>
          <p:cNvPr id="27" name="Image 2" descr="preencoded.png"/>
          <p:cNvPicPr>
            <a:picLocks noChangeAspect="1"/>
          </p:cNvPicPr>
          <p:nvPr/>
        </p:nvPicPr>
        <p:blipFill>
          <a:blip r:embed="rId5"/>
          <a:stretch>
            <a:fillRect/>
          </a:stretch>
        </p:blipFill>
        <p:spPr>
          <a:xfrm>
            <a:off x="2803848" y="4535424"/>
            <a:ext cx="493776" cy="493776"/>
          </a:xfrm>
          <a:prstGeom prst="rect">
            <a:avLst/>
          </a:prstGeom>
        </p:spPr>
      </p:pic>
      <p:sp>
        <p:nvSpPr>
          <p:cNvPr id="28" name="Shape 23"/>
          <p:cNvSpPr/>
          <p:nvPr/>
        </p:nvSpPr>
        <p:spPr>
          <a:xfrm>
            <a:off x="5935668" y="2267712"/>
            <a:ext cx="4151376" cy="36576"/>
          </a:xfrm>
          <a:custGeom>
            <a:avLst/>
            <a:gdLst/>
            <a:ahLst/>
            <a:cxnLst/>
            <a:rect l="l" t="t" r="r" b="b"/>
            <a:pathLst>
              <a:path w="4151376" h="36576">
                <a:moveTo>
                  <a:pt x="18288" y="18288"/>
                </a:moveTo>
                <a:lnTo>
                  <a:pt x="1618488" y="18288"/>
                </a:lnTo>
                <a:lnTo>
                  <a:pt x="2532888" y="18288"/>
                </a:lnTo>
                <a:lnTo>
                  <a:pt x="4133088" y="18288"/>
                </a:lnTo>
              </a:path>
            </a:pathLst>
          </a:custGeom>
          <a:noFill/>
          <a:ln w="25400">
            <a:solidFill>
              <a:srgbClr val="23A04A"/>
            </a:solidFill>
            <a:prstDash val="sysDot"/>
          </a:ln>
        </p:spPr>
        <p:txBody>
          <a:bodyPr/>
          <a:lstStyle/>
          <a:p>
            <a:endParaRPr lang="en-US"/>
          </a:p>
        </p:txBody>
      </p:sp>
      <p:sp>
        <p:nvSpPr>
          <p:cNvPr id="29" name="Shape 24"/>
          <p:cNvSpPr/>
          <p:nvPr/>
        </p:nvSpPr>
        <p:spPr>
          <a:xfrm>
            <a:off x="5935668" y="2450592"/>
            <a:ext cx="4121008" cy="2294938"/>
          </a:xfrm>
          <a:custGeom>
            <a:avLst/>
            <a:gdLst/>
            <a:ahLst/>
            <a:cxnLst/>
            <a:rect l="l" t="t" r="r" b="b"/>
            <a:pathLst>
              <a:path w="4121008" h="2294938">
                <a:moveTo>
                  <a:pt x="18288" y="18288"/>
                </a:moveTo>
                <a:lnTo>
                  <a:pt x="1618488" y="18288"/>
                </a:lnTo>
                <a:lnTo>
                  <a:pt x="2434963" y="224026"/>
                </a:lnTo>
                <a:lnTo>
                  <a:pt x="4102720" y="2276650"/>
                </a:lnTo>
              </a:path>
            </a:pathLst>
          </a:custGeom>
          <a:noFill/>
          <a:ln w="25400">
            <a:solidFill>
              <a:srgbClr val="23A04A"/>
            </a:solidFill>
            <a:prstDash val="sysDot"/>
          </a:ln>
        </p:spPr>
        <p:txBody>
          <a:bodyPr/>
          <a:lstStyle/>
          <a:p>
            <a:endParaRPr lang="en-US"/>
          </a:p>
        </p:txBody>
      </p:sp>
      <p:sp>
        <p:nvSpPr>
          <p:cNvPr id="30" name="Shape 25"/>
          <p:cNvSpPr/>
          <p:nvPr/>
        </p:nvSpPr>
        <p:spPr>
          <a:xfrm>
            <a:off x="5966036" y="2450592"/>
            <a:ext cx="4121008" cy="2294938"/>
          </a:xfrm>
          <a:custGeom>
            <a:avLst/>
            <a:gdLst/>
            <a:ahLst/>
            <a:cxnLst/>
            <a:rect l="l" t="t" r="r" b="b"/>
            <a:pathLst>
              <a:path w="4121008" h="2294938">
                <a:moveTo>
                  <a:pt x="18288" y="2276650"/>
                </a:moveTo>
                <a:lnTo>
                  <a:pt x="1686045" y="224026"/>
                </a:lnTo>
                <a:lnTo>
                  <a:pt x="2502520" y="18288"/>
                </a:lnTo>
                <a:lnTo>
                  <a:pt x="4102720" y="18288"/>
                </a:lnTo>
              </a:path>
            </a:pathLst>
          </a:custGeom>
          <a:noFill/>
          <a:ln w="25400">
            <a:solidFill>
              <a:srgbClr val="23A04A"/>
            </a:solidFill>
            <a:prstDash val="sysDot"/>
          </a:ln>
        </p:spPr>
        <p:txBody>
          <a:bodyPr/>
          <a:lstStyle/>
          <a:p>
            <a:endParaRPr lang="en-US"/>
          </a:p>
        </p:txBody>
      </p:sp>
      <p:sp>
        <p:nvSpPr>
          <p:cNvPr id="31" name="Shape 26"/>
          <p:cNvSpPr/>
          <p:nvPr/>
        </p:nvSpPr>
        <p:spPr>
          <a:xfrm>
            <a:off x="6107972" y="2771653"/>
            <a:ext cx="3806769" cy="2089200"/>
          </a:xfrm>
          <a:custGeom>
            <a:avLst/>
            <a:gdLst/>
            <a:ahLst/>
            <a:cxnLst/>
            <a:rect l="l" t="t" r="r" b="b"/>
            <a:pathLst>
              <a:path w="3806769" h="2089200">
                <a:moveTo>
                  <a:pt x="18288" y="2070912"/>
                </a:moveTo>
                <a:lnTo>
                  <a:pt x="1686045" y="18288"/>
                </a:lnTo>
                <a:lnTo>
                  <a:pt x="2120723" y="18288"/>
                </a:lnTo>
                <a:lnTo>
                  <a:pt x="3788481" y="2070912"/>
                </a:lnTo>
              </a:path>
            </a:pathLst>
          </a:custGeom>
          <a:noFill/>
          <a:ln w="25400">
            <a:solidFill>
              <a:srgbClr val="23A04A"/>
            </a:solidFill>
            <a:prstDash val="sysDot"/>
          </a:ln>
        </p:spPr>
        <p:txBody>
          <a:bodyPr/>
          <a:lstStyle/>
          <a:p>
            <a:endParaRPr lang="en-US" dirty="0"/>
          </a:p>
        </p:txBody>
      </p:sp>
      <p:sp>
        <p:nvSpPr>
          <p:cNvPr id="32" name="Shape 27"/>
          <p:cNvSpPr/>
          <p:nvPr/>
        </p:nvSpPr>
        <p:spPr>
          <a:xfrm>
            <a:off x="6107972" y="2454347"/>
            <a:ext cx="3806769" cy="2089200"/>
          </a:xfrm>
          <a:custGeom>
            <a:avLst/>
            <a:gdLst/>
            <a:ahLst/>
            <a:cxnLst/>
            <a:rect l="l" t="t" r="r" b="b"/>
            <a:pathLst>
              <a:path w="3806769" h="2089200">
                <a:moveTo>
                  <a:pt x="18288" y="18288"/>
                </a:moveTo>
                <a:lnTo>
                  <a:pt x="1686045" y="2070912"/>
                </a:lnTo>
                <a:lnTo>
                  <a:pt x="2120723" y="2070912"/>
                </a:lnTo>
                <a:lnTo>
                  <a:pt x="3788481" y="18288"/>
                </a:lnTo>
              </a:path>
            </a:pathLst>
          </a:custGeom>
          <a:noFill/>
          <a:ln w="25400">
            <a:solidFill>
              <a:srgbClr val="1E73E8"/>
            </a:solidFill>
            <a:prstDash val="sysDot"/>
          </a:ln>
        </p:spPr>
        <p:txBody>
          <a:bodyPr/>
          <a:lstStyle/>
          <a:p>
            <a:endParaRPr lang="en-US"/>
          </a:p>
        </p:txBody>
      </p:sp>
      <p:sp>
        <p:nvSpPr>
          <p:cNvPr id="33" name="Shape 28"/>
          <p:cNvSpPr/>
          <p:nvPr/>
        </p:nvSpPr>
        <p:spPr>
          <a:xfrm>
            <a:off x="5966036" y="2569670"/>
            <a:ext cx="4121008" cy="2294938"/>
          </a:xfrm>
          <a:custGeom>
            <a:avLst/>
            <a:gdLst/>
            <a:ahLst/>
            <a:cxnLst/>
            <a:rect l="l" t="t" r="r" b="b"/>
            <a:pathLst>
              <a:path w="4121008" h="2294938">
                <a:moveTo>
                  <a:pt x="18288" y="18288"/>
                </a:moveTo>
                <a:lnTo>
                  <a:pt x="1686045" y="2070912"/>
                </a:lnTo>
                <a:lnTo>
                  <a:pt x="2502520" y="2276650"/>
                </a:lnTo>
                <a:lnTo>
                  <a:pt x="4102720" y="2276650"/>
                </a:lnTo>
              </a:path>
            </a:pathLst>
          </a:custGeom>
          <a:noFill/>
          <a:ln w="25400">
            <a:solidFill>
              <a:srgbClr val="1E73E8"/>
            </a:solidFill>
            <a:prstDash val="sysDot"/>
          </a:ln>
        </p:spPr>
        <p:txBody>
          <a:bodyPr/>
          <a:lstStyle/>
          <a:p>
            <a:endParaRPr lang="en-US"/>
          </a:p>
        </p:txBody>
      </p:sp>
      <p:sp>
        <p:nvSpPr>
          <p:cNvPr id="34" name="Shape 29"/>
          <p:cNvSpPr/>
          <p:nvPr/>
        </p:nvSpPr>
        <p:spPr>
          <a:xfrm>
            <a:off x="5935668" y="2569670"/>
            <a:ext cx="4121008" cy="2294938"/>
          </a:xfrm>
          <a:custGeom>
            <a:avLst/>
            <a:gdLst/>
            <a:ahLst/>
            <a:cxnLst/>
            <a:rect l="l" t="t" r="r" b="b"/>
            <a:pathLst>
              <a:path w="4121008" h="2294938">
                <a:moveTo>
                  <a:pt x="18288" y="2276650"/>
                </a:moveTo>
                <a:lnTo>
                  <a:pt x="1618488" y="2276650"/>
                </a:lnTo>
                <a:lnTo>
                  <a:pt x="2434963" y="2070912"/>
                </a:lnTo>
                <a:lnTo>
                  <a:pt x="4102720" y="18288"/>
                </a:lnTo>
              </a:path>
            </a:pathLst>
          </a:custGeom>
          <a:noFill/>
          <a:ln w="25400">
            <a:solidFill>
              <a:srgbClr val="1E73E8"/>
            </a:solidFill>
            <a:prstDash val="sysDot"/>
          </a:ln>
        </p:spPr>
        <p:txBody>
          <a:bodyPr/>
          <a:lstStyle/>
          <a:p>
            <a:endParaRPr lang="en-US"/>
          </a:p>
        </p:txBody>
      </p:sp>
      <p:sp>
        <p:nvSpPr>
          <p:cNvPr id="35" name="Shape 30"/>
          <p:cNvSpPr/>
          <p:nvPr/>
        </p:nvSpPr>
        <p:spPr>
          <a:xfrm>
            <a:off x="5935668" y="5010912"/>
            <a:ext cx="4151376" cy="36576"/>
          </a:xfrm>
          <a:custGeom>
            <a:avLst/>
            <a:gdLst/>
            <a:ahLst/>
            <a:cxnLst/>
            <a:rect l="l" t="t" r="r" b="b"/>
            <a:pathLst>
              <a:path w="4151376" h="36576">
                <a:moveTo>
                  <a:pt x="18288" y="18288"/>
                </a:moveTo>
                <a:lnTo>
                  <a:pt x="1618488" y="18288"/>
                </a:lnTo>
                <a:lnTo>
                  <a:pt x="2532888" y="18288"/>
                </a:lnTo>
                <a:lnTo>
                  <a:pt x="4133088" y="18288"/>
                </a:lnTo>
              </a:path>
            </a:pathLst>
          </a:custGeom>
          <a:noFill/>
          <a:ln w="25400">
            <a:solidFill>
              <a:srgbClr val="1E73E8"/>
            </a:solidFill>
            <a:prstDash val="sysDot"/>
          </a:ln>
        </p:spPr>
        <p:txBody>
          <a:bodyPr/>
          <a:lstStyle/>
          <a:p>
            <a:endParaRPr lang="en-US"/>
          </a:p>
        </p:txBody>
      </p:sp>
      <p:sp>
        <p:nvSpPr>
          <p:cNvPr id="36" name="Shape 31"/>
          <p:cNvSpPr/>
          <p:nvPr/>
        </p:nvSpPr>
        <p:spPr>
          <a:xfrm>
            <a:off x="4490916" y="1920240"/>
            <a:ext cx="1737360" cy="1280160"/>
          </a:xfrm>
          <a:prstGeom prst="roundRect">
            <a:avLst>
              <a:gd name="adj" fmla="val 7143"/>
            </a:avLst>
          </a:prstGeom>
          <a:solidFill>
            <a:srgbClr val="F3F4F7"/>
          </a:solidFill>
          <a:ln w="15875">
            <a:solidFill>
              <a:srgbClr val="8C95A6"/>
            </a:solidFill>
            <a:prstDash val="solid"/>
          </a:ln>
          <a:effectLst>
            <a:outerShdw blurRad="76200" dist="25400" dir="5400000" algn="bl" rotWithShape="0">
              <a:srgbClr val="1F2A44">
                <a:alpha val="14000"/>
              </a:srgbClr>
            </a:outerShdw>
          </a:effectLst>
        </p:spPr>
        <p:txBody>
          <a:bodyPr/>
          <a:lstStyle/>
          <a:p>
            <a:endParaRPr lang="en-US"/>
          </a:p>
        </p:txBody>
      </p:sp>
      <p:sp>
        <p:nvSpPr>
          <p:cNvPr id="37" name="Text 32"/>
          <p:cNvSpPr txBox="1"/>
          <p:nvPr/>
        </p:nvSpPr>
        <p:spPr>
          <a:xfrm>
            <a:off x="4618932" y="2011680"/>
            <a:ext cx="914400" cy="237744"/>
          </a:xfrm>
          <a:prstGeom prst="rect">
            <a:avLst/>
          </a:prstGeom>
          <a:noFill/>
          <a:ln/>
        </p:spPr>
        <p:txBody>
          <a:bodyPr wrap="square" lIns="0" tIns="0" rIns="0" bIns="0" rtlCol="0" anchor="ctr"/>
          <a:lstStyle/>
          <a:p>
            <a:pPr marL="0" indent="0">
              <a:buNone/>
            </a:pPr>
            <a:r>
              <a:rPr lang="en-US" sz="1200" b="1" dirty="0">
                <a:solidFill>
                  <a:srgbClr val="EF4922"/>
                </a:solidFill>
                <a:latin typeface="Century Gothic" pitchFamily="34" charset="0"/>
              </a:rPr>
              <a:t>Mashreq</a:t>
            </a:r>
          </a:p>
        </p:txBody>
      </p:sp>
      <p:sp>
        <p:nvSpPr>
          <p:cNvPr id="38" name="Text 33"/>
          <p:cNvSpPr txBox="1"/>
          <p:nvPr/>
        </p:nvSpPr>
        <p:spPr>
          <a:xfrm>
            <a:off x="4618932" y="2240280"/>
            <a:ext cx="1554480" cy="201168"/>
          </a:xfrm>
          <a:prstGeom prst="rect">
            <a:avLst/>
          </a:prstGeom>
          <a:noFill/>
          <a:ln/>
        </p:spPr>
        <p:txBody>
          <a:bodyPr wrap="square" lIns="0" tIns="0" rIns="0" bIns="0" rtlCol="0" anchor="ctr"/>
          <a:lstStyle/>
          <a:p>
            <a:pPr marL="0" indent="0">
              <a:buNone/>
            </a:pPr>
            <a:r>
              <a:rPr lang="en-US" sz="1000" dirty="0">
                <a:solidFill>
                  <a:srgbClr val="4A5568"/>
                </a:solidFill>
                <a:latin typeface="Century Gothic" pitchFamily="34" charset="0"/>
                <a:ea typeface="Century Gothic" pitchFamily="34" charset="-122"/>
                <a:cs typeface="Century Gothic" pitchFamily="34" charset="-120"/>
              </a:rPr>
              <a:t>Primary Datacenter</a:t>
            </a:r>
            <a:endParaRPr lang="en-US" sz="1000" dirty="0"/>
          </a:p>
        </p:txBody>
      </p:sp>
      <p:sp>
        <p:nvSpPr>
          <p:cNvPr id="39" name="Shape 34"/>
          <p:cNvSpPr/>
          <p:nvPr/>
        </p:nvSpPr>
        <p:spPr>
          <a:xfrm>
            <a:off x="5679636" y="2029968"/>
            <a:ext cx="420624" cy="201168"/>
          </a:xfrm>
          <a:prstGeom prst="roundRect">
            <a:avLst>
              <a:gd name="adj" fmla="val 50000"/>
            </a:avLst>
          </a:prstGeom>
          <a:solidFill>
            <a:srgbClr val="4A5568"/>
          </a:solidFill>
          <a:ln/>
        </p:spPr>
        <p:txBody>
          <a:bodyPr/>
          <a:lstStyle/>
          <a:p>
            <a:endParaRPr lang="en-US"/>
          </a:p>
        </p:txBody>
      </p:sp>
      <p:sp>
        <p:nvSpPr>
          <p:cNvPr id="40" name="Text 35"/>
          <p:cNvSpPr txBox="1"/>
          <p:nvPr/>
        </p:nvSpPr>
        <p:spPr>
          <a:xfrm>
            <a:off x="5679636" y="2029968"/>
            <a:ext cx="420624"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entury Gothic" pitchFamily="34" charset="0"/>
                <a:ea typeface="Century Gothic" pitchFamily="34" charset="-122"/>
                <a:cs typeface="Century Gothic" pitchFamily="34" charset="-120"/>
              </a:rPr>
              <a:t>DOZ</a:t>
            </a:r>
            <a:endParaRPr lang="en-US" sz="800" dirty="0"/>
          </a:p>
        </p:txBody>
      </p:sp>
      <p:pic>
        <p:nvPicPr>
          <p:cNvPr id="41" name="Image 3" descr="preencoded.png"/>
          <p:cNvPicPr>
            <a:picLocks noChangeAspect="1"/>
          </p:cNvPicPr>
          <p:nvPr/>
        </p:nvPicPr>
        <p:blipFill>
          <a:blip r:embed="rId6"/>
          <a:stretch>
            <a:fillRect/>
          </a:stretch>
        </p:blipFill>
        <p:spPr>
          <a:xfrm>
            <a:off x="5012124" y="2546055"/>
            <a:ext cx="694944" cy="430865"/>
          </a:xfrm>
          <a:prstGeom prst="rect">
            <a:avLst/>
          </a:prstGeom>
        </p:spPr>
      </p:pic>
      <p:sp>
        <p:nvSpPr>
          <p:cNvPr id="42" name="Shape 36"/>
          <p:cNvSpPr/>
          <p:nvPr/>
        </p:nvSpPr>
        <p:spPr>
          <a:xfrm>
            <a:off x="4490916" y="4114800"/>
            <a:ext cx="1737360" cy="1280160"/>
          </a:xfrm>
          <a:prstGeom prst="roundRect">
            <a:avLst>
              <a:gd name="adj" fmla="val 7143"/>
            </a:avLst>
          </a:prstGeom>
          <a:solidFill>
            <a:srgbClr val="F3F4F7"/>
          </a:solidFill>
          <a:ln w="15875">
            <a:solidFill>
              <a:srgbClr val="8C95A6"/>
            </a:solidFill>
            <a:prstDash val="solid"/>
          </a:ln>
          <a:effectLst>
            <a:outerShdw blurRad="76200" dist="25400" dir="5400000" algn="bl" rotWithShape="0">
              <a:srgbClr val="1F2A44">
                <a:alpha val="14000"/>
              </a:srgbClr>
            </a:outerShdw>
          </a:effectLst>
        </p:spPr>
        <p:txBody>
          <a:bodyPr/>
          <a:lstStyle/>
          <a:p>
            <a:endParaRPr lang="en-US"/>
          </a:p>
        </p:txBody>
      </p:sp>
      <p:sp>
        <p:nvSpPr>
          <p:cNvPr id="43" name="Text 37"/>
          <p:cNvSpPr txBox="1"/>
          <p:nvPr/>
        </p:nvSpPr>
        <p:spPr>
          <a:xfrm>
            <a:off x="4618932" y="4206240"/>
            <a:ext cx="914400" cy="237744"/>
          </a:xfrm>
          <a:prstGeom prst="rect">
            <a:avLst/>
          </a:prstGeom>
          <a:noFill/>
          <a:ln/>
        </p:spPr>
        <p:txBody>
          <a:bodyPr wrap="square" lIns="0" tIns="0" rIns="0" bIns="0" rtlCol="0" anchor="ctr"/>
          <a:lstStyle/>
          <a:p>
            <a:r>
              <a:rPr lang="en-US" sz="1200" b="1" dirty="0">
                <a:solidFill>
                  <a:srgbClr val="EF4922"/>
                </a:solidFill>
                <a:latin typeface="Century Gothic" pitchFamily="34" charset="0"/>
              </a:rPr>
              <a:t>Mashreq</a:t>
            </a:r>
          </a:p>
        </p:txBody>
      </p:sp>
      <p:sp>
        <p:nvSpPr>
          <p:cNvPr id="44" name="Text 38"/>
          <p:cNvSpPr txBox="1"/>
          <p:nvPr/>
        </p:nvSpPr>
        <p:spPr>
          <a:xfrm>
            <a:off x="4618932" y="4434840"/>
            <a:ext cx="1554480" cy="201168"/>
          </a:xfrm>
          <a:prstGeom prst="rect">
            <a:avLst/>
          </a:prstGeom>
          <a:noFill/>
          <a:ln/>
        </p:spPr>
        <p:txBody>
          <a:bodyPr wrap="square" lIns="0" tIns="0" rIns="0" bIns="0" rtlCol="0" anchor="ctr"/>
          <a:lstStyle/>
          <a:p>
            <a:pPr marL="0" indent="0">
              <a:buNone/>
            </a:pPr>
            <a:r>
              <a:rPr lang="en-US" sz="1000" dirty="0">
                <a:solidFill>
                  <a:srgbClr val="4A5568"/>
                </a:solidFill>
                <a:latin typeface="Century Gothic" pitchFamily="34" charset="0"/>
                <a:ea typeface="Century Gothic" pitchFamily="34" charset="-122"/>
                <a:cs typeface="Century Gothic" pitchFamily="34" charset="-120"/>
              </a:rPr>
              <a:t>Secondary Datacenter</a:t>
            </a:r>
            <a:endParaRPr lang="en-US" sz="1000" dirty="0"/>
          </a:p>
        </p:txBody>
      </p:sp>
      <p:sp>
        <p:nvSpPr>
          <p:cNvPr id="45" name="Shape 39"/>
          <p:cNvSpPr/>
          <p:nvPr/>
        </p:nvSpPr>
        <p:spPr>
          <a:xfrm>
            <a:off x="5679636" y="4224528"/>
            <a:ext cx="420624" cy="201168"/>
          </a:xfrm>
          <a:prstGeom prst="roundRect">
            <a:avLst>
              <a:gd name="adj" fmla="val 50000"/>
            </a:avLst>
          </a:prstGeom>
          <a:solidFill>
            <a:srgbClr val="4A5568"/>
          </a:solidFill>
          <a:ln/>
        </p:spPr>
        <p:txBody>
          <a:bodyPr/>
          <a:lstStyle/>
          <a:p>
            <a:endParaRPr lang="en-US"/>
          </a:p>
        </p:txBody>
      </p:sp>
      <p:sp>
        <p:nvSpPr>
          <p:cNvPr id="46" name="Text 40"/>
          <p:cNvSpPr txBox="1"/>
          <p:nvPr/>
        </p:nvSpPr>
        <p:spPr>
          <a:xfrm>
            <a:off x="5679636" y="4224528"/>
            <a:ext cx="420624"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entury Gothic" pitchFamily="34" charset="0"/>
                <a:ea typeface="Century Gothic" pitchFamily="34" charset="-122"/>
                <a:cs typeface="Century Gothic" pitchFamily="34" charset="-120"/>
              </a:rPr>
              <a:t>KDC</a:t>
            </a:r>
            <a:endParaRPr lang="en-US" sz="800" dirty="0"/>
          </a:p>
        </p:txBody>
      </p:sp>
      <p:pic>
        <p:nvPicPr>
          <p:cNvPr id="47" name="Image 4" descr="preencoded.png"/>
          <p:cNvPicPr>
            <a:picLocks noChangeAspect="1"/>
          </p:cNvPicPr>
          <p:nvPr/>
        </p:nvPicPr>
        <p:blipFill>
          <a:blip r:embed="rId6"/>
          <a:stretch>
            <a:fillRect/>
          </a:stretch>
        </p:blipFill>
        <p:spPr>
          <a:xfrm>
            <a:off x="5012124" y="4740615"/>
            <a:ext cx="694944" cy="430865"/>
          </a:xfrm>
          <a:prstGeom prst="rect">
            <a:avLst/>
          </a:prstGeom>
        </p:spPr>
      </p:pic>
      <p:sp>
        <p:nvSpPr>
          <p:cNvPr id="48" name="Shape 41"/>
          <p:cNvSpPr/>
          <p:nvPr/>
        </p:nvSpPr>
        <p:spPr>
          <a:xfrm>
            <a:off x="9794436" y="1920240"/>
            <a:ext cx="2221992" cy="1280160"/>
          </a:xfrm>
          <a:prstGeom prst="roundRect">
            <a:avLst>
              <a:gd name="adj" fmla="val 7143"/>
            </a:avLst>
          </a:prstGeom>
          <a:solidFill>
            <a:srgbClr val="EEF2FA"/>
          </a:solidFill>
          <a:ln w="15875">
            <a:solidFill>
              <a:srgbClr val="213C81"/>
            </a:solidFill>
            <a:prstDash val="solid"/>
          </a:ln>
          <a:effectLst>
            <a:outerShdw blurRad="76200" dist="25400" dir="5400000" algn="bl" rotWithShape="0">
              <a:srgbClr val="1F2A44">
                <a:alpha val="14000"/>
              </a:srgbClr>
            </a:outerShdw>
          </a:effectLst>
        </p:spPr>
        <p:txBody>
          <a:bodyPr/>
          <a:lstStyle/>
          <a:p>
            <a:endParaRPr lang="en-US"/>
          </a:p>
        </p:txBody>
      </p:sp>
      <p:sp>
        <p:nvSpPr>
          <p:cNvPr id="50" name="Text 43"/>
          <p:cNvSpPr txBox="1"/>
          <p:nvPr/>
        </p:nvSpPr>
        <p:spPr>
          <a:xfrm>
            <a:off x="9922452" y="2240280"/>
            <a:ext cx="2039112" cy="201168"/>
          </a:xfrm>
          <a:prstGeom prst="rect">
            <a:avLst/>
          </a:prstGeom>
          <a:noFill/>
          <a:ln/>
        </p:spPr>
        <p:txBody>
          <a:bodyPr wrap="square" lIns="0" tIns="0" rIns="0" bIns="0" rtlCol="0" anchor="ctr"/>
          <a:lstStyle/>
          <a:p>
            <a:pPr marL="0" indent="0">
              <a:buNone/>
            </a:pPr>
            <a:r>
              <a:rPr lang="en-US" sz="1000" dirty="0">
                <a:solidFill>
                  <a:srgbClr val="4A5568"/>
                </a:solidFill>
                <a:latin typeface="Century Gothic" pitchFamily="34" charset="0"/>
                <a:ea typeface="Century Gothic" pitchFamily="34" charset="-122"/>
                <a:cs typeface="Century Gothic" pitchFamily="34" charset="-120"/>
              </a:rPr>
              <a:t>Primary Datacenter</a:t>
            </a:r>
            <a:endParaRPr lang="en-US" sz="1000" dirty="0"/>
          </a:p>
        </p:txBody>
      </p:sp>
      <p:pic>
        <p:nvPicPr>
          <p:cNvPr id="51" name="Image 5" descr="preencoded.png"/>
          <p:cNvPicPr>
            <a:picLocks noChangeAspect="1"/>
          </p:cNvPicPr>
          <p:nvPr/>
        </p:nvPicPr>
        <p:blipFill>
          <a:blip r:embed="rId6"/>
          <a:stretch>
            <a:fillRect/>
          </a:stretch>
        </p:blipFill>
        <p:spPr>
          <a:xfrm>
            <a:off x="9977316" y="2539106"/>
            <a:ext cx="658368" cy="408188"/>
          </a:xfrm>
          <a:prstGeom prst="rect">
            <a:avLst/>
          </a:prstGeom>
        </p:spPr>
      </p:pic>
      <p:sp>
        <p:nvSpPr>
          <p:cNvPr id="52" name="Shape 44"/>
          <p:cNvSpPr/>
          <p:nvPr/>
        </p:nvSpPr>
        <p:spPr>
          <a:xfrm>
            <a:off x="10635684" y="2743200"/>
            <a:ext cx="530352" cy="0"/>
          </a:xfrm>
          <a:prstGeom prst="line">
            <a:avLst/>
          </a:prstGeom>
          <a:noFill/>
          <a:ln w="19050">
            <a:solidFill>
              <a:srgbClr val="8C95A6"/>
            </a:solidFill>
            <a:prstDash val="solid"/>
          </a:ln>
        </p:spPr>
        <p:txBody>
          <a:bodyPr/>
          <a:lstStyle/>
          <a:p>
            <a:endParaRPr lang="en-US"/>
          </a:p>
        </p:txBody>
      </p:sp>
      <p:pic>
        <p:nvPicPr>
          <p:cNvPr id="53" name="Image 6" descr="preencoded.png"/>
          <p:cNvPicPr>
            <a:picLocks noChangeAspect="1"/>
          </p:cNvPicPr>
          <p:nvPr/>
        </p:nvPicPr>
        <p:blipFill>
          <a:blip r:embed="rId7"/>
          <a:stretch>
            <a:fillRect/>
          </a:stretch>
        </p:blipFill>
        <p:spPr>
          <a:xfrm>
            <a:off x="11166036" y="2531745"/>
            <a:ext cx="338328" cy="422910"/>
          </a:xfrm>
          <a:prstGeom prst="rect">
            <a:avLst/>
          </a:prstGeom>
        </p:spPr>
      </p:pic>
      <p:sp>
        <p:nvSpPr>
          <p:cNvPr id="54" name="Text 45"/>
          <p:cNvSpPr txBox="1"/>
          <p:nvPr/>
        </p:nvSpPr>
        <p:spPr>
          <a:xfrm>
            <a:off x="10844784" y="2946400"/>
            <a:ext cx="1143000" cy="182880"/>
          </a:xfrm>
          <a:prstGeom prst="rect">
            <a:avLst/>
          </a:prstGeom>
          <a:noFill/>
          <a:ln/>
        </p:spPr>
        <p:txBody>
          <a:bodyPr wrap="square" lIns="0" tIns="0" rIns="0" bIns="0" rtlCol="0" anchor="ctr"/>
          <a:lstStyle/>
          <a:p>
            <a:pPr algn="ctr"/>
            <a:r>
              <a:rPr lang="en-US" sz="900" b="1" dirty="0">
                <a:solidFill>
                  <a:srgbClr val="213C81"/>
                </a:solidFill>
                <a:latin typeface="Century Gothic" pitchFamily="34" charset="0"/>
                <a:ea typeface="Century Gothic" pitchFamily="34" charset="-122"/>
                <a:cs typeface="Century Gothic" pitchFamily="34" charset="-120"/>
              </a:rPr>
              <a:t>Postilion Server </a:t>
            </a:r>
            <a:r>
              <a:rPr lang="en-US" sz="900" b="1" dirty="0">
                <a:solidFill>
                  <a:srgbClr val="EF4922"/>
                </a:solidFill>
                <a:latin typeface="Century Gothic" pitchFamily="34" charset="0"/>
                <a:ea typeface="Century Gothic" pitchFamily="34" charset="-122"/>
                <a:cs typeface="Century Gothic" pitchFamily="34" charset="-120"/>
              </a:rPr>
              <a:t>(</a:t>
            </a:r>
            <a:r>
              <a:rPr lang="en-US" sz="900" b="1" dirty="0">
                <a:solidFill>
                  <a:srgbClr val="EF4922"/>
                </a:solidFill>
                <a:latin typeface="Century Gothic" pitchFamily="34" charset="0"/>
              </a:rPr>
              <a:t>RT3)</a:t>
            </a:r>
            <a:endParaRPr lang="en-US" sz="900" dirty="0"/>
          </a:p>
        </p:txBody>
      </p:sp>
      <p:sp>
        <p:nvSpPr>
          <p:cNvPr id="55" name="Shape 46"/>
          <p:cNvSpPr/>
          <p:nvPr/>
        </p:nvSpPr>
        <p:spPr>
          <a:xfrm>
            <a:off x="9794436" y="4114800"/>
            <a:ext cx="2221992" cy="1280160"/>
          </a:xfrm>
          <a:prstGeom prst="roundRect">
            <a:avLst>
              <a:gd name="adj" fmla="val 7143"/>
            </a:avLst>
          </a:prstGeom>
          <a:solidFill>
            <a:srgbClr val="F1F8EC"/>
          </a:solidFill>
          <a:ln w="15875">
            <a:solidFill>
              <a:srgbClr val="213C81"/>
            </a:solidFill>
            <a:prstDash val="solid"/>
          </a:ln>
          <a:effectLst>
            <a:outerShdw blurRad="76200" dist="25400" dir="5400000" algn="bl" rotWithShape="0">
              <a:srgbClr val="1F2A44">
                <a:alpha val="14000"/>
              </a:srgbClr>
            </a:outerShdw>
          </a:effectLst>
        </p:spPr>
        <p:txBody>
          <a:bodyPr/>
          <a:lstStyle/>
          <a:p>
            <a:endParaRPr lang="en-US"/>
          </a:p>
        </p:txBody>
      </p:sp>
      <p:sp>
        <p:nvSpPr>
          <p:cNvPr id="57" name="Text 48"/>
          <p:cNvSpPr txBox="1"/>
          <p:nvPr/>
        </p:nvSpPr>
        <p:spPr>
          <a:xfrm>
            <a:off x="9922452" y="4434840"/>
            <a:ext cx="2039112" cy="201168"/>
          </a:xfrm>
          <a:prstGeom prst="rect">
            <a:avLst/>
          </a:prstGeom>
          <a:noFill/>
          <a:ln/>
        </p:spPr>
        <p:txBody>
          <a:bodyPr wrap="square" lIns="0" tIns="0" rIns="0" bIns="0" rtlCol="0" anchor="ctr"/>
          <a:lstStyle/>
          <a:p>
            <a:pPr marL="0" indent="0">
              <a:buNone/>
            </a:pPr>
            <a:r>
              <a:rPr lang="en-US" sz="1000" dirty="0">
                <a:solidFill>
                  <a:srgbClr val="4A5568"/>
                </a:solidFill>
                <a:latin typeface="Century Gothic" pitchFamily="34" charset="0"/>
                <a:ea typeface="Century Gothic" pitchFamily="34" charset="-122"/>
                <a:cs typeface="Century Gothic" pitchFamily="34" charset="-120"/>
              </a:rPr>
              <a:t>Secondary Datacenter</a:t>
            </a:r>
            <a:endParaRPr lang="en-US" sz="1000" dirty="0"/>
          </a:p>
        </p:txBody>
      </p:sp>
      <p:pic>
        <p:nvPicPr>
          <p:cNvPr id="58" name="Image 7" descr="preencoded.png"/>
          <p:cNvPicPr>
            <a:picLocks noChangeAspect="1"/>
          </p:cNvPicPr>
          <p:nvPr/>
        </p:nvPicPr>
        <p:blipFill>
          <a:blip r:embed="rId6"/>
          <a:stretch>
            <a:fillRect/>
          </a:stretch>
        </p:blipFill>
        <p:spPr>
          <a:xfrm>
            <a:off x="9977316" y="4733666"/>
            <a:ext cx="658368" cy="408188"/>
          </a:xfrm>
          <a:prstGeom prst="rect">
            <a:avLst/>
          </a:prstGeom>
        </p:spPr>
      </p:pic>
      <p:sp>
        <p:nvSpPr>
          <p:cNvPr id="59" name="Shape 49"/>
          <p:cNvSpPr/>
          <p:nvPr/>
        </p:nvSpPr>
        <p:spPr>
          <a:xfrm>
            <a:off x="10635684" y="4937760"/>
            <a:ext cx="530352" cy="0"/>
          </a:xfrm>
          <a:prstGeom prst="line">
            <a:avLst/>
          </a:prstGeom>
          <a:noFill/>
          <a:ln w="19050">
            <a:solidFill>
              <a:srgbClr val="8C95A6"/>
            </a:solidFill>
            <a:prstDash val="solid"/>
          </a:ln>
        </p:spPr>
        <p:txBody>
          <a:bodyPr/>
          <a:lstStyle/>
          <a:p>
            <a:endParaRPr lang="en-US"/>
          </a:p>
        </p:txBody>
      </p:sp>
      <p:pic>
        <p:nvPicPr>
          <p:cNvPr id="60" name="Image 8" descr="preencoded.png"/>
          <p:cNvPicPr>
            <a:picLocks noChangeAspect="1"/>
          </p:cNvPicPr>
          <p:nvPr/>
        </p:nvPicPr>
        <p:blipFill>
          <a:blip r:embed="rId7"/>
          <a:stretch>
            <a:fillRect/>
          </a:stretch>
        </p:blipFill>
        <p:spPr>
          <a:xfrm>
            <a:off x="11166036" y="4726305"/>
            <a:ext cx="338328" cy="422910"/>
          </a:xfrm>
          <a:prstGeom prst="rect">
            <a:avLst/>
          </a:prstGeom>
        </p:spPr>
      </p:pic>
      <p:sp>
        <p:nvSpPr>
          <p:cNvPr id="61" name="Text 50"/>
          <p:cNvSpPr txBox="1"/>
          <p:nvPr/>
        </p:nvSpPr>
        <p:spPr>
          <a:xfrm>
            <a:off x="10844784" y="5140960"/>
            <a:ext cx="1143000" cy="182880"/>
          </a:xfrm>
          <a:prstGeom prst="rect">
            <a:avLst/>
          </a:prstGeom>
          <a:noFill/>
          <a:ln/>
        </p:spPr>
        <p:txBody>
          <a:bodyPr wrap="square" lIns="0" tIns="0" rIns="0" bIns="0" rtlCol="0" anchor="ctr"/>
          <a:lstStyle/>
          <a:p>
            <a:pPr algn="ctr"/>
            <a:r>
              <a:rPr lang="en-US" sz="900" b="1" dirty="0">
                <a:solidFill>
                  <a:srgbClr val="213C81"/>
                </a:solidFill>
                <a:latin typeface="Century Gothic" pitchFamily="34" charset="0"/>
                <a:ea typeface="Century Gothic" pitchFamily="34" charset="-122"/>
                <a:cs typeface="Century Gothic" pitchFamily="34" charset="-120"/>
              </a:rPr>
              <a:t>Postilion Server</a:t>
            </a:r>
            <a:r>
              <a:rPr lang="en-US" sz="900" b="1" dirty="0">
                <a:solidFill>
                  <a:srgbClr val="EF4922"/>
                </a:solidFill>
                <a:latin typeface="Century Gothic" pitchFamily="34" charset="0"/>
                <a:ea typeface="Century Gothic" pitchFamily="34" charset="-122"/>
                <a:cs typeface="Century Gothic" pitchFamily="34" charset="-120"/>
              </a:rPr>
              <a:t> (</a:t>
            </a:r>
            <a:r>
              <a:rPr lang="en-US" sz="900" b="1" dirty="0">
                <a:solidFill>
                  <a:srgbClr val="EF4922"/>
                </a:solidFill>
                <a:latin typeface="Century Gothic" pitchFamily="34" charset="0"/>
              </a:rPr>
              <a:t>RT4)</a:t>
            </a:r>
            <a:endParaRPr lang="en-US" sz="900" dirty="0"/>
          </a:p>
        </p:txBody>
      </p:sp>
      <p:sp>
        <p:nvSpPr>
          <p:cNvPr id="62" name="Shape 51"/>
          <p:cNvSpPr/>
          <p:nvPr/>
        </p:nvSpPr>
        <p:spPr>
          <a:xfrm>
            <a:off x="4710372" y="3520440"/>
            <a:ext cx="1298448" cy="274320"/>
          </a:xfrm>
          <a:prstGeom prst="roundRect">
            <a:avLst>
              <a:gd name="adj" fmla="val 50000"/>
            </a:avLst>
          </a:prstGeom>
          <a:solidFill>
            <a:srgbClr val="FFFFFF"/>
          </a:solidFill>
          <a:ln w="12700">
            <a:solidFill>
              <a:srgbClr val="2F3747"/>
            </a:solidFill>
            <a:prstDash val="solid"/>
          </a:ln>
        </p:spPr>
        <p:txBody>
          <a:bodyPr/>
          <a:lstStyle/>
          <a:p>
            <a:endParaRPr lang="en-US"/>
          </a:p>
        </p:txBody>
      </p:sp>
      <p:sp>
        <p:nvSpPr>
          <p:cNvPr id="63" name="Text 52"/>
          <p:cNvSpPr txBox="1"/>
          <p:nvPr/>
        </p:nvSpPr>
        <p:spPr>
          <a:xfrm>
            <a:off x="4710372" y="3520440"/>
            <a:ext cx="1298448" cy="274320"/>
          </a:xfrm>
          <a:prstGeom prst="rect">
            <a:avLst/>
          </a:prstGeom>
          <a:noFill/>
          <a:ln/>
        </p:spPr>
        <p:txBody>
          <a:bodyPr wrap="square" lIns="0" tIns="0" rIns="0" bIns="0" rtlCol="0" anchor="ctr"/>
          <a:lstStyle/>
          <a:p>
            <a:pPr marL="0" indent="0" algn="ctr">
              <a:buNone/>
            </a:pPr>
            <a:r>
              <a:rPr lang="en-US" sz="900" b="1" dirty="0">
                <a:solidFill>
                  <a:srgbClr val="2F3747"/>
                </a:solidFill>
                <a:latin typeface="Century Gothic" pitchFamily="34" charset="0"/>
                <a:ea typeface="Century Gothic" pitchFamily="34" charset="-122"/>
                <a:cs typeface="Century Gothic" pitchFamily="34" charset="-120"/>
              </a:rPr>
              <a:t>Inter-DC link · 10G</a:t>
            </a:r>
            <a:endParaRPr lang="en-US" sz="900" dirty="0"/>
          </a:p>
        </p:txBody>
      </p:sp>
      <p:sp>
        <p:nvSpPr>
          <p:cNvPr id="64" name="Shape 53"/>
          <p:cNvSpPr/>
          <p:nvPr/>
        </p:nvSpPr>
        <p:spPr>
          <a:xfrm>
            <a:off x="10256208" y="3520440"/>
            <a:ext cx="1298448" cy="274320"/>
          </a:xfrm>
          <a:prstGeom prst="roundRect">
            <a:avLst>
              <a:gd name="adj" fmla="val 50000"/>
            </a:avLst>
          </a:prstGeom>
          <a:solidFill>
            <a:srgbClr val="FFFFFF"/>
          </a:solidFill>
          <a:ln w="12700">
            <a:solidFill>
              <a:srgbClr val="2F3747"/>
            </a:solidFill>
            <a:prstDash val="solid"/>
          </a:ln>
        </p:spPr>
        <p:txBody>
          <a:bodyPr/>
          <a:lstStyle/>
          <a:p>
            <a:endParaRPr lang="en-US"/>
          </a:p>
        </p:txBody>
      </p:sp>
      <p:sp>
        <p:nvSpPr>
          <p:cNvPr id="65" name="Text 54"/>
          <p:cNvSpPr txBox="1"/>
          <p:nvPr/>
        </p:nvSpPr>
        <p:spPr>
          <a:xfrm>
            <a:off x="10256208" y="3520440"/>
            <a:ext cx="1298448" cy="274320"/>
          </a:xfrm>
          <a:prstGeom prst="rect">
            <a:avLst/>
          </a:prstGeom>
          <a:noFill/>
          <a:ln/>
        </p:spPr>
        <p:txBody>
          <a:bodyPr wrap="square" lIns="0" tIns="0" rIns="0" bIns="0" rtlCol="0" anchor="ctr"/>
          <a:lstStyle/>
          <a:p>
            <a:pPr marL="0" indent="0" algn="ctr">
              <a:buNone/>
            </a:pPr>
            <a:r>
              <a:rPr lang="en-US" sz="900" b="1" dirty="0">
                <a:solidFill>
                  <a:srgbClr val="2F3747"/>
                </a:solidFill>
                <a:latin typeface="Century Gothic" pitchFamily="34" charset="0"/>
                <a:ea typeface="Century Gothic" pitchFamily="34" charset="-122"/>
                <a:cs typeface="Century Gothic" pitchFamily="34" charset="-120"/>
              </a:rPr>
              <a:t>Inter-DC link · 2G</a:t>
            </a:r>
            <a:endParaRPr lang="en-US" sz="900" dirty="0"/>
          </a:p>
        </p:txBody>
      </p:sp>
      <p:sp>
        <p:nvSpPr>
          <p:cNvPr id="66" name="Text 55"/>
          <p:cNvSpPr txBox="1"/>
          <p:nvPr/>
        </p:nvSpPr>
        <p:spPr>
          <a:xfrm>
            <a:off x="2212848" y="1481328"/>
            <a:ext cx="1828800" cy="219456"/>
          </a:xfrm>
          <a:prstGeom prst="rect">
            <a:avLst/>
          </a:prstGeom>
          <a:noFill/>
          <a:ln/>
        </p:spPr>
        <p:txBody>
          <a:bodyPr wrap="square" lIns="0" tIns="0" rIns="0" bIns="0" rtlCol="0" anchor="ctr"/>
          <a:lstStyle/>
          <a:p>
            <a:pPr marL="0" indent="0" algn="ctr">
              <a:buNone/>
            </a:pPr>
            <a:r>
              <a:rPr lang="en-US" sz="1100" b="1" dirty="0">
                <a:solidFill>
                  <a:srgbClr val="1B8A3E"/>
                </a:solidFill>
                <a:latin typeface="Century Gothic" pitchFamily="34" charset="0"/>
                <a:ea typeface="Century Gothic" pitchFamily="34" charset="-122"/>
                <a:cs typeface="Century Gothic" pitchFamily="34" charset="-120"/>
              </a:rPr>
              <a:t>Etisalat GPRS Cloud</a:t>
            </a:r>
            <a:endParaRPr lang="en-US" sz="1100" dirty="0"/>
          </a:p>
        </p:txBody>
      </p:sp>
      <p:sp>
        <p:nvSpPr>
          <p:cNvPr id="67" name="Text 56"/>
          <p:cNvSpPr txBox="1"/>
          <p:nvPr/>
        </p:nvSpPr>
        <p:spPr>
          <a:xfrm>
            <a:off x="2212848" y="1700784"/>
            <a:ext cx="1828800" cy="182880"/>
          </a:xfrm>
          <a:prstGeom prst="rect">
            <a:avLst/>
          </a:prstGeom>
          <a:noFill/>
          <a:ln/>
        </p:spPr>
        <p:txBody>
          <a:bodyPr wrap="square" lIns="0" tIns="0" rIns="0" bIns="0" rtlCol="0" anchor="ctr"/>
          <a:lstStyle/>
          <a:p>
            <a:pPr marL="0" indent="0" algn="ctr">
              <a:buNone/>
            </a:pPr>
            <a:r>
              <a:rPr lang="en-US" sz="900" dirty="0">
                <a:solidFill>
                  <a:srgbClr val="667085"/>
                </a:solidFill>
                <a:latin typeface="Century Gothic" pitchFamily="34" charset="0"/>
                <a:ea typeface="Century Gothic" pitchFamily="34" charset="-122"/>
                <a:cs typeface="Century Gothic" pitchFamily="34" charset="-120"/>
              </a:rPr>
              <a:t>3 × 100 Mbps links to Mashreq</a:t>
            </a:r>
            <a:endParaRPr lang="en-US" sz="900" dirty="0"/>
          </a:p>
        </p:txBody>
      </p:sp>
      <p:sp>
        <p:nvSpPr>
          <p:cNvPr id="68" name="Text 57"/>
          <p:cNvSpPr txBox="1"/>
          <p:nvPr/>
        </p:nvSpPr>
        <p:spPr>
          <a:xfrm>
            <a:off x="7203580" y="2066343"/>
            <a:ext cx="1645920" cy="402336"/>
          </a:xfrm>
          <a:prstGeom prst="rect">
            <a:avLst/>
          </a:prstGeom>
          <a:noFill/>
          <a:ln/>
        </p:spPr>
        <p:txBody>
          <a:bodyPr wrap="square" lIns="0" tIns="0" rIns="0" bIns="0" rtlCol="0" anchor="ctr"/>
          <a:lstStyle/>
          <a:p>
            <a:pPr marL="0" indent="0" algn="ctr">
              <a:buNone/>
            </a:pPr>
            <a:r>
              <a:rPr lang="en-US" sz="1400" b="1" dirty="0">
                <a:solidFill>
                  <a:srgbClr val="1B8A3E"/>
                </a:solidFill>
                <a:latin typeface="Century Gothic" pitchFamily="34" charset="0"/>
                <a:ea typeface="Century Gothic" pitchFamily="34" charset="-122"/>
                <a:cs typeface="Century Gothic" pitchFamily="34" charset="-120"/>
              </a:rPr>
              <a:t>Etisalat </a:t>
            </a:r>
          </a:p>
          <a:p>
            <a:pPr marL="0" indent="0" algn="ctr">
              <a:buNone/>
            </a:pPr>
            <a:r>
              <a:rPr lang="en-US" sz="1400" b="1" dirty="0">
                <a:solidFill>
                  <a:srgbClr val="1B8A3E"/>
                </a:solidFill>
                <a:latin typeface="Century Gothic" pitchFamily="34" charset="0"/>
                <a:ea typeface="Century Gothic" pitchFamily="34" charset="-122"/>
                <a:cs typeface="Century Gothic" pitchFamily="34" charset="-120"/>
              </a:rPr>
              <a:t>VRF Cloud</a:t>
            </a:r>
            <a:endParaRPr lang="en-US" sz="1400" dirty="0"/>
          </a:p>
        </p:txBody>
      </p:sp>
      <p:sp>
        <p:nvSpPr>
          <p:cNvPr id="69" name="Text 58"/>
          <p:cNvSpPr txBox="1"/>
          <p:nvPr/>
        </p:nvSpPr>
        <p:spPr>
          <a:xfrm>
            <a:off x="6786060" y="1742881"/>
            <a:ext cx="2651760" cy="182880"/>
          </a:xfrm>
          <a:prstGeom prst="rect">
            <a:avLst/>
          </a:prstGeom>
          <a:noFill/>
          <a:ln/>
        </p:spPr>
        <p:txBody>
          <a:bodyPr wrap="square" lIns="0" tIns="0" rIns="0" bIns="0" rtlCol="0" anchor="ctr"/>
          <a:lstStyle/>
          <a:p>
            <a:pPr marL="0" indent="0" algn="ctr">
              <a:buNone/>
            </a:pPr>
            <a:r>
              <a:rPr lang="en-US" sz="900" dirty="0">
                <a:solidFill>
                  <a:srgbClr val="667085"/>
                </a:solidFill>
                <a:latin typeface="Century Gothic" pitchFamily="34" charset="0"/>
                <a:ea typeface="Century Gothic" pitchFamily="34" charset="-122"/>
                <a:cs typeface="Century Gothic" pitchFamily="34" charset="-120"/>
              </a:rPr>
              <a:t>4 × GRE tunnels · Mashreq ↔ NeoPay</a:t>
            </a:r>
            <a:endParaRPr lang="en-US" sz="900" dirty="0"/>
          </a:p>
        </p:txBody>
      </p:sp>
      <p:sp>
        <p:nvSpPr>
          <p:cNvPr id="70" name="Text 59"/>
          <p:cNvSpPr txBox="1"/>
          <p:nvPr/>
        </p:nvSpPr>
        <p:spPr>
          <a:xfrm>
            <a:off x="1999176" y="5431536"/>
            <a:ext cx="2103120" cy="219456"/>
          </a:xfrm>
          <a:prstGeom prst="rect">
            <a:avLst/>
          </a:prstGeom>
          <a:noFill/>
          <a:ln/>
        </p:spPr>
        <p:txBody>
          <a:bodyPr wrap="square" lIns="0" tIns="0" rIns="0" bIns="0" rtlCol="0" anchor="ctr"/>
          <a:lstStyle/>
          <a:p>
            <a:pPr marL="0" indent="0" algn="ctr">
              <a:buNone/>
            </a:pPr>
            <a:r>
              <a:rPr lang="en-US" sz="1100" b="1" dirty="0">
                <a:solidFill>
                  <a:srgbClr val="1A62C4"/>
                </a:solidFill>
                <a:latin typeface="Century Gothic" pitchFamily="34" charset="0"/>
                <a:ea typeface="Century Gothic" pitchFamily="34" charset="-122"/>
                <a:cs typeface="Century Gothic" pitchFamily="34" charset="-120"/>
              </a:rPr>
              <a:t>Du GPRS Cloud</a:t>
            </a:r>
            <a:endParaRPr lang="en-US" sz="1100" dirty="0"/>
          </a:p>
        </p:txBody>
      </p:sp>
      <p:sp>
        <p:nvSpPr>
          <p:cNvPr id="71" name="Text 60"/>
          <p:cNvSpPr txBox="1"/>
          <p:nvPr/>
        </p:nvSpPr>
        <p:spPr>
          <a:xfrm>
            <a:off x="1999176" y="5650992"/>
            <a:ext cx="2103120" cy="182880"/>
          </a:xfrm>
          <a:prstGeom prst="rect">
            <a:avLst/>
          </a:prstGeom>
          <a:noFill/>
          <a:ln/>
        </p:spPr>
        <p:txBody>
          <a:bodyPr wrap="square" lIns="0" tIns="0" rIns="0" bIns="0" rtlCol="0" anchor="ctr"/>
          <a:lstStyle/>
          <a:p>
            <a:pPr marL="0" indent="0" algn="ctr">
              <a:buNone/>
            </a:pPr>
            <a:r>
              <a:rPr lang="en-US" sz="900" dirty="0">
                <a:solidFill>
                  <a:srgbClr val="667085"/>
                </a:solidFill>
                <a:latin typeface="Century Gothic" pitchFamily="34" charset="0"/>
                <a:ea typeface="Century Gothic" pitchFamily="34" charset="-122"/>
                <a:cs typeface="Century Gothic" pitchFamily="34" charset="-120"/>
              </a:rPr>
              <a:t>3 × 512 Kbps links to Mashreq</a:t>
            </a:r>
            <a:endParaRPr lang="en-US" sz="900" dirty="0"/>
          </a:p>
        </p:txBody>
      </p:sp>
      <p:sp>
        <p:nvSpPr>
          <p:cNvPr id="72" name="Text 61"/>
          <p:cNvSpPr txBox="1"/>
          <p:nvPr/>
        </p:nvSpPr>
        <p:spPr>
          <a:xfrm>
            <a:off x="7158028" y="4830064"/>
            <a:ext cx="1645920" cy="402336"/>
          </a:xfrm>
          <a:prstGeom prst="rect">
            <a:avLst/>
          </a:prstGeom>
          <a:noFill/>
          <a:ln/>
        </p:spPr>
        <p:txBody>
          <a:bodyPr wrap="square" lIns="0" tIns="0" rIns="0" bIns="0" rtlCol="0" anchor="ctr"/>
          <a:lstStyle/>
          <a:p>
            <a:pPr marL="0" indent="0" algn="ctr">
              <a:buNone/>
            </a:pPr>
            <a:r>
              <a:rPr lang="en-US" sz="1400" b="1" dirty="0">
                <a:solidFill>
                  <a:srgbClr val="1A62C4"/>
                </a:solidFill>
                <a:latin typeface="Century Gothic" pitchFamily="34" charset="0"/>
                <a:ea typeface="Century Gothic" pitchFamily="34" charset="-122"/>
                <a:cs typeface="Century Gothic" pitchFamily="34" charset="-120"/>
              </a:rPr>
              <a:t>Du </a:t>
            </a:r>
          </a:p>
          <a:p>
            <a:pPr marL="0" indent="0" algn="ctr">
              <a:buNone/>
            </a:pPr>
            <a:r>
              <a:rPr lang="en-US" sz="1400" b="1" dirty="0">
                <a:solidFill>
                  <a:srgbClr val="1A62C4"/>
                </a:solidFill>
                <a:latin typeface="Century Gothic" pitchFamily="34" charset="0"/>
                <a:ea typeface="Century Gothic" pitchFamily="34" charset="-122"/>
                <a:cs typeface="Century Gothic" pitchFamily="34" charset="-120"/>
              </a:rPr>
              <a:t>VRF Cloud</a:t>
            </a:r>
            <a:endParaRPr lang="en-US" sz="1400" dirty="0"/>
          </a:p>
        </p:txBody>
      </p:sp>
      <p:sp>
        <p:nvSpPr>
          <p:cNvPr id="73" name="Text 62"/>
          <p:cNvSpPr txBox="1"/>
          <p:nvPr/>
        </p:nvSpPr>
        <p:spPr>
          <a:xfrm>
            <a:off x="6700660" y="5410833"/>
            <a:ext cx="2651760" cy="182880"/>
          </a:xfrm>
          <a:prstGeom prst="rect">
            <a:avLst/>
          </a:prstGeom>
          <a:noFill/>
          <a:ln/>
        </p:spPr>
        <p:txBody>
          <a:bodyPr wrap="square" lIns="0" tIns="0" rIns="0" bIns="0" rtlCol="0" anchor="ctr"/>
          <a:lstStyle/>
          <a:p>
            <a:pPr marL="0" indent="0" algn="ctr">
              <a:buNone/>
            </a:pPr>
            <a:r>
              <a:rPr lang="en-US" sz="900" dirty="0">
                <a:solidFill>
                  <a:srgbClr val="667085"/>
                </a:solidFill>
                <a:latin typeface="Century Gothic" pitchFamily="34" charset="0"/>
                <a:ea typeface="Century Gothic" pitchFamily="34" charset="-122"/>
                <a:cs typeface="Century Gothic" pitchFamily="34" charset="-120"/>
              </a:rPr>
              <a:t>4 × GRE tunnels · Mashreq ↔ NeoPay</a:t>
            </a:r>
            <a:endParaRPr lang="en-US" sz="900" dirty="0"/>
          </a:p>
        </p:txBody>
      </p:sp>
      <p:pic>
        <p:nvPicPr>
          <p:cNvPr id="74" name="Image 9" descr="preencoded.png"/>
          <p:cNvPicPr>
            <a:picLocks noChangeAspect="1"/>
          </p:cNvPicPr>
          <p:nvPr/>
        </p:nvPicPr>
        <p:blipFill>
          <a:blip r:embed="rId8"/>
          <a:stretch>
            <a:fillRect/>
          </a:stretch>
        </p:blipFill>
        <p:spPr>
          <a:xfrm>
            <a:off x="787596" y="2971800"/>
            <a:ext cx="822960" cy="1028700"/>
          </a:xfrm>
          <a:prstGeom prst="rect">
            <a:avLst/>
          </a:prstGeom>
        </p:spPr>
      </p:pic>
      <p:sp>
        <p:nvSpPr>
          <p:cNvPr id="75" name="Text 63"/>
          <p:cNvSpPr txBox="1"/>
          <p:nvPr/>
        </p:nvSpPr>
        <p:spPr>
          <a:xfrm>
            <a:off x="558996" y="4055364"/>
            <a:ext cx="1280160" cy="237744"/>
          </a:xfrm>
          <a:prstGeom prst="rect">
            <a:avLst/>
          </a:prstGeom>
          <a:noFill/>
          <a:ln/>
        </p:spPr>
        <p:txBody>
          <a:bodyPr wrap="square" lIns="0" tIns="0" rIns="0" bIns="0" rtlCol="0" anchor="ctr"/>
          <a:lstStyle/>
          <a:p>
            <a:pPr marL="0" indent="0" algn="ctr">
              <a:buNone/>
            </a:pPr>
            <a:r>
              <a:rPr lang="en-US" sz="1200" b="1" dirty="0">
                <a:solidFill>
                  <a:srgbClr val="213C81"/>
                </a:solidFill>
                <a:latin typeface="Century Gothic" pitchFamily="34" charset="0"/>
                <a:ea typeface="Century Gothic" pitchFamily="34" charset="-122"/>
                <a:cs typeface="Century Gothic" pitchFamily="34" charset="-120"/>
              </a:rPr>
              <a:t>POS Machine</a:t>
            </a:r>
            <a:endParaRPr lang="en-US" sz="1200" dirty="0"/>
          </a:p>
        </p:txBody>
      </p:sp>
      <p:sp>
        <p:nvSpPr>
          <p:cNvPr id="76" name="Text 64"/>
          <p:cNvSpPr txBox="1"/>
          <p:nvPr/>
        </p:nvSpPr>
        <p:spPr>
          <a:xfrm>
            <a:off x="513276" y="4293108"/>
            <a:ext cx="1371600" cy="201168"/>
          </a:xfrm>
          <a:prstGeom prst="rect">
            <a:avLst/>
          </a:prstGeom>
          <a:noFill/>
          <a:ln/>
        </p:spPr>
        <p:txBody>
          <a:bodyPr wrap="square" lIns="0" tIns="0" rIns="0" bIns="0" rtlCol="0" anchor="ctr"/>
          <a:lstStyle/>
          <a:p>
            <a:pPr marL="0" indent="0" algn="ctr">
              <a:buNone/>
            </a:pPr>
            <a:r>
              <a:rPr lang="en-US" sz="1000" dirty="0">
                <a:solidFill>
                  <a:srgbClr val="667085"/>
                </a:solidFill>
                <a:latin typeface="Century Gothic" pitchFamily="34" charset="0"/>
                <a:ea typeface="Century Gothic" pitchFamily="34" charset="-122"/>
                <a:cs typeface="Century Gothic" pitchFamily="34" charset="-120"/>
              </a:rPr>
              <a:t>End-point device</a:t>
            </a:r>
            <a:endParaRPr lang="en-US" sz="1000" dirty="0"/>
          </a:p>
        </p:txBody>
      </p:sp>
      <p:sp>
        <p:nvSpPr>
          <p:cNvPr id="77" name="Text 65"/>
          <p:cNvSpPr txBox="1"/>
          <p:nvPr/>
        </p:nvSpPr>
        <p:spPr>
          <a:xfrm>
            <a:off x="1930596" y="3291840"/>
            <a:ext cx="457200" cy="182880"/>
          </a:xfrm>
          <a:prstGeom prst="rect">
            <a:avLst/>
          </a:prstGeom>
          <a:noFill/>
          <a:ln/>
        </p:spPr>
        <p:txBody>
          <a:bodyPr wrap="square" lIns="0" tIns="0" rIns="0" bIns="0" rtlCol="0" anchor="ctr"/>
          <a:lstStyle/>
          <a:p>
            <a:pPr marL="0" indent="0" algn="ctr">
              <a:buNone/>
            </a:pPr>
            <a:r>
              <a:rPr lang="en-US" sz="900" b="1" dirty="0">
                <a:solidFill>
                  <a:srgbClr val="2F3747"/>
                </a:solidFill>
                <a:latin typeface="Century Gothic" pitchFamily="34" charset="0"/>
                <a:ea typeface="Century Gothic" pitchFamily="34" charset="-122"/>
                <a:cs typeface="Century Gothic" pitchFamily="34" charset="-120"/>
              </a:rPr>
              <a:t>GPRS</a:t>
            </a:r>
            <a:endParaRPr lang="en-US" sz="900" dirty="0"/>
          </a:p>
        </p:txBody>
      </p:sp>
      <p:sp>
        <p:nvSpPr>
          <p:cNvPr id="78" name="Shape 66"/>
          <p:cNvSpPr/>
          <p:nvPr/>
        </p:nvSpPr>
        <p:spPr>
          <a:xfrm>
            <a:off x="741876" y="6190488"/>
            <a:ext cx="457200" cy="0"/>
          </a:xfrm>
          <a:prstGeom prst="line">
            <a:avLst/>
          </a:prstGeom>
          <a:noFill/>
          <a:ln w="28575">
            <a:solidFill>
              <a:srgbClr val="23A04A"/>
            </a:solidFill>
            <a:prstDash val="solid"/>
          </a:ln>
        </p:spPr>
        <p:txBody>
          <a:bodyPr/>
          <a:lstStyle/>
          <a:p>
            <a:endParaRPr lang="en-US"/>
          </a:p>
        </p:txBody>
      </p:sp>
      <p:sp>
        <p:nvSpPr>
          <p:cNvPr id="79" name="Text 67"/>
          <p:cNvSpPr txBox="1"/>
          <p:nvPr/>
        </p:nvSpPr>
        <p:spPr>
          <a:xfrm>
            <a:off x="1290516" y="6089904"/>
            <a:ext cx="1325880"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Etisalat physical link</a:t>
            </a:r>
            <a:endParaRPr lang="en-US" sz="1000" dirty="0"/>
          </a:p>
        </p:txBody>
      </p:sp>
      <p:sp>
        <p:nvSpPr>
          <p:cNvPr id="80" name="Shape 68"/>
          <p:cNvSpPr/>
          <p:nvPr/>
        </p:nvSpPr>
        <p:spPr>
          <a:xfrm>
            <a:off x="2890716" y="6190488"/>
            <a:ext cx="457200" cy="0"/>
          </a:xfrm>
          <a:prstGeom prst="line">
            <a:avLst/>
          </a:prstGeom>
          <a:noFill/>
          <a:ln w="25400">
            <a:solidFill>
              <a:srgbClr val="23A04A"/>
            </a:solidFill>
            <a:prstDash val="sysDot"/>
          </a:ln>
        </p:spPr>
        <p:txBody>
          <a:bodyPr/>
          <a:lstStyle/>
          <a:p>
            <a:endParaRPr lang="en-US"/>
          </a:p>
        </p:txBody>
      </p:sp>
      <p:sp>
        <p:nvSpPr>
          <p:cNvPr id="81" name="Text 69"/>
          <p:cNvSpPr txBox="1"/>
          <p:nvPr/>
        </p:nvSpPr>
        <p:spPr>
          <a:xfrm>
            <a:off x="3439356" y="6089904"/>
            <a:ext cx="1261872"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Etisalat GRE tunnel</a:t>
            </a:r>
            <a:endParaRPr lang="en-US" sz="1000" dirty="0"/>
          </a:p>
        </p:txBody>
      </p:sp>
      <p:sp>
        <p:nvSpPr>
          <p:cNvPr id="82" name="Shape 70"/>
          <p:cNvSpPr/>
          <p:nvPr/>
        </p:nvSpPr>
        <p:spPr>
          <a:xfrm>
            <a:off x="4975548" y="6190488"/>
            <a:ext cx="457200" cy="0"/>
          </a:xfrm>
          <a:prstGeom prst="line">
            <a:avLst/>
          </a:prstGeom>
          <a:noFill/>
          <a:ln w="28575">
            <a:solidFill>
              <a:srgbClr val="1E73E8"/>
            </a:solidFill>
            <a:prstDash val="solid"/>
          </a:ln>
        </p:spPr>
        <p:txBody>
          <a:bodyPr/>
          <a:lstStyle/>
          <a:p>
            <a:endParaRPr lang="en-US"/>
          </a:p>
        </p:txBody>
      </p:sp>
      <p:sp>
        <p:nvSpPr>
          <p:cNvPr id="83" name="Text 71"/>
          <p:cNvSpPr txBox="1"/>
          <p:nvPr/>
        </p:nvSpPr>
        <p:spPr>
          <a:xfrm>
            <a:off x="5524188" y="6089904"/>
            <a:ext cx="1234440"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Du physical link</a:t>
            </a:r>
            <a:endParaRPr lang="en-US" sz="1000" dirty="0"/>
          </a:p>
        </p:txBody>
      </p:sp>
      <p:sp>
        <p:nvSpPr>
          <p:cNvPr id="84" name="Shape 72"/>
          <p:cNvSpPr/>
          <p:nvPr/>
        </p:nvSpPr>
        <p:spPr>
          <a:xfrm>
            <a:off x="6786060" y="6190488"/>
            <a:ext cx="457200" cy="0"/>
          </a:xfrm>
          <a:prstGeom prst="line">
            <a:avLst/>
          </a:prstGeom>
          <a:noFill/>
          <a:ln w="25400">
            <a:solidFill>
              <a:srgbClr val="1E73E8"/>
            </a:solidFill>
            <a:prstDash val="sysDot"/>
          </a:ln>
        </p:spPr>
        <p:txBody>
          <a:bodyPr/>
          <a:lstStyle/>
          <a:p>
            <a:endParaRPr lang="en-US"/>
          </a:p>
        </p:txBody>
      </p:sp>
      <p:sp>
        <p:nvSpPr>
          <p:cNvPr id="85" name="Text 73"/>
          <p:cNvSpPr txBox="1"/>
          <p:nvPr/>
        </p:nvSpPr>
        <p:spPr>
          <a:xfrm>
            <a:off x="7334700" y="6089904"/>
            <a:ext cx="932688"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Du GRE tunnel</a:t>
            </a:r>
            <a:endParaRPr lang="en-US" sz="1000" dirty="0"/>
          </a:p>
        </p:txBody>
      </p:sp>
      <p:sp>
        <p:nvSpPr>
          <p:cNvPr id="86" name="Shape 74"/>
          <p:cNvSpPr/>
          <p:nvPr/>
        </p:nvSpPr>
        <p:spPr>
          <a:xfrm>
            <a:off x="8541708" y="6190488"/>
            <a:ext cx="457200" cy="0"/>
          </a:xfrm>
          <a:prstGeom prst="line">
            <a:avLst/>
          </a:prstGeom>
          <a:noFill/>
          <a:ln w="50800">
            <a:solidFill>
              <a:srgbClr val="2F3747"/>
            </a:solidFill>
            <a:prstDash val="solid"/>
          </a:ln>
        </p:spPr>
        <p:txBody>
          <a:bodyPr/>
          <a:lstStyle/>
          <a:p>
            <a:endParaRPr lang="en-US"/>
          </a:p>
        </p:txBody>
      </p:sp>
      <p:sp>
        <p:nvSpPr>
          <p:cNvPr id="87" name="Text 75"/>
          <p:cNvSpPr txBox="1"/>
          <p:nvPr/>
        </p:nvSpPr>
        <p:spPr>
          <a:xfrm>
            <a:off x="9090348" y="6089904"/>
            <a:ext cx="896112"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Inter-DC link</a:t>
            </a:r>
            <a:endParaRPr lang="en-US" sz="1000" dirty="0"/>
          </a:p>
        </p:txBody>
      </p:sp>
      <p:sp>
        <p:nvSpPr>
          <p:cNvPr id="88" name="Shape 76"/>
          <p:cNvSpPr/>
          <p:nvPr/>
        </p:nvSpPr>
        <p:spPr>
          <a:xfrm>
            <a:off x="10242492" y="6099048"/>
            <a:ext cx="493776" cy="182880"/>
          </a:xfrm>
          <a:custGeom>
            <a:avLst/>
            <a:gdLst/>
            <a:ahLst/>
            <a:cxnLst/>
            <a:rect l="l" t="t" r="r" b="b"/>
            <a:pathLst>
              <a:path w="493776" h="182880">
                <a:moveTo>
                  <a:pt x="18288" y="91440"/>
                </a:moveTo>
                <a:lnTo>
                  <a:pt x="173736" y="91440"/>
                </a:lnTo>
                <a:lnTo>
                  <a:pt x="301752" y="18288"/>
                </a:lnTo>
                <a:lnTo>
                  <a:pt x="192024" y="164592"/>
                </a:lnTo>
                <a:lnTo>
                  <a:pt x="320040" y="91440"/>
                </a:lnTo>
                <a:lnTo>
                  <a:pt x="475488" y="91440"/>
                </a:lnTo>
              </a:path>
            </a:pathLst>
          </a:custGeom>
          <a:noFill/>
          <a:ln w="22225">
            <a:solidFill>
              <a:srgbClr val="2F3747"/>
            </a:solidFill>
            <a:prstDash val="solid"/>
          </a:ln>
        </p:spPr>
        <p:txBody>
          <a:bodyPr/>
          <a:lstStyle/>
          <a:p>
            <a:endParaRPr lang="en-US"/>
          </a:p>
        </p:txBody>
      </p:sp>
      <p:sp>
        <p:nvSpPr>
          <p:cNvPr id="89" name="Text 77"/>
          <p:cNvSpPr txBox="1"/>
          <p:nvPr/>
        </p:nvSpPr>
        <p:spPr>
          <a:xfrm>
            <a:off x="10809420" y="6089904"/>
            <a:ext cx="1024128"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GPRS radio link</a:t>
            </a:r>
            <a:endParaRPr lang="en-US" sz="1000" dirty="0"/>
          </a:p>
        </p:txBody>
      </p:sp>
      <p:pic>
        <p:nvPicPr>
          <p:cNvPr id="101" name="Graphic 100" descr="Badge Cross with solid fill">
            <a:extLst>
              <a:ext uri="{FF2B5EF4-FFF2-40B4-BE49-F238E27FC236}">
                <a16:creationId xmlns:a16="http://schemas.microsoft.com/office/drawing/2014/main" id="{551D7617-177F-3616-9198-D20AC8C08BC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42404" y="3723323"/>
            <a:ext cx="530611" cy="530611"/>
          </a:xfrm>
          <a:prstGeom prst="rect">
            <a:avLst/>
          </a:prstGeom>
        </p:spPr>
      </p:pic>
      <p:sp>
        <p:nvSpPr>
          <p:cNvPr id="103" name="Text 62">
            <a:extLst>
              <a:ext uri="{FF2B5EF4-FFF2-40B4-BE49-F238E27FC236}">
                <a16:creationId xmlns:a16="http://schemas.microsoft.com/office/drawing/2014/main" id="{AFB371BC-545E-8134-B7D2-5258AE5394A1}"/>
              </a:ext>
            </a:extLst>
          </p:cNvPr>
          <p:cNvSpPr txBox="1"/>
          <p:nvPr/>
        </p:nvSpPr>
        <p:spPr>
          <a:xfrm>
            <a:off x="9573768" y="5632704"/>
            <a:ext cx="2258568" cy="411480"/>
          </a:xfrm>
          <a:prstGeom prst="rect">
            <a:avLst/>
          </a:prstGeom>
          <a:noFill/>
          <a:ln>
            <a:solidFill>
              <a:srgbClr val="C00000"/>
            </a:solidFill>
          </a:ln>
        </p:spPr>
        <p:txBody>
          <a:bodyPr wrap="square" lIns="0" tIns="0" rIns="0" bIns="0" rtlCol="0" anchor="ctr"/>
          <a:lstStyle/>
          <a:p>
            <a:pPr marL="0" indent="0" algn="ctr">
              <a:buNone/>
            </a:pPr>
            <a:r>
              <a:rPr lang="en-US" sz="900" b="1" dirty="0">
                <a:solidFill>
                  <a:srgbClr val="FF0000"/>
                </a:solidFill>
                <a:latin typeface="Century Gothic" pitchFamily="34" charset="0"/>
              </a:rPr>
              <a:t>Etisalat link on DR is not available now</a:t>
            </a:r>
          </a:p>
          <a:p>
            <a:pPr marL="0" indent="0" algn="ctr">
              <a:buNone/>
            </a:pPr>
            <a:r>
              <a:rPr lang="en-US" sz="900" b="1" dirty="0">
                <a:solidFill>
                  <a:srgbClr val="FF0000"/>
                </a:solidFill>
                <a:latin typeface="Century Gothic" pitchFamily="34" charset="0"/>
              </a:rPr>
              <a:t>Expected link delivery 7</a:t>
            </a:r>
            <a:r>
              <a:rPr lang="en-US" sz="900" b="1" baseline="30000" dirty="0">
                <a:solidFill>
                  <a:srgbClr val="FF0000"/>
                </a:solidFill>
                <a:latin typeface="Century Gothic" pitchFamily="34" charset="0"/>
              </a:rPr>
              <a:t>th</a:t>
            </a:r>
            <a:r>
              <a:rPr lang="en-US" sz="900" b="1" dirty="0">
                <a:solidFill>
                  <a:srgbClr val="FF0000"/>
                </a:solidFill>
                <a:latin typeface="Century Gothic" pitchFamily="34" charset="0"/>
              </a:rPr>
              <a:t> Oct</a:t>
            </a:r>
            <a:endParaRPr lang="en-US" sz="900" b="1" dirty="0">
              <a:solidFill>
                <a:srgbClr val="FF0000"/>
              </a:solidFill>
            </a:endParaRPr>
          </a:p>
        </p:txBody>
      </p:sp>
      <p:sp>
        <p:nvSpPr>
          <p:cNvPr id="105" name="Freeform: Shape 104">
            <a:extLst>
              <a:ext uri="{FF2B5EF4-FFF2-40B4-BE49-F238E27FC236}">
                <a16:creationId xmlns:a16="http://schemas.microsoft.com/office/drawing/2014/main" id="{EDBB91E3-2A3D-89DF-B12C-B43EE3F88B80}"/>
              </a:ext>
            </a:extLst>
          </p:cNvPr>
          <p:cNvSpPr/>
          <p:nvPr/>
        </p:nvSpPr>
        <p:spPr>
          <a:xfrm>
            <a:off x="9199882" y="4201065"/>
            <a:ext cx="401321" cy="1345720"/>
          </a:xfrm>
          <a:custGeom>
            <a:avLst/>
            <a:gdLst>
              <a:gd name="csX0" fmla="*/ 13133 w 401321"/>
              <a:gd name="csY0" fmla="*/ 0 h 1345720"/>
              <a:gd name="csX1" fmla="*/ 47638 w 401321"/>
              <a:gd name="csY1" fmla="*/ 940279 h 1345720"/>
              <a:gd name="csX2" fmla="*/ 401321 w 401321"/>
              <a:gd name="csY2" fmla="*/ 1345720 h 1345720"/>
            </a:gdLst>
            <a:ahLst/>
            <a:cxnLst>
              <a:cxn ang="0">
                <a:pos x="csX0" y="csY0"/>
              </a:cxn>
              <a:cxn ang="0">
                <a:pos x="csX1" y="csY1"/>
              </a:cxn>
              <a:cxn ang="0">
                <a:pos x="csX2" y="csY2"/>
              </a:cxn>
            </a:cxnLst>
            <a:rect l="l" t="t" r="r" b="b"/>
            <a:pathLst>
              <a:path w="401321" h="1345720">
                <a:moveTo>
                  <a:pt x="13133" y="0"/>
                </a:moveTo>
                <a:cubicBezTo>
                  <a:pt x="-1964" y="357996"/>
                  <a:pt x="-17060" y="715992"/>
                  <a:pt x="47638" y="940279"/>
                </a:cubicBezTo>
                <a:cubicBezTo>
                  <a:pt x="112336" y="1164566"/>
                  <a:pt x="375442" y="1164565"/>
                  <a:pt x="401321" y="1345720"/>
                </a:cubicBezTo>
              </a:path>
            </a:pathLst>
          </a:custGeom>
          <a:noFill/>
          <a:ln>
            <a:solidFill>
              <a:srgbClr val="C00000"/>
            </a:solidFill>
            <a:headEnd type="oval"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 60">
            <a:extLst>
              <a:ext uri="{FF2B5EF4-FFF2-40B4-BE49-F238E27FC236}">
                <a16:creationId xmlns:a16="http://schemas.microsoft.com/office/drawing/2014/main" id="{C4F810B5-8845-FD2B-092A-5E3C434D5A77}"/>
              </a:ext>
            </a:extLst>
          </p:cNvPr>
          <p:cNvSpPr txBox="1"/>
          <p:nvPr/>
        </p:nvSpPr>
        <p:spPr>
          <a:xfrm>
            <a:off x="201659" y="2330975"/>
            <a:ext cx="2103120" cy="182880"/>
          </a:xfrm>
          <a:prstGeom prst="rect">
            <a:avLst/>
          </a:prstGeom>
          <a:noFill/>
          <a:ln/>
        </p:spPr>
        <p:txBody>
          <a:bodyPr wrap="square" lIns="0" tIns="0" rIns="0" bIns="0" rtlCol="0" anchor="ctr"/>
          <a:lstStyle/>
          <a:p>
            <a:pPr marL="0" indent="0" algn="ctr">
              <a:buNone/>
            </a:pPr>
            <a:endParaRPr lang="en-US" sz="900" dirty="0"/>
          </a:p>
        </p:txBody>
      </p:sp>
      <p:graphicFrame>
        <p:nvGraphicFramePr>
          <p:cNvPr id="112" name="Table 111">
            <a:extLst>
              <a:ext uri="{FF2B5EF4-FFF2-40B4-BE49-F238E27FC236}">
                <a16:creationId xmlns:a16="http://schemas.microsoft.com/office/drawing/2014/main" id="{66301D55-E4C9-6936-C67D-801765F4C673}"/>
              </a:ext>
            </a:extLst>
          </p:cNvPr>
          <p:cNvGraphicFramePr>
            <a:graphicFrameLocks noGrp="1"/>
          </p:cNvGraphicFramePr>
          <p:nvPr>
            <p:extLst>
              <p:ext uri="{D42A27DB-BD31-4B8C-83A1-F6EECF244321}">
                <p14:modId xmlns:p14="http://schemas.microsoft.com/office/powerpoint/2010/main" val="4217602407"/>
              </p:ext>
            </p:extLst>
          </p:nvPr>
        </p:nvGraphicFramePr>
        <p:xfrm>
          <a:off x="91440" y="1517904"/>
          <a:ext cx="2061972" cy="1266825"/>
        </p:xfrm>
        <a:graphic>
          <a:graphicData uri="http://schemas.openxmlformats.org/drawingml/2006/table">
            <a:tbl>
              <a:tblPr>
                <a:tableStyleId>{5C22544A-7EE6-4342-B048-85BDC9FD1C3A}</a:tableStyleId>
              </a:tblPr>
              <a:tblGrid>
                <a:gridCol w="915740">
                  <a:extLst>
                    <a:ext uri="{9D8B030D-6E8A-4147-A177-3AD203B41FA5}">
                      <a16:colId xmlns:a16="http://schemas.microsoft.com/office/drawing/2014/main" val="4232175431"/>
                    </a:ext>
                  </a:extLst>
                </a:gridCol>
                <a:gridCol w="573116">
                  <a:extLst>
                    <a:ext uri="{9D8B030D-6E8A-4147-A177-3AD203B41FA5}">
                      <a16:colId xmlns:a16="http://schemas.microsoft.com/office/drawing/2014/main" val="3944545850"/>
                    </a:ext>
                  </a:extLst>
                </a:gridCol>
                <a:gridCol w="573116">
                  <a:extLst>
                    <a:ext uri="{9D8B030D-6E8A-4147-A177-3AD203B41FA5}">
                      <a16:colId xmlns:a16="http://schemas.microsoft.com/office/drawing/2014/main" val="287423754"/>
                    </a:ext>
                  </a:extLst>
                </a:gridCol>
              </a:tblGrid>
              <a:tr h="114523">
                <a:tc gridSpan="3">
                  <a:txBody>
                    <a:bodyPr/>
                    <a:lstStyle/>
                    <a:p>
                      <a:pPr algn="ctr" fontAlgn="ctr">
                        <a:buNone/>
                      </a:pPr>
                      <a:r>
                        <a:rPr lang="en-US" sz="800" b="1" u="none" strike="noStrike" dirty="0">
                          <a:effectLst/>
                        </a:rPr>
                        <a:t>Transaction Latency</a:t>
                      </a:r>
                      <a:endParaRPr lang="en-US" sz="800" b="1" i="0" u="none" strike="noStrike" dirty="0">
                        <a:solidFill>
                          <a:srgbClr val="000000"/>
                        </a:solidFill>
                        <a:effectLst/>
                        <a:latin typeface="Aptos Narrow" panose="020B000402020202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21721163"/>
                  </a:ext>
                </a:extLst>
              </a:tr>
              <a:tr h="114523">
                <a:tc>
                  <a:txBody>
                    <a:bodyPr/>
                    <a:lstStyle/>
                    <a:p>
                      <a:pPr algn="ctr" fontAlgn="ctr">
                        <a:buNone/>
                      </a:pPr>
                      <a:r>
                        <a:rPr lang="en-US" sz="800" b="1" u="none" strike="noStrike" dirty="0">
                          <a:effectLst/>
                        </a:rPr>
                        <a:t>Environment</a:t>
                      </a:r>
                      <a:endParaRPr lang="en-US" sz="8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800" b="1" u="none" strike="noStrike" dirty="0">
                          <a:effectLst/>
                        </a:rPr>
                        <a:t>du</a:t>
                      </a:r>
                      <a:endParaRPr lang="en-US" sz="8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800" b="1" u="none" strike="noStrike" dirty="0">
                          <a:effectLst/>
                        </a:rPr>
                        <a:t>e&amp;</a:t>
                      </a:r>
                      <a:endParaRPr lang="en-US" sz="800" b="1"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331452701"/>
                  </a:ext>
                </a:extLst>
              </a:tr>
              <a:tr h="326971">
                <a:tc>
                  <a:txBody>
                    <a:bodyPr/>
                    <a:lstStyle/>
                    <a:p>
                      <a:pPr algn="l" fontAlgn="ctr">
                        <a:buNone/>
                      </a:pPr>
                      <a:r>
                        <a:rPr lang="en-US" sz="800" u="none" strike="noStrike">
                          <a:effectLst/>
                        </a:rPr>
                        <a:t>Mashreq Production</a:t>
                      </a:r>
                      <a:endParaRPr lang="en-US" sz="8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800" u="none" strike="noStrike" dirty="0">
                          <a:effectLst/>
                        </a:rPr>
                        <a:t>Avg. 4 S 42 </a:t>
                      </a:r>
                      <a:r>
                        <a:rPr lang="en-US" sz="800" u="none" strike="noStrike" dirty="0" err="1">
                          <a:effectLst/>
                        </a:rPr>
                        <a:t>ms</a:t>
                      </a:r>
                      <a:r>
                        <a:rPr lang="en-US" sz="800" u="none" strike="noStrike" dirty="0">
                          <a:effectLst/>
                        </a:rPr>
                        <a:t>  to 5 S 17 </a:t>
                      </a:r>
                      <a:r>
                        <a:rPr lang="en-US" sz="800" u="none" strike="noStrike" dirty="0" err="1">
                          <a:effectLst/>
                        </a:rPr>
                        <a:t>ms</a:t>
                      </a:r>
                      <a:endParaRPr lang="en-US" sz="8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800" u="none" strike="noStrike">
                          <a:effectLst/>
                        </a:rPr>
                        <a:t>Avg. 2 S 51 ms to 3 S 37 ms</a:t>
                      </a:r>
                      <a:endParaRPr lang="en-US" sz="8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199407218"/>
                  </a:ext>
                </a:extLst>
              </a:tr>
              <a:tr h="326971">
                <a:tc>
                  <a:txBody>
                    <a:bodyPr/>
                    <a:lstStyle/>
                    <a:p>
                      <a:pPr algn="l" fontAlgn="ctr">
                        <a:buNone/>
                      </a:pPr>
                      <a:r>
                        <a:rPr lang="en-US" sz="800" u="none" strike="noStrike">
                          <a:effectLst/>
                        </a:rPr>
                        <a:t>Neopay pilot Production</a:t>
                      </a:r>
                      <a:endParaRPr lang="en-US" sz="8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800" u="none" strike="noStrike" dirty="0">
                          <a:effectLst/>
                        </a:rPr>
                        <a:t>Avg. 4 S 62 </a:t>
                      </a:r>
                      <a:r>
                        <a:rPr lang="en-US" sz="800" u="none" strike="noStrike" dirty="0" err="1">
                          <a:effectLst/>
                        </a:rPr>
                        <a:t>ms</a:t>
                      </a:r>
                      <a:r>
                        <a:rPr lang="en-US" sz="800" u="none" strike="noStrike" dirty="0">
                          <a:effectLst/>
                        </a:rPr>
                        <a:t>  to 5 S 43 </a:t>
                      </a:r>
                      <a:r>
                        <a:rPr lang="en-US" sz="800" u="none" strike="noStrike" dirty="0" err="1">
                          <a:effectLst/>
                        </a:rPr>
                        <a:t>ms</a:t>
                      </a:r>
                      <a:endParaRPr lang="en-US" sz="8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800" u="none" strike="noStrike" dirty="0">
                          <a:effectLst/>
                        </a:rPr>
                        <a:t>Avg. 2 S 65 </a:t>
                      </a:r>
                      <a:r>
                        <a:rPr lang="en-US" sz="800" u="none" strike="noStrike" dirty="0" err="1">
                          <a:effectLst/>
                        </a:rPr>
                        <a:t>ms</a:t>
                      </a:r>
                      <a:r>
                        <a:rPr lang="en-US" sz="800" u="none" strike="noStrike" dirty="0">
                          <a:effectLst/>
                        </a:rPr>
                        <a:t> to 3 S 59 </a:t>
                      </a:r>
                      <a:r>
                        <a:rPr lang="en-US" sz="800" u="none" strike="noStrike" dirty="0" err="1">
                          <a:effectLst/>
                        </a:rPr>
                        <a:t>ms</a:t>
                      </a:r>
                      <a:endParaRPr lang="en-US" sz="8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31357850"/>
                  </a:ext>
                </a:extLst>
              </a:tr>
              <a:tr h="114523">
                <a:tc>
                  <a:txBody>
                    <a:bodyPr/>
                    <a:lstStyle/>
                    <a:p>
                      <a:pPr algn="l" fontAlgn="b">
                        <a:buNone/>
                      </a:pPr>
                      <a:r>
                        <a:rPr lang="en-US" sz="800" b="1" u="none" strike="noStrike" dirty="0">
                          <a:solidFill>
                            <a:srgbClr val="FF0000"/>
                          </a:solidFill>
                          <a:effectLst/>
                        </a:rPr>
                        <a:t>Increased Latency </a:t>
                      </a:r>
                      <a:endParaRPr lang="en-US" sz="800" b="1" i="0" u="none" strike="noStrike" dirty="0">
                        <a:solidFill>
                          <a:srgbClr val="FF0000"/>
                        </a:solidFill>
                        <a:effectLst/>
                        <a:latin typeface="Aptos Narrow" panose="020B0004020202020204" pitchFamily="34" charset="0"/>
                      </a:endParaRPr>
                    </a:p>
                  </a:txBody>
                  <a:tcPr marL="9525" marR="9525" marT="9525" marB="0" anchor="b"/>
                </a:tc>
                <a:tc>
                  <a:txBody>
                    <a:bodyPr/>
                    <a:lstStyle/>
                    <a:p>
                      <a:pPr algn="l" fontAlgn="ctr">
                        <a:buNone/>
                      </a:pPr>
                      <a:r>
                        <a:rPr lang="en-US" sz="800" b="1" u="none" strike="noStrike" dirty="0">
                          <a:solidFill>
                            <a:srgbClr val="FF0000"/>
                          </a:solidFill>
                          <a:effectLst/>
                        </a:rPr>
                        <a:t>20-26 </a:t>
                      </a:r>
                      <a:r>
                        <a:rPr lang="en-US" sz="800" b="1" u="none" strike="noStrike" dirty="0" err="1">
                          <a:solidFill>
                            <a:srgbClr val="FF0000"/>
                          </a:solidFill>
                          <a:effectLst/>
                        </a:rPr>
                        <a:t>ms</a:t>
                      </a:r>
                      <a:endParaRPr lang="en-US" sz="800" b="1" i="0" u="none" strike="noStrike" dirty="0">
                        <a:solidFill>
                          <a:srgbClr val="FF0000"/>
                        </a:solidFill>
                        <a:effectLst/>
                        <a:latin typeface="Aptos Narrow" panose="020B0004020202020204" pitchFamily="34" charset="0"/>
                      </a:endParaRPr>
                    </a:p>
                  </a:txBody>
                  <a:tcPr marL="9525" marR="9525" marT="9525" marB="0" anchor="ctr"/>
                </a:tc>
                <a:tc>
                  <a:txBody>
                    <a:bodyPr/>
                    <a:lstStyle/>
                    <a:p>
                      <a:pPr algn="l" fontAlgn="ctr">
                        <a:buNone/>
                      </a:pPr>
                      <a:r>
                        <a:rPr lang="en-US" sz="800" b="1" u="none" strike="noStrike" dirty="0">
                          <a:solidFill>
                            <a:srgbClr val="FF0000"/>
                          </a:solidFill>
                          <a:effectLst/>
                        </a:rPr>
                        <a:t>14-27 </a:t>
                      </a:r>
                      <a:r>
                        <a:rPr lang="en-US" sz="800" b="1" u="none" strike="noStrike" dirty="0" err="1">
                          <a:solidFill>
                            <a:srgbClr val="FF0000"/>
                          </a:solidFill>
                          <a:effectLst/>
                        </a:rPr>
                        <a:t>ms</a:t>
                      </a:r>
                      <a:endParaRPr lang="en-US" sz="800" b="1" i="0" u="none" strike="noStrike" dirty="0">
                        <a:solidFill>
                          <a:srgbClr val="FF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347054468"/>
                  </a:ext>
                </a:extLst>
              </a:tr>
            </a:tbl>
          </a:graphicData>
        </a:graphic>
      </p:graphicFrame>
      <p:pic>
        <p:nvPicPr>
          <p:cNvPr id="91" name="Image 0" descr="/mnt/user-data/uploads/MASHREQ-NEO_PAY_LOGO-V2-2023-ENG-RGB-01.png">
            <a:extLst>
              <a:ext uri="{FF2B5EF4-FFF2-40B4-BE49-F238E27FC236}">
                <a16:creationId xmlns:a16="http://schemas.microsoft.com/office/drawing/2014/main" id="{0BDBF320-FF1E-9544-5C1D-E8FDEFE31C70}"/>
              </a:ext>
            </a:extLst>
          </p:cNvPr>
          <p:cNvPicPr>
            <a:picLocks noChangeAspect="1"/>
          </p:cNvPicPr>
          <p:nvPr/>
        </p:nvPicPr>
        <p:blipFill>
          <a:blip r:embed="rId3"/>
          <a:stretch>
            <a:fillRect/>
          </a:stretch>
        </p:blipFill>
        <p:spPr>
          <a:xfrm>
            <a:off x="9927843" y="2035087"/>
            <a:ext cx="512631" cy="79472"/>
          </a:xfrm>
          <a:prstGeom prst="rect">
            <a:avLst/>
          </a:prstGeom>
        </p:spPr>
      </p:pic>
      <p:pic>
        <p:nvPicPr>
          <p:cNvPr id="94" name="Image 0" descr="/mnt/user-data/uploads/MASHREQ-NEO_PAY_LOGO-V2-2023-ENG-RGB-01.png">
            <a:extLst>
              <a:ext uri="{FF2B5EF4-FFF2-40B4-BE49-F238E27FC236}">
                <a16:creationId xmlns:a16="http://schemas.microsoft.com/office/drawing/2014/main" id="{8DADD937-9EB0-5DB2-AE7A-9C9143C316B9}"/>
              </a:ext>
            </a:extLst>
          </p:cNvPr>
          <p:cNvPicPr>
            <a:picLocks noChangeAspect="1"/>
          </p:cNvPicPr>
          <p:nvPr/>
        </p:nvPicPr>
        <p:blipFill>
          <a:blip r:embed="rId3"/>
          <a:stretch>
            <a:fillRect/>
          </a:stretch>
        </p:blipFill>
        <p:spPr>
          <a:xfrm>
            <a:off x="9942224" y="4214689"/>
            <a:ext cx="512631" cy="79472"/>
          </a:xfrm>
          <a:prstGeom prst="rect">
            <a:avLst/>
          </a:prstGeom>
        </p:spPr>
      </p:pic>
      <p:pic>
        <p:nvPicPr>
          <p:cNvPr id="96" name="Picture 95" descr="Mashreqbank logo in transparent PNG and vectorized SVG formats">
            <a:extLst>
              <a:ext uri="{FF2B5EF4-FFF2-40B4-BE49-F238E27FC236}">
                <a16:creationId xmlns:a16="http://schemas.microsoft.com/office/drawing/2014/main" id="{449BFC94-945B-0A5C-88E3-BB90424A61A5}"/>
              </a:ext>
            </a:extLst>
          </p:cNvPr>
          <p:cNvPicPr>
            <a:picLocks noChangeAspect="1"/>
          </p:cNvPicPr>
          <p:nvPr/>
        </p:nvPicPr>
        <p:blipFill>
          <a:blip r:embed="rId10"/>
          <a:stretch>
            <a:fillRect/>
          </a:stretch>
        </p:blipFill>
        <p:spPr>
          <a:xfrm>
            <a:off x="4130729" y="1745128"/>
            <a:ext cx="683797" cy="328647"/>
          </a:xfrm>
          <a:prstGeom prst="rect">
            <a:avLst/>
          </a:prstGeom>
        </p:spPr>
      </p:pic>
      <p:pic>
        <p:nvPicPr>
          <p:cNvPr id="100" name="Picture 99" descr="Mashreqbank logo in transparent PNG and vectorized SVG formats">
            <a:extLst>
              <a:ext uri="{FF2B5EF4-FFF2-40B4-BE49-F238E27FC236}">
                <a16:creationId xmlns:a16="http://schemas.microsoft.com/office/drawing/2014/main" id="{BFA7E65B-8439-C60A-8202-170E5E545839}"/>
              </a:ext>
            </a:extLst>
          </p:cNvPr>
          <p:cNvPicPr>
            <a:picLocks noChangeAspect="1"/>
          </p:cNvPicPr>
          <p:nvPr/>
        </p:nvPicPr>
        <p:blipFill>
          <a:blip r:embed="rId10"/>
          <a:stretch>
            <a:fillRect/>
          </a:stretch>
        </p:blipFill>
        <p:spPr>
          <a:xfrm>
            <a:off x="4291751" y="3872418"/>
            <a:ext cx="683797" cy="328647"/>
          </a:xfrm>
          <a:prstGeom prst="rect">
            <a:avLst/>
          </a:prstGeom>
        </p:spPr>
      </p:pic>
      <p:sp>
        <p:nvSpPr>
          <p:cNvPr id="107" name="Text 64">
            <a:extLst>
              <a:ext uri="{FF2B5EF4-FFF2-40B4-BE49-F238E27FC236}">
                <a16:creationId xmlns:a16="http://schemas.microsoft.com/office/drawing/2014/main" id="{CD6F4F2F-B0CB-D294-D49D-F4F4955CF60E}"/>
              </a:ext>
            </a:extLst>
          </p:cNvPr>
          <p:cNvSpPr txBox="1"/>
          <p:nvPr/>
        </p:nvSpPr>
        <p:spPr>
          <a:xfrm>
            <a:off x="9793224" y="3227832"/>
            <a:ext cx="2221992" cy="182880"/>
          </a:xfrm>
          <a:prstGeom prst="rect">
            <a:avLst/>
          </a:prstGeom>
          <a:noFill/>
          <a:ln/>
        </p:spPr>
        <p:txBody>
          <a:bodyPr wrap="square" lIns="0" tIns="0" rIns="0" bIns="0" rtlCol="0" anchor="ctr"/>
          <a:lstStyle/>
          <a:p>
            <a:pPr marL="0" indent="0" algn="ctr">
              <a:buNone/>
            </a:pPr>
            <a:r>
              <a:rPr lang="en-US" sz="600" dirty="0">
                <a:solidFill>
                  <a:srgbClr val="00B050"/>
                </a:solidFill>
                <a:latin typeface="Century Gothic" pitchFamily="34" charset="0"/>
                <a:ea typeface="Century Gothic" pitchFamily="34" charset="-122"/>
                <a:cs typeface="Century Gothic" pitchFamily="34" charset="-120"/>
              </a:rPr>
              <a:t>Server Live from 7</a:t>
            </a:r>
            <a:r>
              <a:rPr lang="en-US" sz="600" baseline="30000" dirty="0">
                <a:solidFill>
                  <a:srgbClr val="00B050"/>
                </a:solidFill>
                <a:latin typeface="Century Gothic" pitchFamily="34" charset="0"/>
                <a:ea typeface="Century Gothic" pitchFamily="34" charset="-122"/>
                <a:cs typeface="Century Gothic" pitchFamily="34" charset="-120"/>
              </a:rPr>
              <a:t>th</a:t>
            </a:r>
            <a:r>
              <a:rPr lang="en-US" sz="600" dirty="0">
                <a:solidFill>
                  <a:srgbClr val="00B050"/>
                </a:solidFill>
                <a:latin typeface="Century Gothic" pitchFamily="34" charset="0"/>
                <a:ea typeface="Century Gothic" pitchFamily="34" charset="-122"/>
                <a:cs typeface="Century Gothic" pitchFamily="34" charset="-120"/>
              </a:rPr>
              <a:t> Sep</a:t>
            </a:r>
            <a:endParaRPr lang="en-US" sz="600" dirty="0">
              <a:solidFill>
                <a:srgbClr val="00B050"/>
              </a:solidFill>
            </a:endParaRPr>
          </a:p>
        </p:txBody>
      </p:sp>
      <p:sp>
        <p:nvSpPr>
          <p:cNvPr id="109" name="Text 64">
            <a:extLst>
              <a:ext uri="{FF2B5EF4-FFF2-40B4-BE49-F238E27FC236}">
                <a16:creationId xmlns:a16="http://schemas.microsoft.com/office/drawing/2014/main" id="{F534C82E-04C1-9B14-E345-C1AD4E4331E4}"/>
              </a:ext>
            </a:extLst>
          </p:cNvPr>
          <p:cNvSpPr txBox="1"/>
          <p:nvPr/>
        </p:nvSpPr>
        <p:spPr>
          <a:xfrm>
            <a:off x="9793224" y="5422392"/>
            <a:ext cx="2221992" cy="182880"/>
          </a:xfrm>
          <a:prstGeom prst="rect">
            <a:avLst/>
          </a:prstGeom>
          <a:noFill/>
          <a:ln/>
        </p:spPr>
        <p:txBody>
          <a:bodyPr wrap="square" lIns="0" tIns="0" rIns="0" bIns="0" rtlCol="0" anchor="ctr"/>
          <a:lstStyle/>
          <a:p>
            <a:pPr marL="0" indent="0" algn="ctr">
              <a:buNone/>
            </a:pPr>
            <a:r>
              <a:rPr lang="en-US" sz="600" dirty="0">
                <a:solidFill>
                  <a:srgbClr val="C00000"/>
                </a:solidFill>
                <a:latin typeface="Century Gothic" pitchFamily="34" charset="0"/>
                <a:ea typeface="Century Gothic" pitchFamily="34" charset="-122"/>
                <a:cs typeface="Century Gothic" pitchFamily="34" charset="-120"/>
              </a:rPr>
              <a:t>Server will be live on 8</a:t>
            </a:r>
            <a:r>
              <a:rPr lang="en-US" sz="600" baseline="30000" dirty="0">
                <a:solidFill>
                  <a:srgbClr val="C00000"/>
                </a:solidFill>
                <a:latin typeface="Century Gothic" pitchFamily="34" charset="0"/>
                <a:ea typeface="Century Gothic" pitchFamily="34" charset="-122"/>
                <a:cs typeface="Century Gothic" pitchFamily="34" charset="-120"/>
              </a:rPr>
              <a:t>th</a:t>
            </a:r>
            <a:r>
              <a:rPr lang="en-US" sz="600" dirty="0">
                <a:solidFill>
                  <a:srgbClr val="C00000"/>
                </a:solidFill>
                <a:latin typeface="Century Gothic" pitchFamily="34" charset="0"/>
                <a:ea typeface="Century Gothic" pitchFamily="34" charset="-122"/>
                <a:cs typeface="Century Gothic" pitchFamily="34" charset="-120"/>
              </a:rPr>
              <a:t> Oct </a:t>
            </a:r>
            <a:endParaRPr lang="en-US" sz="600" dirty="0">
              <a:solidFill>
                <a:srgbClr val="C00000"/>
              </a:solidFill>
            </a:endParaRPr>
          </a:p>
        </p:txBody>
      </p:sp>
      <p:sp>
        <p:nvSpPr>
          <p:cNvPr id="115" name="Shape 34">
            <a:extLst>
              <a:ext uri="{FF2B5EF4-FFF2-40B4-BE49-F238E27FC236}">
                <a16:creationId xmlns:a16="http://schemas.microsoft.com/office/drawing/2014/main" id="{B9BA5B89-52D9-18F7-4E5F-4E8B2C096311}"/>
              </a:ext>
            </a:extLst>
          </p:cNvPr>
          <p:cNvSpPr/>
          <p:nvPr/>
        </p:nvSpPr>
        <p:spPr>
          <a:xfrm>
            <a:off x="11499649" y="2003213"/>
            <a:ext cx="420624" cy="201168"/>
          </a:xfrm>
          <a:prstGeom prst="roundRect">
            <a:avLst>
              <a:gd name="adj" fmla="val 50000"/>
            </a:avLst>
          </a:prstGeom>
          <a:solidFill>
            <a:srgbClr val="4A5568"/>
          </a:solidFill>
          <a:ln/>
        </p:spPr>
        <p:txBody>
          <a:bodyPr/>
          <a:lstStyle/>
          <a:p>
            <a:endParaRPr lang="en-US"/>
          </a:p>
        </p:txBody>
      </p:sp>
      <p:sp>
        <p:nvSpPr>
          <p:cNvPr id="117" name="Text 35">
            <a:extLst>
              <a:ext uri="{FF2B5EF4-FFF2-40B4-BE49-F238E27FC236}">
                <a16:creationId xmlns:a16="http://schemas.microsoft.com/office/drawing/2014/main" id="{039C656B-3310-9CD3-9381-322DDA62EDE8}"/>
              </a:ext>
            </a:extLst>
          </p:cNvPr>
          <p:cNvSpPr txBox="1"/>
          <p:nvPr/>
        </p:nvSpPr>
        <p:spPr>
          <a:xfrm>
            <a:off x="11499649" y="2003213"/>
            <a:ext cx="420624"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entury Gothic" pitchFamily="34" charset="0"/>
                <a:ea typeface="Century Gothic" pitchFamily="34" charset="-122"/>
                <a:cs typeface="Century Gothic" pitchFamily="34" charset="-120"/>
              </a:rPr>
              <a:t>KDC</a:t>
            </a:r>
            <a:endParaRPr lang="en-US" sz="800" dirty="0"/>
          </a:p>
        </p:txBody>
      </p:sp>
      <p:sp>
        <p:nvSpPr>
          <p:cNvPr id="119" name="Shape 34">
            <a:extLst>
              <a:ext uri="{FF2B5EF4-FFF2-40B4-BE49-F238E27FC236}">
                <a16:creationId xmlns:a16="http://schemas.microsoft.com/office/drawing/2014/main" id="{40A96943-D62A-D619-FEFA-6991F9321A26}"/>
              </a:ext>
            </a:extLst>
          </p:cNvPr>
          <p:cNvSpPr/>
          <p:nvPr/>
        </p:nvSpPr>
        <p:spPr>
          <a:xfrm>
            <a:off x="11499649" y="4187952"/>
            <a:ext cx="420624" cy="201168"/>
          </a:xfrm>
          <a:prstGeom prst="roundRect">
            <a:avLst>
              <a:gd name="adj" fmla="val 50000"/>
            </a:avLst>
          </a:prstGeom>
          <a:solidFill>
            <a:srgbClr val="4A5568"/>
          </a:solidFill>
          <a:ln/>
        </p:spPr>
        <p:txBody>
          <a:bodyPr/>
          <a:lstStyle/>
          <a:p>
            <a:endParaRPr lang="en-US"/>
          </a:p>
        </p:txBody>
      </p:sp>
      <p:sp>
        <p:nvSpPr>
          <p:cNvPr id="121" name="Text 35">
            <a:extLst>
              <a:ext uri="{FF2B5EF4-FFF2-40B4-BE49-F238E27FC236}">
                <a16:creationId xmlns:a16="http://schemas.microsoft.com/office/drawing/2014/main" id="{84E2CAB1-A211-0685-A51C-71A7F5CE16AE}"/>
              </a:ext>
            </a:extLst>
          </p:cNvPr>
          <p:cNvSpPr txBox="1"/>
          <p:nvPr/>
        </p:nvSpPr>
        <p:spPr>
          <a:xfrm>
            <a:off x="11499649" y="4187952"/>
            <a:ext cx="420624"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entury Gothic" pitchFamily="34" charset="0"/>
                <a:ea typeface="Century Gothic" pitchFamily="34" charset="-122"/>
                <a:cs typeface="Century Gothic" pitchFamily="34" charset="-120"/>
              </a:rPr>
              <a:t>DXB</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A14762-464F-9C33-8C99-E2E67F581E01}"/>
            </a:ext>
          </a:extLst>
        </p:cNvPr>
        <p:cNvGrpSpPr/>
        <p:nvPr/>
      </p:nvGrpSpPr>
      <p:grpSpPr>
        <a:xfrm>
          <a:off x="0" y="0"/>
          <a:ext cx="0" cy="0"/>
          <a:chOff x="0" y="0"/>
          <a:chExt cx="0" cy="0"/>
        </a:xfrm>
      </p:grpSpPr>
      <p:sp>
        <p:nvSpPr>
          <p:cNvPr id="99" name="Shape 15">
            <a:extLst>
              <a:ext uri="{FF2B5EF4-FFF2-40B4-BE49-F238E27FC236}">
                <a16:creationId xmlns:a16="http://schemas.microsoft.com/office/drawing/2014/main" id="{0C8A8AD2-B704-2B6B-8BEA-3C44C584944C}"/>
              </a:ext>
            </a:extLst>
          </p:cNvPr>
          <p:cNvSpPr/>
          <p:nvPr/>
        </p:nvSpPr>
        <p:spPr>
          <a:xfrm>
            <a:off x="5468576" y="3145537"/>
            <a:ext cx="0" cy="1097280"/>
          </a:xfrm>
          <a:prstGeom prst="line">
            <a:avLst/>
          </a:prstGeom>
          <a:noFill/>
          <a:ln w="50800">
            <a:solidFill>
              <a:srgbClr val="2F3747"/>
            </a:solidFill>
            <a:prstDash val="solid"/>
          </a:ln>
        </p:spPr>
        <p:txBody>
          <a:bodyPr/>
          <a:lstStyle/>
          <a:p>
            <a:endParaRPr lang="en-US"/>
          </a:p>
        </p:txBody>
      </p:sp>
      <p:sp>
        <p:nvSpPr>
          <p:cNvPr id="97" name="Shape 16">
            <a:extLst>
              <a:ext uri="{FF2B5EF4-FFF2-40B4-BE49-F238E27FC236}">
                <a16:creationId xmlns:a16="http://schemas.microsoft.com/office/drawing/2014/main" id="{510EB7C4-DBF0-A39F-23FC-CE82C51EF525}"/>
              </a:ext>
            </a:extLst>
          </p:cNvPr>
          <p:cNvSpPr/>
          <p:nvPr/>
        </p:nvSpPr>
        <p:spPr>
          <a:xfrm>
            <a:off x="11019732" y="3108960"/>
            <a:ext cx="0" cy="1097280"/>
          </a:xfrm>
          <a:prstGeom prst="line">
            <a:avLst/>
          </a:prstGeom>
          <a:noFill/>
          <a:ln w="50800">
            <a:solidFill>
              <a:srgbClr val="2F3747"/>
            </a:solidFill>
            <a:prstDash val="solid"/>
          </a:ln>
        </p:spPr>
        <p:txBody>
          <a:bodyPr/>
          <a:lstStyle/>
          <a:p>
            <a:endParaRPr lang="en-US"/>
          </a:p>
        </p:txBody>
      </p:sp>
      <p:sp>
        <p:nvSpPr>
          <p:cNvPr id="95" name="Shape 6">
            <a:extLst>
              <a:ext uri="{FF2B5EF4-FFF2-40B4-BE49-F238E27FC236}">
                <a16:creationId xmlns:a16="http://schemas.microsoft.com/office/drawing/2014/main" id="{4052E53F-B79A-058B-F2AE-AF30A7AA6637}"/>
              </a:ext>
            </a:extLst>
          </p:cNvPr>
          <p:cNvSpPr/>
          <p:nvPr/>
        </p:nvSpPr>
        <p:spPr>
          <a:xfrm flipV="1">
            <a:off x="3115496" y="2666255"/>
            <a:ext cx="1590687" cy="2423905"/>
          </a:xfrm>
          <a:prstGeom prst="line">
            <a:avLst/>
          </a:prstGeom>
          <a:noFill/>
          <a:ln w="28575">
            <a:solidFill>
              <a:srgbClr val="1E73E8"/>
            </a:solidFill>
            <a:prstDash val="solid"/>
          </a:ln>
        </p:spPr>
        <p:txBody>
          <a:bodyPr/>
          <a:lstStyle/>
          <a:p>
            <a:endParaRPr lang="en-US"/>
          </a:p>
        </p:txBody>
      </p:sp>
      <p:sp>
        <p:nvSpPr>
          <p:cNvPr id="93" name="Shape 3">
            <a:extLst>
              <a:ext uri="{FF2B5EF4-FFF2-40B4-BE49-F238E27FC236}">
                <a16:creationId xmlns:a16="http://schemas.microsoft.com/office/drawing/2014/main" id="{A5076B1F-C9EC-1DD9-83FB-6581D4F77CA4}"/>
              </a:ext>
            </a:extLst>
          </p:cNvPr>
          <p:cNvSpPr/>
          <p:nvPr/>
        </p:nvSpPr>
        <p:spPr>
          <a:xfrm>
            <a:off x="3203136" y="2529840"/>
            <a:ext cx="1714500" cy="0"/>
          </a:xfrm>
          <a:prstGeom prst="line">
            <a:avLst/>
          </a:prstGeom>
          <a:noFill/>
          <a:ln w="28575">
            <a:solidFill>
              <a:srgbClr val="23A04A"/>
            </a:solidFill>
            <a:prstDash val="solid"/>
          </a:ln>
        </p:spPr>
        <p:txBody>
          <a:bodyPr/>
          <a:lstStyle/>
          <a:p>
            <a:endParaRPr lang="en-US"/>
          </a:p>
        </p:txBody>
      </p:sp>
      <p:sp>
        <p:nvSpPr>
          <p:cNvPr id="2" name="Text 0">
            <a:extLst>
              <a:ext uri="{FF2B5EF4-FFF2-40B4-BE49-F238E27FC236}">
                <a16:creationId xmlns:a16="http://schemas.microsoft.com/office/drawing/2014/main" id="{4DD3D1BD-3C8B-E68C-EAC9-3AF227D5DE0A}"/>
              </a:ext>
            </a:extLst>
          </p:cNvPr>
          <p:cNvSpPr txBox="1"/>
          <p:nvPr/>
        </p:nvSpPr>
        <p:spPr>
          <a:xfrm>
            <a:off x="457200" y="301752"/>
            <a:ext cx="5486400" cy="219456"/>
          </a:xfrm>
          <a:prstGeom prst="rect">
            <a:avLst/>
          </a:prstGeom>
          <a:noFill/>
          <a:ln/>
        </p:spPr>
        <p:txBody>
          <a:bodyPr wrap="square" lIns="0" tIns="0" rIns="0" bIns="0" rtlCol="0" anchor="ctr"/>
          <a:lstStyle/>
          <a:p>
            <a:pPr marL="0" indent="0">
              <a:buNone/>
            </a:pPr>
            <a:r>
              <a:rPr lang="en-US" sz="1100" b="1" kern="0" spc="300" dirty="0">
                <a:solidFill>
                  <a:srgbClr val="667085"/>
                </a:solidFill>
                <a:latin typeface="Century Gothic" pitchFamily="34" charset="0"/>
                <a:ea typeface="Century Gothic" pitchFamily="34" charset="-122"/>
                <a:cs typeface="Century Gothic" pitchFamily="34" charset="-120"/>
              </a:rPr>
              <a:t>WAN LINKS MIGRATION</a:t>
            </a:r>
            <a:endParaRPr lang="en-US" sz="1100" dirty="0"/>
          </a:p>
        </p:txBody>
      </p:sp>
      <p:sp>
        <p:nvSpPr>
          <p:cNvPr id="3" name="Text 1">
            <a:extLst>
              <a:ext uri="{FF2B5EF4-FFF2-40B4-BE49-F238E27FC236}">
                <a16:creationId xmlns:a16="http://schemas.microsoft.com/office/drawing/2014/main" id="{5E620A7A-0845-07F9-2EC1-64477C715B19}"/>
              </a:ext>
            </a:extLst>
          </p:cNvPr>
          <p:cNvSpPr txBox="1"/>
          <p:nvPr/>
        </p:nvSpPr>
        <p:spPr>
          <a:xfrm>
            <a:off x="457200" y="548640"/>
            <a:ext cx="9326880" cy="548640"/>
          </a:xfrm>
          <a:prstGeom prst="rect">
            <a:avLst/>
          </a:prstGeom>
          <a:noFill/>
          <a:ln/>
        </p:spPr>
        <p:txBody>
          <a:bodyPr wrap="none" lIns="0" tIns="0" rIns="0" bIns="0" rtlCol="0" anchor="ctr"/>
          <a:lstStyle/>
          <a:p>
            <a:pPr marL="0" indent="0">
              <a:buNone/>
            </a:pPr>
            <a:r>
              <a:rPr lang="en-US" sz="3000" b="1" dirty="0">
                <a:solidFill>
                  <a:srgbClr val="EF4922"/>
                </a:solidFill>
                <a:latin typeface="Century Gothic" pitchFamily="34" charset="0"/>
                <a:ea typeface="Century Gothic" pitchFamily="34" charset="-122"/>
                <a:cs typeface="Century Gothic" pitchFamily="34" charset="-120"/>
              </a:rPr>
              <a:t>POS Traffic Flow </a:t>
            </a:r>
            <a:r>
              <a:rPr lang="en-US" sz="3000" b="1" dirty="0">
                <a:solidFill>
                  <a:srgbClr val="213C81"/>
                </a:solidFill>
                <a:latin typeface="Century Gothic" pitchFamily="34" charset="0"/>
                <a:ea typeface="Century Gothic" pitchFamily="34" charset="-122"/>
                <a:cs typeface="Century Gothic" pitchFamily="34" charset="-120"/>
              </a:rPr>
              <a:t>&amp; Connectivity </a:t>
            </a:r>
            <a:r>
              <a:rPr lang="en-US" sz="3000" b="1" dirty="0">
                <a:solidFill>
                  <a:srgbClr val="EF4922"/>
                </a:solidFill>
                <a:latin typeface="Century Gothic" pitchFamily="34" charset="0"/>
              </a:rPr>
              <a:t>| Transition State</a:t>
            </a:r>
          </a:p>
        </p:txBody>
      </p:sp>
      <p:pic>
        <p:nvPicPr>
          <p:cNvPr id="4" name="Image 0" descr="/mnt/user-data/uploads/MASHREQ-NEO_PAY_LOGO-V2-2023-ENG-RGB-01.png">
            <a:extLst>
              <a:ext uri="{FF2B5EF4-FFF2-40B4-BE49-F238E27FC236}">
                <a16:creationId xmlns:a16="http://schemas.microsoft.com/office/drawing/2014/main" id="{2DCAB1BF-BE5E-897B-D0A6-60B9AA860E5C}"/>
              </a:ext>
            </a:extLst>
          </p:cNvPr>
          <p:cNvPicPr>
            <a:picLocks noChangeAspect="1"/>
          </p:cNvPicPr>
          <p:nvPr/>
        </p:nvPicPr>
        <p:blipFill>
          <a:blip r:embed="rId3"/>
          <a:stretch>
            <a:fillRect/>
          </a:stretch>
        </p:blipFill>
        <p:spPr>
          <a:xfrm>
            <a:off x="9902952" y="384048"/>
            <a:ext cx="1828800" cy="283515"/>
          </a:xfrm>
          <a:prstGeom prst="rect">
            <a:avLst/>
          </a:prstGeom>
        </p:spPr>
      </p:pic>
      <p:sp>
        <p:nvSpPr>
          <p:cNvPr id="5" name="Text 2">
            <a:extLst>
              <a:ext uri="{FF2B5EF4-FFF2-40B4-BE49-F238E27FC236}">
                <a16:creationId xmlns:a16="http://schemas.microsoft.com/office/drawing/2014/main" id="{1BBD381C-F3C7-7B7F-3785-D7ED8346F6BD}"/>
              </a:ext>
            </a:extLst>
          </p:cNvPr>
          <p:cNvSpPr txBox="1"/>
          <p:nvPr/>
        </p:nvSpPr>
        <p:spPr>
          <a:xfrm>
            <a:off x="457200" y="1161288"/>
            <a:ext cx="11277295" cy="274320"/>
          </a:xfrm>
          <a:prstGeom prst="rect">
            <a:avLst/>
          </a:prstGeom>
          <a:noFill/>
          <a:ln/>
        </p:spPr>
        <p:txBody>
          <a:bodyPr wrap="square" lIns="0" tIns="0" rIns="0" bIns="0" rtlCol="0" anchor="ctr"/>
          <a:lstStyle/>
          <a:p>
            <a:pPr marL="0" indent="0">
              <a:buNone/>
            </a:pPr>
            <a:r>
              <a:rPr lang="en-US" sz="1200" b="1" dirty="0">
                <a:solidFill>
                  <a:srgbClr val="213C81"/>
                </a:solidFill>
                <a:latin typeface="Century Gothic" pitchFamily="34" charset="0"/>
                <a:ea typeface="Century Gothic" pitchFamily="34" charset="-122"/>
                <a:cs typeface="Century Gothic" pitchFamily="34" charset="-120"/>
              </a:rPr>
              <a:t>Transaction path:  </a:t>
            </a:r>
            <a:r>
              <a:rPr lang="en-US" sz="1200" dirty="0">
                <a:solidFill>
                  <a:srgbClr val="2B3140"/>
                </a:solidFill>
                <a:latin typeface="Century Gothic" pitchFamily="34" charset="0"/>
                <a:ea typeface="Century Gothic" pitchFamily="34" charset="-122"/>
                <a:cs typeface="Century Gothic" pitchFamily="34" charset="-120"/>
              </a:rPr>
              <a:t>POS terminal  →  ISP GPRS cloud  →  Mashreq DC  →  GRE tunnel over ISP dedicated VRF  →  Postilion at NeoPay DC</a:t>
            </a:r>
            <a:endParaRPr lang="en-US" sz="1200" dirty="0"/>
          </a:p>
        </p:txBody>
      </p:sp>
      <p:sp>
        <p:nvSpPr>
          <p:cNvPr id="6" name="Shape 3">
            <a:extLst>
              <a:ext uri="{FF2B5EF4-FFF2-40B4-BE49-F238E27FC236}">
                <a16:creationId xmlns:a16="http://schemas.microsoft.com/office/drawing/2014/main" id="{56FA50A2-72A5-A32A-9C60-0E3AAA67473A}"/>
              </a:ext>
            </a:extLst>
          </p:cNvPr>
          <p:cNvSpPr/>
          <p:nvPr/>
        </p:nvSpPr>
        <p:spPr>
          <a:xfrm>
            <a:off x="3050736" y="2377440"/>
            <a:ext cx="1714500" cy="0"/>
          </a:xfrm>
          <a:prstGeom prst="line">
            <a:avLst/>
          </a:prstGeom>
          <a:noFill/>
          <a:ln w="28575">
            <a:solidFill>
              <a:srgbClr val="23A04A"/>
            </a:solidFill>
            <a:prstDash val="solid"/>
          </a:ln>
        </p:spPr>
        <p:txBody>
          <a:bodyPr/>
          <a:lstStyle/>
          <a:p>
            <a:endParaRPr lang="en-US"/>
          </a:p>
        </p:txBody>
      </p:sp>
      <p:sp>
        <p:nvSpPr>
          <p:cNvPr id="7" name="Shape 4">
            <a:extLst>
              <a:ext uri="{FF2B5EF4-FFF2-40B4-BE49-F238E27FC236}">
                <a16:creationId xmlns:a16="http://schemas.microsoft.com/office/drawing/2014/main" id="{D3532544-6A95-4D30-BA06-7E2BF09549F4}"/>
              </a:ext>
            </a:extLst>
          </p:cNvPr>
          <p:cNvSpPr/>
          <p:nvPr/>
        </p:nvSpPr>
        <p:spPr>
          <a:xfrm>
            <a:off x="3050736" y="2377440"/>
            <a:ext cx="1590687" cy="2423905"/>
          </a:xfrm>
          <a:prstGeom prst="line">
            <a:avLst/>
          </a:prstGeom>
          <a:noFill/>
          <a:ln w="28575">
            <a:solidFill>
              <a:srgbClr val="23A04A"/>
            </a:solidFill>
            <a:prstDash val="solid"/>
          </a:ln>
        </p:spPr>
        <p:txBody>
          <a:bodyPr/>
          <a:lstStyle/>
          <a:p>
            <a:endParaRPr lang="en-US"/>
          </a:p>
        </p:txBody>
      </p:sp>
      <p:sp>
        <p:nvSpPr>
          <p:cNvPr id="8" name="Shape 5">
            <a:extLst>
              <a:ext uri="{FF2B5EF4-FFF2-40B4-BE49-F238E27FC236}">
                <a16:creationId xmlns:a16="http://schemas.microsoft.com/office/drawing/2014/main" id="{D4081108-54DC-2C0D-0E3D-461A4581DD9D}"/>
              </a:ext>
            </a:extLst>
          </p:cNvPr>
          <p:cNvSpPr/>
          <p:nvPr/>
        </p:nvSpPr>
        <p:spPr>
          <a:xfrm>
            <a:off x="3050736" y="4937760"/>
            <a:ext cx="1714500" cy="0"/>
          </a:xfrm>
          <a:prstGeom prst="line">
            <a:avLst/>
          </a:prstGeom>
          <a:noFill/>
          <a:ln w="28575">
            <a:solidFill>
              <a:srgbClr val="1E73E8"/>
            </a:solidFill>
            <a:prstDash val="solid"/>
          </a:ln>
        </p:spPr>
        <p:txBody>
          <a:bodyPr/>
          <a:lstStyle/>
          <a:p>
            <a:endParaRPr lang="en-US"/>
          </a:p>
        </p:txBody>
      </p:sp>
      <p:sp>
        <p:nvSpPr>
          <p:cNvPr id="9" name="Shape 6">
            <a:extLst>
              <a:ext uri="{FF2B5EF4-FFF2-40B4-BE49-F238E27FC236}">
                <a16:creationId xmlns:a16="http://schemas.microsoft.com/office/drawing/2014/main" id="{70689352-F1E1-AAAF-5277-E555FA42AE38}"/>
              </a:ext>
            </a:extLst>
          </p:cNvPr>
          <p:cNvSpPr/>
          <p:nvPr/>
        </p:nvSpPr>
        <p:spPr>
          <a:xfrm flipV="1">
            <a:off x="3050736" y="2513855"/>
            <a:ext cx="1590687" cy="2423905"/>
          </a:xfrm>
          <a:prstGeom prst="line">
            <a:avLst/>
          </a:prstGeom>
          <a:noFill/>
          <a:ln w="28575">
            <a:solidFill>
              <a:srgbClr val="1E73E8"/>
            </a:solidFill>
            <a:prstDash val="solid"/>
          </a:ln>
        </p:spPr>
        <p:txBody>
          <a:bodyPr/>
          <a:lstStyle/>
          <a:p>
            <a:endParaRPr lang="en-US"/>
          </a:p>
        </p:txBody>
      </p:sp>
      <p:sp>
        <p:nvSpPr>
          <p:cNvPr id="10" name="Shape 7">
            <a:extLst>
              <a:ext uri="{FF2B5EF4-FFF2-40B4-BE49-F238E27FC236}">
                <a16:creationId xmlns:a16="http://schemas.microsoft.com/office/drawing/2014/main" id="{D3DD949E-7C26-0378-3511-C95ABCE98BA7}"/>
              </a:ext>
            </a:extLst>
          </p:cNvPr>
          <p:cNvSpPr/>
          <p:nvPr/>
        </p:nvSpPr>
        <p:spPr>
          <a:xfrm>
            <a:off x="5953956" y="2377440"/>
            <a:ext cx="2057400" cy="0"/>
          </a:xfrm>
          <a:prstGeom prst="line">
            <a:avLst/>
          </a:prstGeom>
          <a:noFill/>
          <a:ln w="28575">
            <a:solidFill>
              <a:srgbClr val="23A04A"/>
            </a:solidFill>
            <a:prstDash val="solid"/>
          </a:ln>
        </p:spPr>
        <p:txBody>
          <a:bodyPr/>
          <a:lstStyle/>
          <a:p>
            <a:endParaRPr lang="en-US"/>
          </a:p>
        </p:txBody>
      </p:sp>
      <p:sp>
        <p:nvSpPr>
          <p:cNvPr id="11" name="Shape 8">
            <a:extLst>
              <a:ext uri="{FF2B5EF4-FFF2-40B4-BE49-F238E27FC236}">
                <a16:creationId xmlns:a16="http://schemas.microsoft.com/office/drawing/2014/main" id="{006AF9A8-A061-9597-CFA6-060FBCF75464}"/>
              </a:ext>
            </a:extLst>
          </p:cNvPr>
          <p:cNvSpPr/>
          <p:nvPr/>
        </p:nvSpPr>
        <p:spPr>
          <a:xfrm flipV="1">
            <a:off x="6055292" y="2377440"/>
            <a:ext cx="1956064" cy="2407464"/>
          </a:xfrm>
          <a:prstGeom prst="line">
            <a:avLst/>
          </a:prstGeom>
          <a:noFill/>
          <a:ln w="28575">
            <a:solidFill>
              <a:srgbClr val="23A04A"/>
            </a:solidFill>
            <a:prstDash val="solid"/>
          </a:ln>
        </p:spPr>
        <p:txBody>
          <a:bodyPr/>
          <a:lstStyle/>
          <a:p>
            <a:endParaRPr lang="en-US"/>
          </a:p>
        </p:txBody>
      </p:sp>
      <p:sp>
        <p:nvSpPr>
          <p:cNvPr id="12" name="Shape 9">
            <a:extLst>
              <a:ext uri="{FF2B5EF4-FFF2-40B4-BE49-F238E27FC236}">
                <a16:creationId xmlns:a16="http://schemas.microsoft.com/office/drawing/2014/main" id="{F450C2AA-0E78-9119-5F72-FB9F5F939B65}"/>
              </a:ext>
            </a:extLst>
          </p:cNvPr>
          <p:cNvSpPr/>
          <p:nvPr/>
        </p:nvSpPr>
        <p:spPr>
          <a:xfrm>
            <a:off x="6055292" y="2530296"/>
            <a:ext cx="1956064" cy="2407464"/>
          </a:xfrm>
          <a:prstGeom prst="line">
            <a:avLst/>
          </a:prstGeom>
          <a:noFill/>
          <a:ln w="28575">
            <a:solidFill>
              <a:srgbClr val="1E73E8"/>
            </a:solidFill>
            <a:prstDash val="solid"/>
          </a:ln>
        </p:spPr>
        <p:txBody>
          <a:bodyPr/>
          <a:lstStyle/>
          <a:p>
            <a:endParaRPr lang="en-US"/>
          </a:p>
        </p:txBody>
      </p:sp>
      <p:sp>
        <p:nvSpPr>
          <p:cNvPr id="13" name="Shape 10">
            <a:extLst>
              <a:ext uri="{FF2B5EF4-FFF2-40B4-BE49-F238E27FC236}">
                <a16:creationId xmlns:a16="http://schemas.microsoft.com/office/drawing/2014/main" id="{07251C36-6C99-31B2-1B9D-50F31A019442}"/>
              </a:ext>
            </a:extLst>
          </p:cNvPr>
          <p:cNvSpPr/>
          <p:nvPr/>
        </p:nvSpPr>
        <p:spPr>
          <a:xfrm>
            <a:off x="5953956" y="4937760"/>
            <a:ext cx="2057400" cy="0"/>
          </a:xfrm>
          <a:prstGeom prst="line">
            <a:avLst/>
          </a:prstGeom>
          <a:noFill/>
          <a:ln w="28575">
            <a:solidFill>
              <a:srgbClr val="1E73E8"/>
            </a:solidFill>
            <a:prstDash val="solid"/>
          </a:ln>
        </p:spPr>
        <p:txBody>
          <a:bodyPr/>
          <a:lstStyle/>
          <a:p>
            <a:endParaRPr lang="en-US"/>
          </a:p>
        </p:txBody>
      </p:sp>
      <p:sp>
        <p:nvSpPr>
          <p:cNvPr id="14" name="Shape 11">
            <a:extLst>
              <a:ext uri="{FF2B5EF4-FFF2-40B4-BE49-F238E27FC236}">
                <a16:creationId xmlns:a16="http://schemas.microsoft.com/office/drawing/2014/main" id="{1D25888D-B55A-5FB9-0991-680FBA29EC1F}"/>
              </a:ext>
            </a:extLst>
          </p:cNvPr>
          <p:cNvSpPr/>
          <p:nvPr/>
        </p:nvSpPr>
        <p:spPr>
          <a:xfrm>
            <a:off x="8011356" y="2377440"/>
            <a:ext cx="2057400" cy="0"/>
          </a:xfrm>
          <a:prstGeom prst="line">
            <a:avLst/>
          </a:prstGeom>
          <a:noFill/>
          <a:ln w="28575">
            <a:solidFill>
              <a:srgbClr val="23A04A"/>
            </a:solidFill>
            <a:prstDash val="solid"/>
          </a:ln>
        </p:spPr>
        <p:txBody>
          <a:bodyPr/>
          <a:lstStyle/>
          <a:p>
            <a:endParaRPr lang="en-US"/>
          </a:p>
        </p:txBody>
      </p:sp>
      <p:sp>
        <p:nvSpPr>
          <p:cNvPr id="15" name="Shape 12">
            <a:extLst>
              <a:ext uri="{FF2B5EF4-FFF2-40B4-BE49-F238E27FC236}">
                <a16:creationId xmlns:a16="http://schemas.microsoft.com/office/drawing/2014/main" id="{148410BF-DF3D-A61C-92FF-3DD44FF8944E}"/>
              </a:ext>
            </a:extLst>
          </p:cNvPr>
          <p:cNvSpPr/>
          <p:nvPr/>
        </p:nvSpPr>
        <p:spPr>
          <a:xfrm>
            <a:off x="8011356" y="2377440"/>
            <a:ext cx="1956064" cy="2407464"/>
          </a:xfrm>
          <a:prstGeom prst="line">
            <a:avLst/>
          </a:prstGeom>
          <a:noFill/>
          <a:ln w="28575">
            <a:solidFill>
              <a:srgbClr val="23A04A"/>
            </a:solidFill>
            <a:prstDash val="solid"/>
          </a:ln>
        </p:spPr>
        <p:txBody>
          <a:bodyPr/>
          <a:lstStyle/>
          <a:p>
            <a:endParaRPr lang="en-US"/>
          </a:p>
        </p:txBody>
      </p:sp>
      <p:sp>
        <p:nvSpPr>
          <p:cNvPr id="16" name="Shape 13">
            <a:extLst>
              <a:ext uri="{FF2B5EF4-FFF2-40B4-BE49-F238E27FC236}">
                <a16:creationId xmlns:a16="http://schemas.microsoft.com/office/drawing/2014/main" id="{95B2E344-4897-DD93-BB8A-E3D1377518A3}"/>
              </a:ext>
            </a:extLst>
          </p:cNvPr>
          <p:cNvSpPr/>
          <p:nvPr/>
        </p:nvSpPr>
        <p:spPr>
          <a:xfrm flipV="1">
            <a:off x="8011356" y="2530296"/>
            <a:ext cx="1956064" cy="2407464"/>
          </a:xfrm>
          <a:prstGeom prst="line">
            <a:avLst/>
          </a:prstGeom>
          <a:noFill/>
          <a:ln w="28575">
            <a:solidFill>
              <a:srgbClr val="1E73E8"/>
            </a:solidFill>
            <a:prstDash val="solid"/>
          </a:ln>
        </p:spPr>
        <p:txBody>
          <a:bodyPr/>
          <a:lstStyle/>
          <a:p>
            <a:endParaRPr lang="en-US"/>
          </a:p>
        </p:txBody>
      </p:sp>
      <p:sp>
        <p:nvSpPr>
          <p:cNvPr id="17" name="Shape 14">
            <a:extLst>
              <a:ext uri="{FF2B5EF4-FFF2-40B4-BE49-F238E27FC236}">
                <a16:creationId xmlns:a16="http://schemas.microsoft.com/office/drawing/2014/main" id="{FEEE6A78-7DFC-084F-452E-7C2636C3E90A}"/>
              </a:ext>
            </a:extLst>
          </p:cNvPr>
          <p:cNvSpPr/>
          <p:nvPr/>
        </p:nvSpPr>
        <p:spPr>
          <a:xfrm>
            <a:off x="8011356" y="4937760"/>
            <a:ext cx="2057400" cy="0"/>
          </a:xfrm>
          <a:prstGeom prst="line">
            <a:avLst/>
          </a:prstGeom>
          <a:noFill/>
          <a:ln w="28575">
            <a:solidFill>
              <a:srgbClr val="1E73E8"/>
            </a:solidFill>
            <a:prstDash val="solid"/>
          </a:ln>
        </p:spPr>
        <p:txBody>
          <a:bodyPr/>
          <a:lstStyle/>
          <a:p>
            <a:endParaRPr lang="en-US"/>
          </a:p>
        </p:txBody>
      </p:sp>
      <p:sp>
        <p:nvSpPr>
          <p:cNvPr id="18" name="Shape 15">
            <a:extLst>
              <a:ext uri="{FF2B5EF4-FFF2-40B4-BE49-F238E27FC236}">
                <a16:creationId xmlns:a16="http://schemas.microsoft.com/office/drawing/2014/main" id="{CD015F3D-1FBC-ACE0-C585-953D97485DC5}"/>
              </a:ext>
            </a:extLst>
          </p:cNvPr>
          <p:cNvSpPr/>
          <p:nvPr/>
        </p:nvSpPr>
        <p:spPr>
          <a:xfrm>
            <a:off x="5359596" y="3108960"/>
            <a:ext cx="0" cy="1097280"/>
          </a:xfrm>
          <a:prstGeom prst="line">
            <a:avLst/>
          </a:prstGeom>
          <a:noFill/>
          <a:ln w="50800">
            <a:solidFill>
              <a:srgbClr val="2F3747"/>
            </a:solidFill>
            <a:prstDash val="solid"/>
          </a:ln>
        </p:spPr>
        <p:txBody>
          <a:bodyPr/>
          <a:lstStyle/>
          <a:p>
            <a:endParaRPr lang="en-US"/>
          </a:p>
        </p:txBody>
      </p:sp>
      <p:sp>
        <p:nvSpPr>
          <p:cNvPr id="19" name="Shape 16">
            <a:extLst>
              <a:ext uri="{FF2B5EF4-FFF2-40B4-BE49-F238E27FC236}">
                <a16:creationId xmlns:a16="http://schemas.microsoft.com/office/drawing/2014/main" id="{2E90742A-8592-14BE-FE01-2BF2D09E8A7F}"/>
              </a:ext>
            </a:extLst>
          </p:cNvPr>
          <p:cNvSpPr/>
          <p:nvPr/>
        </p:nvSpPr>
        <p:spPr>
          <a:xfrm>
            <a:off x="10905432" y="3108960"/>
            <a:ext cx="0" cy="1097280"/>
          </a:xfrm>
          <a:prstGeom prst="line">
            <a:avLst/>
          </a:prstGeom>
          <a:noFill/>
          <a:ln w="50800">
            <a:solidFill>
              <a:srgbClr val="2F3747"/>
            </a:solidFill>
            <a:prstDash val="solid"/>
          </a:ln>
        </p:spPr>
        <p:txBody>
          <a:bodyPr/>
          <a:lstStyle/>
          <a:p>
            <a:endParaRPr lang="en-US"/>
          </a:p>
        </p:txBody>
      </p:sp>
      <p:sp>
        <p:nvSpPr>
          <p:cNvPr id="20" name="Shape 17">
            <a:extLst>
              <a:ext uri="{FF2B5EF4-FFF2-40B4-BE49-F238E27FC236}">
                <a16:creationId xmlns:a16="http://schemas.microsoft.com/office/drawing/2014/main" id="{F28355F2-1231-9892-6725-B2065834CA0B}"/>
              </a:ext>
            </a:extLst>
          </p:cNvPr>
          <p:cNvSpPr/>
          <p:nvPr/>
        </p:nvSpPr>
        <p:spPr>
          <a:xfrm>
            <a:off x="1610556" y="2514600"/>
            <a:ext cx="1458468" cy="630936"/>
          </a:xfrm>
          <a:custGeom>
            <a:avLst/>
            <a:gdLst/>
            <a:ahLst/>
            <a:cxnLst/>
            <a:rect l="l" t="t" r="r" b="b"/>
            <a:pathLst>
              <a:path w="1458468" h="630936">
                <a:moveTo>
                  <a:pt x="18288" y="612648"/>
                </a:moveTo>
                <a:lnTo>
                  <a:pt x="340583" y="477927"/>
                </a:lnTo>
                <a:lnTo>
                  <a:pt x="515744" y="493905"/>
                </a:lnTo>
                <a:lnTo>
                  <a:pt x="334154" y="391418"/>
                </a:lnTo>
                <a:lnTo>
                  <a:pt x="509315" y="407396"/>
                </a:lnTo>
                <a:lnTo>
                  <a:pt x="1440180" y="18288"/>
                </a:lnTo>
              </a:path>
            </a:pathLst>
          </a:custGeom>
          <a:noFill/>
          <a:ln w="25400">
            <a:solidFill>
              <a:srgbClr val="23A04A"/>
            </a:solidFill>
            <a:prstDash val="solid"/>
          </a:ln>
        </p:spPr>
        <p:txBody>
          <a:bodyPr/>
          <a:lstStyle/>
          <a:p>
            <a:endParaRPr lang="en-US"/>
          </a:p>
        </p:txBody>
      </p:sp>
      <p:sp>
        <p:nvSpPr>
          <p:cNvPr id="21" name="Shape 18">
            <a:extLst>
              <a:ext uri="{FF2B5EF4-FFF2-40B4-BE49-F238E27FC236}">
                <a16:creationId xmlns:a16="http://schemas.microsoft.com/office/drawing/2014/main" id="{BBA2F564-69D4-073E-615C-4A9B5CD9C289}"/>
              </a:ext>
            </a:extLst>
          </p:cNvPr>
          <p:cNvSpPr/>
          <p:nvPr/>
        </p:nvSpPr>
        <p:spPr>
          <a:xfrm>
            <a:off x="1610556" y="3291840"/>
            <a:ext cx="1458468" cy="1508760"/>
          </a:xfrm>
          <a:custGeom>
            <a:avLst/>
            <a:gdLst/>
            <a:ahLst/>
            <a:cxnLst/>
            <a:rect l="l" t="t" r="r" b="b"/>
            <a:pathLst>
              <a:path w="1458468" h="1508760">
                <a:moveTo>
                  <a:pt x="18288" y="18288"/>
                </a:moveTo>
                <a:lnTo>
                  <a:pt x="460957" y="476614"/>
                </a:lnTo>
                <a:lnTo>
                  <a:pt x="509754" y="645598"/>
                </a:lnTo>
                <a:lnTo>
                  <a:pt x="539209" y="439173"/>
                </a:lnTo>
                <a:lnTo>
                  <a:pt x="588006" y="608157"/>
                </a:lnTo>
                <a:lnTo>
                  <a:pt x="1440180" y="1490472"/>
                </a:lnTo>
              </a:path>
            </a:pathLst>
          </a:custGeom>
          <a:noFill/>
          <a:ln w="25400">
            <a:solidFill>
              <a:srgbClr val="1E73E8"/>
            </a:solidFill>
            <a:prstDash val="solid"/>
          </a:ln>
        </p:spPr>
        <p:txBody>
          <a:bodyPr/>
          <a:lstStyle/>
          <a:p>
            <a:endParaRPr lang="en-US"/>
          </a:p>
        </p:txBody>
      </p:sp>
      <p:sp>
        <p:nvSpPr>
          <p:cNvPr id="22" name="Shape 19">
            <a:extLst>
              <a:ext uri="{FF2B5EF4-FFF2-40B4-BE49-F238E27FC236}">
                <a16:creationId xmlns:a16="http://schemas.microsoft.com/office/drawing/2014/main" id="{DC67D16C-11CE-48E4-B67A-8695F613AB91}"/>
              </a:ext>
            </a:extLst>
          </p:cNvPr>
          <p:cNvSpPr/>
          <p:nvPr/>
        </p:nvSpPr>
        <p:spPr>
          <a:xfrm>
            <a:off x="2296356" y="1938528"/>
            <a:ext cx="1508760" cy="1188720"/>
          </a:xfrm>
          <a:prstGeom prst="cloud">
            <a:avLst/>
          </a:prstGeom>
          <a:solidFill>
            <a:srgbClr val="E9F6EE"/>
          </a:solidFill>
          <a:ln w="19050">
            <a:solidFill>
              <a:srgbClr val="23A04A"/>
            </a:solidFill>
            <a:prstDash val="solid"/>
          </a:ln>
        </p:spPr>
        <p:txBody>
          <a:bodyPr/>
          <a:lstStyle/>
          <a:p>
            <a:endParaRPr lang="en-US"/>
          </a:p>
        </p:txBody>
      </p:sp>
      <p:sp>
        <p:nvSpPr>
          <p:cNvPr id="23" name="Shape 20">
            <a:extLst>
              <a:ext uri="{FF2B5EF4-FFF2-40B4-BE49-F238E27FC236}">
                <a16:creationId xmlns:a16="http://schemas.microsoft.com/office/drawing/2014/main" id="{DB8AC720-4C33-DB4D-A43C-A6DE898D012F}"/>
              </a:ext>
            </a:extLst>
          </p:cNvPr>
          <p:cNvSpPr/>
          <p:nvPr/>
        </p:nvSpPr>
        <p:spPr>
          <a:xfrm>
            <a:off x="2296356" y="4187952"/>
            <a:ext cx="1508760" cy="1188720"/>
          </a:xfrm>
          <a:prstGeom prst="cloud">
            <a:avLst/>
          </a:prstGeom>
          <a:solidFill>
            <a:srgbClr val="E8F0FD"/>
          </a:solidFill>
          <a:ln w="19050">
            <a:solidFill>
              <a:srgbClr val="1E73E8"/>
            </a:solidFill>
            <a:prstDash val="solid"/>
          </a:ln>
        </p:spPr>
        <p:txBody>
          <a:bodyPr/>
          <a:lstStyle/>
          <a:p>
            <a:endParaRPr lang="en-US"/>
          </a:p>
        </p:txBody>
      </p:sp>
      <p:sp>
        <p:nvSpPr>
          <p:cNvPr id="24" name="Shape 21">
            <a:extLst>
              <a:ext uri="{FF2B5EF4-FFF2-40B4-BE49-F238E27FC236}">
                <a16:creationId xmlns:a16="http://schemas.microsoft.com/office/drawing/2014/main" id="{A80078F0-AD71-9608-1AF0-1BF66D59627E}"/>
              </a:ext>
            </a:extLst>
          </p:cNvPr>
          <p:cNvSpPr/>
          <p:nvPr/>
        </p:nvSpPr>
        <p:spPr>
          <a:xfrm>
            <a:off x="7142676" y="1938528"/>
            <a:ext cx="1737360" cy="1188720"/>
          </a:xfrm>
          <a:prstGeom prst="cloud">
            <a:avLst/>
          </a:prstGeom>
          <a:solidFill>
            <a:srgbClr val="E9F6EE"/>
          </a:solidFill>
          <a:ln w="19050">
            <a:solidFill>
              <a:srgbClr val="23A04A"/>
            </a:solidFill>
            <a:prstDash val="solid"/>
          </a:ln>
        </p:spPr>
        <p:txBody>
          <a:bodyPr/>
          <a:lstStyle/>
          <a:p>
            <a:endParaRPr lang="en-US"/>
          </a:p>
        </p:txBody>
      </p:sp>
      <p:sp>
        <p:nvSpPr>
          <p:cNvPr id="25" name="Shape 22">
            <a:extLst>
              <a:ext uri="{FF2B5EF4-FFF2-40B4-BE49-F238E27FC236}">
                <a16:creationId xmlns:a16="http://schemas.microsoft.com/office/drawing/2014/main" id="{E3801043-BC1B-AA5A-7DE3-0EDF240E874F}"/>
              </a:ext>
            </a:extLst>
          </p:cNvPr>
          <p:cNvSpPr/>
          <p:nvPr/>
        </p:nvSpPr>
        <p:spPr>
          <a:xfrm>
            <a:off x="7142676" y="4187952"/>
            <a:ext cx="1737360" cy="1188720"/>
          </a:xfrm>
          <a:prstGeom prst="cloud">
            <a:avLst/>
          </a:prstGeom>
          <a:solidFill>
            <a:srgbClr val="E8F0FD"/>
          </a:solidFill>
          <a:ln w="19050">
            <a:solidFill>
              <a:srgbClr val="1E73E8"/>
            </a:solidFill>
            <a:prstDash val="solid"/>
          </a:ln>
        </p:spPr>
        <p:txBody>
          <a:bodyPr/>
          <a:lstStyle/>
          <a:p>
            <a:endParaRPr lang="en-US"/>
          </a:p>
        </p:txBody>
      </p:sp>
      <p:pic>
        <p:nvPicPr>
          <p:cNvPr id="26" name="Image 1" descr="preencoded.png">
            <a:extLst>
              <a:ext uri="{FF2B5EF4-FFF2-40B4-BE49-F238E27FC236}">
                <a16:creationId xmlns:a16="http://schemas.microsoft.com/office/drawing/2014/main" id="{9097023B-4ABE-3A0D-8D82-FABC2BDBE9AB}"/>
              </a:ext>
            </a:extLst>
          </p:cNvPr>
          <p:cNvPicPr>
            <a:picLocks noChangeAspect="1"/>
          </p:cNvPicPr>
          <p:nvPr/>
        </p:nvPicPr>
        <p:blipFill>
          <a:blip r:embed="rId4"/>
          <a:stretch>
            <a:fillRect/>
          </a:stretch>
        </p:blipFill>
        <p:spPr>
          <a:xfrm>
            <a:off x="2803848" y="2286000"/>
            <a:ext cx="493776" cy="493776"/>
          </a:xfrm>
          <a:prstGeom prst="rect">
            <a:avLst/>
          </a:prstGeom>
        </p:spPr>
      </p:pic>
      <p:pic>
        <p:nvPicPr>
          <p:cNvPr id="27" name="Image 2" descr="preencoded.png">
            <a:extLst>
              <a:ext uri="{FF2B5EF4-FFF2-40B4-BE49-F238E27FC236}">
                <a16:creationId xmlns:a16="http://schemas.microsoft.com/office/drawing/2014/main" id="{543707AA-7A1E-06B1-C4E6-A82AE01DFCCC}"/>
              </a:ext>
            </a:extLst>
          </p:cNvPr>
          <p:cNvPicPr>
            <a:picLocks noChangeAspect="1"/>
          </p:cNvPicPr>
          <p:nvPr/>
        </p:nvPicPr>
        <p:blipFill>
          <a:blip r:embed="rId5"/>
          <a:stretch>
            <a:fillRect/>
          </a:stretch>
        </p:blipFill>
        <p:spPr>
          <a:xfrm>
            <a:off x="2803848" y="4535424"/>
            <a:ext cx="493776" cy="493776"/>
          </a:xfrm>
          <a:prstGeom prst="rect">
            <a:avLst/>
          </a:prstGeom>
        </p:spPr>
      </p:pic>
      <p:sp>
        <p:nvSpPr>
          <p:cNvPr id="28" name="Shape 23">
            <a:extLst>
              <a:ext uri="{FF2B5EF4-FFF2-40B4-BE49-F238E27FC236}">
                <a16:creationId xmlns:a16="http://schemas.microsoft.com/office/drawing/2014/main" id="{2E8089EF-413C-F23D-157D-212F46BF2CD4}"/>
              </a:ext>
            </a:extLst>
          </p:cNvPr>
          <p:cNvSpPr/>
          <p:nvPr/>
        </p:nvSpPr>
        <p:spPr>
          <a:xfrm>
            <a:off x="5935668" y="2267712"/>
            <a:ext cx="4151376" cy="36576"/>
          </a:xfrm>
          <a:custGeom>
            <a:avLst/>
            <a:gdLst/>
            <a:ahLst/>
            <a:cxnLst/>
            <a:rect l="l" t="t" r="r" b="b"/>
            <a:pathLst>
              <a:path w="4151376" h="36576">
                <a:moveTo>
                  <a:pt x="18288" y="18288"/>
                </a:moveTo>
                <a:lnTo>
                  <a:pt x="1618488" y="18288"/>
                </a:lnTo>
                <a:lnTo>
                  <a:pt x="2532888" y="18288"/>
                </a:lnTo>
                <a:lnTo>
                  <a:pt x="4133088" y="18288"/>
                </a:lnTo>
              </a:path>
            </a:pathLst>
          </a:custGeom>
          <a:noFill/>
          <a:ln w="25400">
            <a:solidFill>
              <a:srgbClr val="23A04A"/>
            </a:solidFill>
            <a:prstDash val="sysDot"/>
          </a:ln>
        </p:spPr>
        <p:txBody>
          <a:bodyPr/>
          <a:lstStyle/>
          <a:p>
            <a:endParaRPr lang="en-US"/>
          </a:p>
        </p:txBody>
      </p:sp>
      <p:sp>
        <p:nvSpPr>
          <p:cNvPr id="29" name="Shape 24">
            <a:extLst>
              <a:ext uri="{FF2B5EF4-FFF2-40B4-BE49-F238E27FC236}">
                <a16:creationId xmlns:a16="http://schemas.microsoft.com/office/drawing/2014/main" id="{7DADA590-ACA0-7010-186B-9F568E792911}"/>
              </a:ext>
            </a:extLst>
          </p:cNvPr>
          <p:cNvSpPr/>
          <p:nvPr/>
        </p:nvSpPr>
        <p:spPr>
          <a:xfrm>
            <a:off x="5935668" y="2450592"/>
            <a:ext cx="4121008" cy="2294938"/>
          </a:xfrm>
          <a:custGeom>
            <a:avLst/>
            <a:gdLst/>
            <a:ahLst/>
            <a:cxnLst/>
            <a:rect l="l" t="t" r="r" b="b"/>
            <a:pathLst>
              <a:path w="4121008" h="2294938">
                <a:moveTo>
                  <a:pt x="18288" y="18288"/>
                </a:moveTo>
                <a:lnTo>
                  <a:pt x="1618488" y="18288"/>
                </a:lnTo>
                <a:lnTo>
                  <a:pt x="2434963" y="224026"/>
                </a:lnTo>
                <a:lnTo>
                  <a:pt x="4102720" y="2276650"/>
                </a:lnTo>
              </a:path>
            </a:pathLst>
          </a:custGeom>
          <a:noFill/>
          <a:ln w="25400">
            <a:solidFill>
              <a:srgbClr val="23A04A"/>
            </a:solidFill>
            <a:prstDash val="sysDot"/>
          </a:ln>
        </p:spPr>
        <p:txBody>
          <a:bodyPr/>
          <a:lstStyle/>
          <a:p>
            <a:endParaRPr lang="en-US"/>
          </a:p>
        </p:txBody>
      </p:sp>
      <p:sp>
        <p:nvSpPr>
          <p:cNvPr id="30" name="Shape 25">
            <a:extLst>
              <a:ext uri="{FF2B5EF4-FFF2-40B4-BE49-F238E27FC236}">
                <a16:creationId xmlns:a16="http://schemas.microsoft.com/office/drawing/2014/main" id="{9969681B-3AE1-4FD1-2100-0999893BFF84}"/>
              </a:ext>
            </a:extLst>
          </p:cNvPr>
          <p:cNvSpPr/>
          <p:nvPr/>
        </p:nvSpPr>
        <p:spPr>
          <a:xfrm>
            <a:off x="5966036" y="2450592"/>
            <a:ext cx="4121008" cy="2294938"/>
          </a:xfrm>
          <a:custGeom>
            <a:avLst/>
            <a:gdLst/>
            <a:ahLst/>
            <a:cxnLst/>
            <a:rect l="l" t="t" r="r" b="b"/>
            <a:pathLst>
              <a:path w="4121008" h="2294938">
                <a:moveTo>
                  <a:pt x="18288" y="2276650"/>
                </a:moveTo>
                <a:lnTo>
                  <a:pt x="1686045" y="224026"/>
                </a:lnTo>
                <a:lnTo>
                  <a:pt x="2502520" y="18288"/>
                </a:lnTo>
                <a:lnTo>
                  <a:pt x="4102720" y="18288"/>
                </a:lnTo>
              </a:path>
            </a:pathLst>
          </a:custGeom>
          <a:noFill/>
          <a:ln w="25400">
            <a:solidFill>
              <a:srgbClr val="23A04A"/>
            </a:solidFill>
            <a:prstDash val="sysDot"/>
          </a:ln>
        </p:spPr>
        <p:txBody>
          <a:bodyPr/>
          <a:lstStyle/>
          <a:p>
            <a:endParaRPr lang="en-US"/>
          </a:p>
        </p:txBody>
      </p:sp>
      <p:sp>
        <p:nvSpPr>
          <p:cNvPr id="31" name="Shape 26">
            <a:extLst>
              <a:ext uri="{FF2B5EF4-FFF2-40B4-BE49-F238E27FC236}">
                <a16:creationId xmlns:a16="http://schemas.microsoft.com/office/drawing/2014/main" id="{6B0DA190-8F4D-26DD-0E83-FAF5AE1D09B6}"/>
              </a:ext>
            </a:extLst>
          </p:cNvPr>
          <p:cNvSpPr/>
          <p:nvPr/>
        </p:nvSpPr>
        <p:spPr>
          <a:xfrm>
            <a:off x="6107972" y="2771653"/>
            <a:ext cx="3806769" cy="2089200"/>
          </a:xfrm>
          <a:custGeom>
            <a:avLst/>
            <a:gdLst/>
            <a:ahLst/>
            <a:cxnLst/>
            <a:rect l="l" t="t" r="r" b="b"/>
            <a:pathLst>
              <a:path w="3806769" h="2089200">
                <a:moveTo>
                  <a:pt x="18288" y="2070912"/>
                </a:moveTo>
                <a:lnTo>
                  <a:pt x="1686045" y="18288"/>
                </a:lnTo>
                <a:lnTo>
                  <a:pt x="2120723" y="18288"/>
                </a:lnTo>
                <a:lnTo>
                  <a:pt x="3788481" y="2070912"/>
                </a:lnTo>
              </a:path>
            </a:pathLst>
          </a:custGeom>
          <a:noFill/>
          <a:ln w="25400">
            <a:solidFill>
              <a:srgbClr val="23A04A"/>
            </a:solidFill>
            <a:prstDash val="sysDot"/>
          </a:ln>
        </p:spPr>
        <p:txBody>
          <a:bodyPr/>
          <a:lstStyle/>
          <a:p>
            <a:endParaRPr lang="en-US" dirty="0"/>
          </a:p>
        </p:txBody>
      </p:sp>
      <p:sp>
        <p:nvSpPr>
          <p:cNvPr id="32" name="Shape 27">
            <a:extLst>
              <a:ext uri="{FF2B5EF4-FFF2-40B4-BE49-F238E27FC236}">
                <a16:creationId xmlns:a16="http://schemas.microsoft.com/office/drawing/2014/main" id="{548D1538-D46D-3205-A17A-C1FEFA18952D}"/>
              </a:ext>
            </a:extLst>
          </p:cNvPr>
          <p:cNvSpPr/>
          <p:nvPr/>
        </p:nvSpPr>
        <p:spPr>
          <a:xfrm>
            <a:off x="6107972" y="2454347"/>
            <a:ext cx="3806769" cy="2089200"/>
          </a:xfrm>
          <a:custGeom>
            <a:avLst/>
            <a:gdLst/>
            <a:ahLst/>
            <a:cxnLst/>
            <a:rect l="l" t="t" r="r" b="b"/>
            <a:pathLst>
              <a:path w="3806769" h="2089200">
                <a:moveTo>
                  <a:pt x="18288" y="18288"/>
                </a:moveTo>
                <a:lnTo>
                  <a:pt x="1686045" y="2070912"/>
                </a:lnTo>
                <a:lnTo>
                  <a:pt x="2120723" y="2070912"/>
                </a:lnTo>
                <a:lnTo>
                  <a:pt x="3788481" y="18288"/>
                </a:lnTo>
              </a:path>
            </a:pathLst>
          </a:custGeom>
          <a:noFill/>
          <a:ln w="25400">
            <a:solidFill>
              <a:srgbClr val="1E73E8"/>
            </a:solidFill>
            <a:prstDash val="sysDot"/>
          </a:ln>
        </p:spPr>
        <p:txBody>
          <a:bodyPr/>
          <a:lstStyle/>
          <a:p>
            <a:endParaRPr lang="en-US"/>
          </a:p>
        </p:txBody>
      </p:sp>
      <p:sp>
        <p:nvSpPr>
          <p:cNvPr id="33" name="Shape 28">
            <a:extLst>
              <a:ext uri="{FF2B5EF4-FFF2-40B4-BE49-F238E27FC236}">
                <a16:creationId xmlns:a16="http://schemas.microsoft.com/office/drawing/2014/main" id="{1297FAB8-3ED0-F4FE-2843-7E3C5E6134FB}"/>
              </a:ext>
            </a:extLst>
          </p:cNvPr>
          <p:cNvSpPr/>
          <p:nvPr/>
        </p:nvSpPr>
        <p:spPr>
          <a:xfrm>
            <a:off x="5966036" y="2569670"/>
            <a:ext cx="4121008" cy="2294938"/>
          </a:xfrm>
          <a:custGeom>
            <a:avLst/>
            <a:gdLst/>
            <a:ahLst/>
            <a:cxnLst/>
            <a:rect l="l" t="t" r="r" b="b"/>
            <a:pathLst>
              <a:path w="4121008" h="2294938">
                <a:moveTo>
                  <a:pt x="18288" y="18288"/>
                </a:moveTo>
                <a:lnTo>
                  <a:pt x="1686045" y="2070912"/>
                </a:lnTo>
                <a:lnTo>
                  <a:pt x="2502520" y="2276650"/>
                </a:lnTo>
                <a:lnTo>
                  <a:pt x="4102720" y="2276650"/>
                </a:lnTo>
              </a:path>
            </a:pathLst>
          </a:custGeom>
          <a:noFill/>
          <a:ln w="25400">
            <a:solidFill>
              <a:srgbClr val="1E73E8"/>
            </a:solidFill>
            <a:prstDash val="sysDot"/>
          </a:ln>
        </p:spPr>
        <p:txBody>
          <a:bodyPr/>
          <a:lstStyle/>
          <a:p>
            <a:endParaRPr lang="en-US"/>
          </a:p>
        </p:txBody>
      </p:sp>
      <p:sp>
        <p:nvSpPr>
          <p:cNvPr id="34" name="Shape 29">
            <a:extLst>
              <a:ext uri="{FF2B5EF4-FFF2-40B4-BE49-F238E27FC236}">
                <a16:creationId xmlns:a16="http://schemas.microsoft.com/office/drawing/2014/main" id="{6538837B-2C4F-1403-6EF4-3A34A0D56C9E}"/>
              </a:ext>
            </a:extLst>
          </p:cNvPr>
          <p:cNvSpPr/>
          <p:nvPr/>
        </p:nvSpPr>
        <p:spPr>
          <a:xfrm>
            <a:off x="5935668" y="2569670"/>
            <a:ext cx="4121008" cy="2294938"/>
          </a:xfrm>
          <a:custGeom>
            <a:avLst/>
            <a:gdLst/>
            <a:ahLst/>
            <a:cxnLst/>
            <a:rect l="l" t="t" r="r" b="b"/>
            <a:pathLst>
              <a:path w="4121008" h="2294938">
                <a:moveTo>
                  <a:pt x="18288" y="2276650"/>
                </a:moveTo>
                <a:lnTo>
                  <a:pt x="1618488" y="2276650"/>
                </a:lnTo>
                <a:lnTo>
                  <a:pt x="2434963" y="2070912"/>
                </a:lnTo>
                <a:lnTo>
                  <a:pt x="4102720" y="18288"/>
                </a:lnTo>
              </a:path>
            </a:pathLst>
          </a:custGeom>
          <a:noFill/>
          <a:ln w="25400">
            <a:solidFill>
              <a:srgbClr val="1E73E8"/>
            </a:solidFill>
            <a:prstDash val="sysDot"/>
          </a:ln>
        </p:spPr>
        <p:txBody>
          <a:bodyPr/>
          <a:lstStyle/>
          <a:p>
            <a:endParaRPr lang="en-US"/>
          </a:p>
        </p:txBody>
      </p:sp>
      <p:sp>
        <p:nvSpPr>
          <p:cNvPr id="35" name="Shape 30">
            <a:extLst>
              <a:ext uri="{FF2B5EF4-FFF2-40B4-BE49-F238E27FC236}">
                <a16:creationId xmlns:a16="http://schemas.microsoft.com/office/drawing/2014/main" id="{2C1E9941-F3D6-A595-AC10-FD784130DA29}"/>
              </a:ext>
            </a:extLst>
          </p:cNvPr>
          <p:cNvSpPr/>
          <p:nvPr/>
        </p:nvSpPr>
        <p:spPr>
          <a:xfrm>
            <a:off x="5935668" y="5010912"/>
            <a:ext cx="4151376" cy="36576"/>
          </a:xfrm>
          <a:custGeom>
            <a:avLst/>
            <a:gdLst/>
            <a:ahLst/>
            <a:cxnLst/>
            <a:rect l="l" t="t" r="r" b="b"/>
            <a:pathLst>
              <a:path w="4151376" h="36576">
                <a:moveTo>
                  <a:pt x="18288" y="18288"/>
                </a:moveTo>
                <a:lnTo>
                  <a:pt x="1618488" y="18288"/>
                </a:lnTo>
                <a:lnTo>
                  <a:pt x="2532888" y="18288"/>
                </a:lnTo>
                <a:lnTo>
                  <a:pt x="4133088" y="18288"/>
                </a:lnTo>
              </a:path>
            </a:pathLst>
          </a:custGeom>
          <a:noFill/>
          <a:ln w="25400">
            <a:solidFill>
              <a:srgbClr val="1E73E8"/>
            </a:solidFill>
            <a:prstDash val="sysDot"/>
          </a:ln>
        </p:spPr>
        <p:txBody>
          <a:bodyPr/>
          <a:lstStyle/>
          <a:p>
            <a:endParaRPr lang="en-US"/>
          </a:p>
        </p:txBody>
      </p:sp>
      <p:sp>
        <p:nvSpPr>
          <p:cNvPr id="36" name="Shape 31">
            <a:extLst>
              <a:ext uri="{FF2B5EF4-FFF2-40B4-BE49-F238E27FC236}">
                <a16:creationId xmlns:a16="http://schemas.microsoft.com/office/drawing/2014/main" id="{83EEAB8F-FABE-2602-0513-B2ABA43156D6}"/>
              </a:ext>
            </a:extLst>
          </p:cNvPr>
          <p:cNvSpPr/>
          <p:nvPr/>
        </p:nvSpPr>
        <p:spPr>
          <a:xfrm>
            <a:off x="4490916" y="1920240"/>
            <a:ext cx="1737360" cy="1280160"/>
          </a:xfrm>
          <a:prstGeom prst="roundRect">
            <a:avLst>
              <a:gd name="adj" fmla="val 7143"/>
            </a:avLst>
          </a:prstGeom>
          <a:solidFill>
            <a:srgbClr val="F3F4F7"/>
          </a:solidFill>
          <a:ln w="15875">
            <a:solidFill>
              <a:srgbClr val="8C95A6"/>
            </a:solidFill>
            <a:prstDash val="solid"/>
          </a:ln>
          <a:effectLst>
            <a:outerShdw blurRad="76200" dist="25400" dir="5400000" algn="bl" rotWithShape="0">
              <a:srgbClr val="1F2A44">
                <a:alpha val="14000"/>
              </a:srgbClr>
            </a:outerShdw>
          </a:effectLst>
        </p:spPr>
        <p:txBody>
          <a:bodyPr/>
          <a:lstStyle/>
          <a:p>
            <a:endParaRPr lang="en-US"/>
          </a:p>
        </p:txBody>
      </p:sp>
      <p:sp>
        <p:nvSpPr>
          <p:cNvPr id="37" name="Text 32">
            <a:extLst>
              <a:ext uri="{FF2B5EF4-FFF2-40B4-BE49-F238E27FC236}">
                <a16:creationId xmlns:a16="http://schemas.microsoft.com/office/drawing/2014/main" id="{5DB88379-BEEA-3A9D-9070-D263608B9B6D}"/>
              </a:ext>
            </a:extLst>
          </p:cNvPr>
          <p:cNvSpPr txBox="1"/>
          <p:nvPr/>
        </p:nvSpPr>
        <p:spPr>
          <a:xfrm>
            <a:off x="4618932" y="2011680"/>
            <a:ext cx="914400" cy="237744"/>
          </a:xfrm>
          <a:prstGeom prst="rect">
            <a:avLst/>
          </a:prstGeom>
          <a:noFill/>
          <a:ln/>
        </p:spPr>
        <p:txBody>
          <a:bodyPr wrap="square" lIns="0" tIns="0" rIns="0" bIns="0" rtlCol="0" anchor="ctr"/>
          <a:lstStyle/>
          <a:p>
            <a:r>
              <a:rPr lang="en-US" sz="1200" b="1" dirty="0">
                <a:solidFill>
                  <a:srgbClr val="EF4922"/>
                </a:solidFill>
                <a:latin typeface="Century Gothic" pitchFamily="34" charset="0"/>
              </a:rPr>
              <a:t>Mashreq</a:t>
            </a:r>
          </a:p>
        </p:txBody>
      </p:sp>
      <p:sp>
        <p:nvSpPr>
          <p:cNvPr id="38" name="Text 33">
            <a:extLst>
              <a:ext uri="{FF2B5EF4-FFF2-40B4-BE49-F238E27FC236}">
                <a16:creationId xmlns:a16="http://schemas.microsoft.com/office/drawing/2014/main" id="{66E98996-BA6B-F4CA-79CD-65B83E726B96}"/>
              </a:ext>
            </a:extLst>
          </p:cNvPr>
          <p:cNvSpPr txBox="1"/>
          <p:nvPr/>
        </p:nvSpPr>
        <p:spPr>
          <a:xfrm>
            <a:off x="4618932" y="2240280"/>
            <a:ext cx="1554480" cy="201168"/>
          </a:xfrm>
          <a:prstGeom prst="rect">
            <a:avLst/>
          </a:prstGeom>
          <a:noFill/>
          <a:ln/>
        </p:spPr>
        <p:txBody>
          <a:bodyPr wrap="square" lIns="0" tIns="0" rIns="0" bIns="0" rtlCol="0" anchor="ctr"/>
          <a:lstStyle/>
          <a:p>
            <a:pPr marL="0" indent="0">
              <a:buNone/>
            </a:pPr>
            <a:r>
              <a:rPr lang="en-US" sz="1000" dirty="0">
                <a:solidFill>
                  <a:srgbClr val="4A5568"/>
                </a:solidFill>
                <a:latin typeface="Century Gothic" pitchFamily="34" charset="0"/>
                <a:ea typeface="Century Gothic" pitchFamily="34" charset="-122"/>
                <a:cs typeface="Century Gothic" pitchFamily="34" charset="-120"/>
              </a:rPr>
              <a:t>Primary Datacenter</a:t>
            </a:r>
            <a:endParaRPr lang="en-US" sz="1000" dirty="0"/>
          </a:p>
        </p:txBody>
      </p:sp>
      <p:sp>
        <p:nvSpPr>
          <p:cNvPr id="39" name="Shape 34">
            <a:extLst>
              <a:ext uri="{FF2B5EF4-FFF2-40B4-BE49-F238E27FC236}">
                <a16:creationId xmlns:a16="http://schemas.microsoft.com/office/drawing/2014/main" id="{DF8DECC8-305B-F834-A61D-95ECFCEF935C}"/>
              </a:ext>
            </a:extLst>
          </p:cNvPr>
          <p:cNvSpPr/>
          <p:nvPr/>
        </p:nvSpPr>
        <p:spPr>
          <a:xfrm>
            <a:off x="5679636" y="2029968"/>
            <a:ext cx="420624" cy="201168"/>
          </a:xfrm>
          <a:prstGeom prst="roundRect">
            <a:avLst>
              <a:gd name="adj" fmla="val 50000"/>
            </a:avLst>
          </a:prstGeom>
          <a:solidFill>
            <a:srgbClr val="4A5568"/>
          </a:solidFill>
          <a:ln/>
        </p:spPr>
        <p:txBody>
          <a:bodyPr/>
          <a:lstStyle/>
          <a:p>
            <a:endParaRPr lang="en-US"/>
          </a:p>
        </p:txBody>
      </p:sp>
      <p:sp>
        <p:nvSpPr>
          <p:cNvPr id="40" name="Text 35">
            <a:extLst>
              <a:ext uri="{FF2B5EF4-FFF2-40B4-BE49-F238E27FC236}">
                <a16:creationId xmlns:a16="http://schemas.microsoft.com/office/drawing/2014/main" id="{9ED6649D-9F23-0FAC-5625-DFA4914B171F}"/>
              </a:ext>
            </a:extLst>
          </p:cNvPr>
          <p:cNvSpPr txBox="1"/>
          <p:nvPr/>
        </p:nvSpPr>
        <p:spPr>
          <a:xfrm>
            <a:off x="5679636" y="2029968"/>
            <a:ext cx="420624"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entury Gothic" pitchFamily="34" charset="0"/>
                <a:ea typeface="Century Gothic" pitchFamily="34" charset="-122"/>
                <a:cs typeface="Century Gothic" pitchFamily="34" charset="-120"/>
              </a:rPr>
              <a:t>DOZ</a:t>
            </a:r>
            <a:endParaRPr lang="en-US" sz="800" dirty="0"/>
          </a:p>
        </p:txBody>
      </p:sp>
      <p:pic>
        <p:nvPicPr>
          <p:cNvPr id="41" name="Image 3" descr="preencoded.png">
            <a:extLst>
              <a:ext uri="{FF2B5EF4-FFF2-40B4-BE49-F238E27FC236}">
                <a16:creationId xmlns:a16="http://schemas.microsoft.com/office/drawing/2014/main" id="{63D575ED-370A-8C1B-2AA7-6E22F308AA29}"/>
              </a:ext>
            </a:extLst>
          </p:cNvPr>
          <p:cNvPicPr>
            <a:picLocks noChangeAspect="1"/>
          </p:cNvPicPr>
          <p:nvPr/>
        </p:nvPicPr>
        <p:blipFill>
          <a:blip r:embed="rId6"/>
          <a:stretch>
            <a:fillRect/>
          </a:stretch>
        </p:blipFill>
        <p:spPr>
          <a:xfrm>
            <a:off x="5012124" y="2546055"/>
            <a:ext cx="694944" cy="430865"/>
          </a:xfrm>
          <a:prstGeom prst="rect">
            <a:avLst/>
          </a:prstGeom>
        </p:spPr>
      </p:pic>
      <p:sp>
        <p:nvSpPr>
          <p:cNvPr id="42" name="Shape 36">
            <a:extLst>
              <a:ext uri="{FF2B5EF4-FFF2-40B4-BE49-F238E27FC236}">
                <a16:creationId xmlns:a16="http://schemas.microsoft.com/office/drawing/2014/main" id="{AA7EB87A-8824-CD64-783F-4CF58460A1BA}"/>
              </a:ext>
            </a:extLst>
          </p:cNvPr>
          <p:cNvSpPr/>
          <p:nvPr/>
        </p:nvSpPr>
        <p:spPr>
          <a:xfrm>
            <a:off x="4490916" y="4114800"/>
            <a:ext cx="1737360" cy="1280160"/>
          </a:xfrm>
          <a:prstGeom prst="roundRect">
            <a:avLst>
              <a:gd name="adj" fmla="val 7143"/>
            </a:avLst>
          </a:prstGeom>
          <a:solidFill>
            <a:srgbClr val="F3F4F7"/>
          </a:solidFill>
          <a:ln w="15875">
            <a:solidFill>
              <a:srgbClr val="8C95A6"/>
            </a:solidFill>
            <a:prstDash val="solid"/>
          </a:ln>
          <a:effectLst>
            <a:outerShdw blurRad="76200" dist="25400" dir="5400000" algn="bl" rotWithShape="0">
              <a:srgbClr val="1F2A44">
                <a:alpha val="14000"/>
              </a:srgbClr>
            </a:outerShdw>
          </a:effectLst>
        </p:spPr>
        <p:txBody>
          <a:bodyPr/>
          <a:lstStyle/>
          <a:p>
            <a:endParaRPr lang="en-US"/>
          </a:p>
        </p:txBody>
      </p:sp>
      <p:sp>
        <p:nvSpPr>
          <p:cNvPr id="43" name="Text 37">
            <a:extLst>
              <a:ext uri="{FF2B5EF4-FFF2-40B4-BE49-F238E27FC236}">
                <a16:creationId xmlns:a16="http://schemas.microsoft.com/office/drawing/2014/main" id="{1FBB8361-EA94-05C3-78B0-5113628B4158}"/>
              </a:ext>
            </a:extLst>
          </p:cNvPr>
          <p:cNvSpPr txBox="1"/>
          <p:nvPr/>
        </p:nvSpPr>
        <p:spPr>
          <a:xfrm>
            <a:off x="4618932" y="4206240"/>
            <a:ext cx="914400" cy="237744"/>
          </a:xfrm>
          <a:prstGeom prst="rect">
            <a:avLst/>
          </a:prstGeom>
          <a:noFill/>
          <a:ln/>
        </p:spPr>
        <p:txBody>
          <a:bodyPr wrap="square" lIns="0" tIns="0" rIns="0" bIns="0" rtlCol="0" anchor="ctr"/>
          <a:lstStyle/>
          <a:p>
            <a:r>
              <a:rPr lang="en-US" sz="1200" b="1" dirty="0">
                <a:solidFill>
                  <a:srgbClr val="EF4922"/>
                </a:solidFill>
                <a:latin typeface="Century Gothic" pitchFamily="34" charset="0"/>
              </a:rPr>
              <a:t>Mashreq</a:t>
            </a:r>
          </a:p>
        </p:txBody>
      </p:sp>
      <p:sp>
        <p:nvSpPr>
          <p:cNvPr id="44" name="Text 38">
            <a:extLst>
              <a:ext uri="{FF2B5EF4-FFF2-40B4-BE49-F238E27FC236}">
                <a16:creationId xmlns:a16="http://schemas.microsoft.com/office/drawing/2014/main" id="{6CE0937A-8804-FD40-653A-A29845B019F4}"/>
              </a:ext>
            </a:extLst>
          </p:cNvPr>
          <p:cNvSpPr txBox="1"/>
          <p:nvPr/>
        </p:nvSpPr>
        <p:spPr>
          <a:xfrm>
            <a:off x="4618932" y="4434840"/>
            <a:ext cx="1554480" cy="201168"/>
          </a:xfrm>
          <a:prstGeom prst="rect">
            <a:avLst/>
          </a:prstGeom>
          <a:noFill/>
          <a:ln/>
        </p:spPr>
        <p:txBody>
          <a:bodyPr wrap="square" lIns="0" tIns="0" rIns="0" bIns="0" rtlCol="0" anchor="ctr"/>
          <a:lstStyle/>
          <a:p>
            <a:pPr marL="0" indent="0">
              <a:buNone/>
            </a:pPr>
            <a:r>
              <a:rPr lang="en-US" sz="1000" dirty="0">
                <a:solidFill>
                  <a:srgbClr val="4A5568"/>
                </a:solidFill>
                <a:latin typeface="Century Gothic" pitchFamily="34" charset="0"/>
                <a:ea typeface="Century Gothic" pitchFamily="34" charset="-122"/>
                <a:cs typeface="Century Gothic" pitchFamily="34" charset="-120"/>
              </a:rPr>
              <a:t>Secondary Datacenter</a:t>
            </a:r>
            <a:endParaRPr lang="en-US" sz="1000" dirty="0"/>
          </a:p>
        </p:txBody>
      </p:sp>
      <p:sp>
        <p:nvSpPr>
          <p:cNvPr id="45" name="Shape 39">
            <a:extLst>
              <a:ext uri="{FF2B5EF4-FFF2-40B4-BE49-F238E27FC236}">
                <a16:creationId xmlns:a16="http://schemas.microsoft.com/office/drawing/2014/main" id="{3E341DC1-B7BB-6899-04F5-762D090D1914}"/>
              </a:ext>
            </a:extLst>
          </p:cNvPr>
          <p:cNvSpPr/>
          <p:nvPr/>
        </p:nvSpPr>
        <p:spPr>
          <a:xfrm>
            <a:off x="5679636" y="4224528"/>
            <a:ext cx="420624" cy="201168"/>
          </a:xfrm>
          <a:prstGeom prst="roundRect">
            <a:avLst>
              <a:gd name="adj" fmla="val 50000"/>
            </a:avLst>
          </a:prstGeom>
          <a:solidFill>
            <a:srgbClr val="4A5568"/>
          </a:solidFill>
          <a:ln/>
        </p:spPr>
        <p:txBody>
          <a:bodyPr/>
          <a:lstStyle/>
          <a:p>
            <a:endParaRPr lang="en-US"/>
          </a:p>
        </p:txBody>
      </p:sp>
      <p:sp>
        <p:nvSpPr>
          <p:cNvPr id="46" name="Text 40">
            <a:extLst>
              <a:ext uri="{FF2B5EF4-FFF2-40B4-BE49-F238E27FC236}">
                <a16:creationId xmlns:a16="http://schemas.microsoft.com/office/drawing/2014/main" id="{7392C1CE-88C4-0B50-8173-F86D7E651A37}"/>
              </a:ext>
            </a:extLst>
          </p:cNvPr>
          <p:cNvSpPr txBox="1"/>
          <p:nvPr/>
        </p:nvSpPr>
        <p:spPr>
          <a:xfrm>
            <a:off x="5679636" y="4224528"/>
            <a:ext cx="420624"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entury Gothic" pitchFamily="34" charset="0"/>
                <a:ea typeface="Century Gothic" pitchFamily="34" charset="-122"/>
                <a:cs typeface="Century Gothic" pitchFamily="34" charset="-120"/>
              </a:rPr>
              <a:t>DR</a:t>
            </a:r>
            <a:endParaRPr lang="en-US" sz="800" dirty="0"/>
          </a:p>
        </p:txBody>
      </p:sp>
      <p:pic>
        <p:nvPicPr>
          <p:cNvPr id="47" name="Image 4" descr="preencoded.png">
            <a:extLst>
              <a:ext uri="{FF2B5EF4-FFF2-40B4-BE49-F238E27FC236}">
                <a16:creationId xmlns:a16="http://schemas.microsoft.com/office/drawing/2014/main" id="{5EE543F4-129D-F985-A2B3-716A5EDA9A80}"/>
              </a:ext>
            </a:extLst>
          </p:cNvPr>
          <p:cNvPicPr>
            <a:picLocks noChangeAspect="1"/>
          </p:cNvPicPr>
          <p:nvPr/>
        </p:nvPicPr>
        <p:blipFill>
          <a:blip r:embed="rId6"/>
          <a:stretch>
            <a:fillRect/>
          </a:stretch>
        </p:blipFill>
        <p:spPr>
          <a:xfrm>
            <a:off x="5012124" y="4740615"/>
            <a:ext cx="694944" cy="430865"/>
          </a:xfrm>
          <a:prstGeom prst="rect">
            <a:avLst/>
          </a:prstGeom>
        </p:spPr>
      </p:pic>
      <p:sp>
        <p:nvSpPr>
          <p:cNvPr id="48" name="Shape 41">
            <a:extLst>
              <a:ext uri="{FF2B5EF4-FFF2-40B4-BE49-F238E27FC236}">
                <a16:creationId xmlns:a16="http://schemas.microsoft.com/office/drawing/2014/main" id="{7F13AC3D-F409-C983-A694-2C49AE642AC8}"/>
              </a:ext>
            </a:extLst>
          </p:cNvPr>
          <p:cNvSpPr/>
          <p:nvPr/>
        </p:nvSpPr>
        <p:spPr>
          <a:xfrm>
            <a:off x="9794436" y="1920240"/>
            <a:ext cx="2221992" cy="1280160"/>
          </a:xfrm>
          <a:prstGeom prst="roundRect">
            <a:avLst>
              <a:gd name="adj" fmla="val 7143"/>
            </a:avLst>
          </a:prstGeom>
          <a:solidFill>
            <a:srgbClr val="EEF2FA"/>
          </a:solidFill>
          <a:ln w="15875">
            <a:solidFill>
              <a:srgbClr val="213C81"/>
            </a:solidFill>
            <a:prstDash val="solid"/>
          </a:ln>
          <a:effectLst>
            <a:outerShdw blurRad="76200" dist="25400" dir="5400000" algn="bl" rotWithShape="0">
              <a:srgbClr val="1F2A44">
                <a:alpha val="14000"/>
              </a:srgbClr>
            </a:outerShdw>
          </a:effectLst>
        </p:spPr>
        <p:txBody>
          <a:bodyPr/>
          <a:lstStyle/>
          <a:p>
            <a:endParaRPr lang="en-US"/>
          </a:p>
        </p:txBody>
      </p:sp>
      <p:sp>
        <p:nvSpPr>
          <p:cNvPr id="50" name="Text 43">
            <a:extLst>
              <a:ext uri="{FF2B5EF4-FFF2-40B4-BE49-F238E27FC236}">
                <a16:creationId xmlns:a16="http://schemas.microsoft.com/office/drawing/2014/main" id="{FE881A49-F19C-0F45-8838-A9F76F1B039E}"/>
              </a:ext>
            </a:extLst>
          </p:cNvPr>
          <p:cNvSpPr txBox="1"/>
          <p:nvPr/>
        </p:nvSpPr>
        <p:spPr>
          <a:xfrm>
            <a:off x="9922452" y="2240280"/>
            <a:ext cx="2039112" cy="201168"/>
          </a:xfrm>
          <a:prstGeom prst="rect">
            <a:avLst/>
          </a:prstGeom>
          <a:noFill/>
          <a:ln/>
        </p:spPr>
        <p:txBody>
          <a:bodyPr wrap="square" lIns="0" tIns="0" rIns="0" bIns="0" rtlCol="0" anchor="ctr"/>
          <a:lstStyle/>
          <a:p>
            <a:pPr marL="0" indent="0">
              <a:buNone/>
            </a:pPr>
            <a:r>
              <a:rPr lang="en-US" sz="1000" dirty="0">
                <a:solidFill>
                  <a:srgbClr val="4A5568"/>
                </a:solidFill>
                <a:latin typeface="Century Gothic" pitchFamily="34" charset="0"/>
                <a:ea typeface="Century Gothic" pitchFamily="34" charset="-122"/>
                <a:cs typeface="Century Gothic" pitchFamily="34" charset="-120"/>
              </a:rPr>
              <a:t>Primary Datacenter</a:t>
            </a:r>
            <a:endParaRPr lang="en-US" sz="1000" dirty="0"/>
          </a:p>
        </p:txBody>
      </p:sp>
      <p:pic>
        <p:nvPicPr>
          <p:cNvPr id="51" name="Image 5" descr="preencoded.png">
            <a:extLst>
              <a:ext uri="{FF2B5EF4-FFF2-40B4-BE49-F238E27FC236}">
                <a16:creationId xmlns:a16="http://schemas.microsoft.com/office/drawing/2014/main" id="{6D5EB4A9-1001-8B20-CAAD-B8D6CB00588C}"/>
              </a:ext>
            </a:extLst>
          </p:cNvPr>
          <p:cNvPicPr>
            <a:picLocks noChangeAspect="1"/>
          </p:cNvPicPr>
          <p:nvPr/>
        </p:nvPicPr>
        <p:blipFill>
          <a:blip r:embed="rId6"/>
          <a:stretch>
            <a:fillRect/>
          </a:stretch>
        </p:blipFill>
        <p:spPr>
          <a:xfrm>
            <a:off x="9977316" y="2539106"/>
            <a:ext cx="658368" cy="408188"/>
          </a:xfrm>
          <a:prstGeom prst="rect">
            <a:avLst/>
          </a:prstGeom>
        </p:spPr>
      </p:pic>
      <p:sp>
        <p:nvSpPr>
          <p:cNvPr id="52" name="Shape 44">
            <a:extLst>
              <a:ext uri="{FF2B5EF4-FFF2-40B4-BE49-F238E27FC236}">
                <a16:creationId xmlns:a16="http://schemas.microsoft.com/office/drawing/2014/main" id="{E5CDC1A8-BBEE-F286-6FCD-395B0B94EE60}"/>
              </a:ext>
            </a:extLst>
          </p:cNvPr>
          <p:cNvSpPr/>
          <p:nvPr/>
        </p:nvSpPr>
        <p:spPr>
          <a:xfrm>
            <a:off x="10635684" y="2743200"/>
            <a:ext cx="530352" cy="0"/>
          </a:xfrm>
          <a:prstGeom prst="line">
            <a:avLst/>
          </a:prstGeom>
          <a:noFill/>
          <a:ln w="19050">
            <a:solidFill>
              <a:srgbClr val="8C95A6"/>
            </a:solidFill>
            <a:prstDash val="solid"/>
          </a:ln>
        </p:spPr>
        <p:txBody>
          <a:bodyPr/>
          <a:lstStyle/>
          <a:p>
            <a:endParaRPr lang="en-US"/>
          </a:p>
        </p:txBody>
      </p:sp>
      <p:pic>
        <p:nvPicPr>
          <p:cNvPr id="53" name="Image 6" descr="preencoded.png">
            <a:extLst>
              <a:ext uri="{FF2B5EF4-FFF2-40B4-BE49-F238E27FC236}">
                <a16:creationId xmlns:a16="http://schemas.microsoft.com/office/drawing/2014/main" id="{810ECB5C-9F20-D7A7-0B21-83ADDD65B6EB}"/>
              </a:ext>
            </a:extLst>
          </p:cNvPr>
          <p:cNvPicPr>
            <a:picLocks noChangeAspect="1"/>
          </p:cNvPicPr>
          <p:nvPr/>
        </p:nvPicPr>
        <p:blipFill>
          <a:blip r:embed="rId7"/>
          <a:stretch>
            <a:fillRect/>
          </a:stretch>
        </p:blipFill>
        <p:spPr>
          <a:xfrm>
            <a:off x="11166036" y="2531745"/>
            <a:ext cx="338328" cy="422910"/>
          </a:xfrm>
          <a:prstGeom prst="rect">
            <a:avLst/>
          </a:prstGeom>
        </p:spPr>
      </p:pic>
      <p:sp>
        <p:nvSpPr>
          <p:cNvPr id="55" name="Shape 46">
            <a:extLst>
              <a:ext uri="{FF2B5EF4-FFF2-40B4-BE49-F238E27FC236}">
                <a16:creationId xmlns:a16="http://schemas.microsoft.com/office/drawing/2014/main" id="{3FDB5A8F-ED25-74C2-9B79-1F71BBD0A801}"/>
              </a:ext>
            </a:extLst>
          </p:cNvPr>
          <p:cNvSpPr/>
          <p:nvPr/>
        </p:nvSpPr>
        <p:spPr>
          <a:xfrm>
            <a:off x="9794436" y="4114800"/>
            <a:ext cx="2221992" cy="1280160"/>
          </a:xfrm>
          <a:prstGeom prst="roundRect">
            <a:avLst>
              <a:gd name="adj" fmla="val 7143"/>
            </a:avLst>
          </a:prstGeom>
          <a:solidFill>
            <a:srgbClr val="F1F8EC"/>
          </a:solidFill>
          <a:ln w="15875">
            <a:solidFill>
              <a:srgbClr val="213C81"/>
            </a:solidFill>
            <a:prstDash val="solid"/>
          </a:ln>
          <a:effectLst>
            <a:outerShdw blurRad="76200" dist="25400" dir="5400000" algn="bl" rotWithShape="0">
              <a:srgbClr val="1F2A44">
                <a:alpha val="14000"/>
              </a:srgbClr>
            </a:outerShdw>
          </a:effectLst>
        </p:spPr>
        <p:txBody>
          <a:bodyPr/>
          <a:lstStyle/>
          <a:p>
            <a:endParaRPr lang="en-US"/>
          </a:p>
        </p:txBody>
      </p:sp>
      <p:sp>
        <p:nvSpPr>
          <p:cNvPr id="57" name="Text 48">
            <a:extLst>
              <a:ext uri="{FF2B5EF4-FFF2-40B4-BE49-F238E27FC236}">
                <a16:creationId xmlns:a16="http://schemas.microsoft.com/office/drawing/2014/main" id="{9A2D36D2-2FB7-F3E5-FA04-74D05C1C5958}"/>
              </a:ext>
            </a:extLst>
          </p:cNvPr>
          <p:cNvSpPr txBox="1"/>
          <p:nvPr/>
        </p:nvSpPr>
        <p:spPr>
          <a:xfrm>
            <a:off x="9922452" y="4434840"/>
            <a:ext cx="2039112" cy="201168"/>
          </a:xfrm>
          <a:prstGeom prst="rect">
            <a:avLst/>
          </a:prstGeom>
          <a:noFill/>
          <a:ln/>
        </p:spPr>
        <p:txBody>
          <a:bodyPr wrap="square" lIns="0" tIns="0" rIns="0" bIns="0" rtlCol="0" anchor="ctr"/>
          <a:lstStyle/>
          <a:p>
            <a:pPr marL="0" indent="0">
              <a:buNone/>
            </a:pPr>
            <a:r>
              <a:rPr lang="en-US" sz="1000" dirty="0">
                <a:solidFill>
                  <a:srgbClr val="4A5568"/>
                </a:solidFill>
                <a:latin typeface="Century Gothic" pitchFamily="34" charset="0"/>
                <a:ea typeface="Century Gothic" pitchFamily="34" charset="-122"/>
                <a:cs typeface="Century Gothic" pitchFamily="34" charset="-120"/>
              </a:rPr>
              <a:t>Secondary Datacenter</a:t>
            </a:r>
            <a:endParaRPr lang="en-US" sz="1000" dirty="0"/>
          </a:p>
        </p:txBody>
      </p:sp>
      <p:pic>
        <p:nvPicPr>
          <p:cNvPr id="58" name="Image 7" descr="preencoded.png">
            <a:extLst>
              <a:ext uri="{FF2B5EF4-FFF2-40B4-BE49-F238E27FC236}">
                <a16:creationId xmlns:a16="http://schemas.microsoft.com/office/drawing/2014/main" id="{7ABBF785-5C1F-3044-FD97-E1646205899C}"/>
              </a:ext>
            </a:extLst>
          </p:cNvPr>
          <p:cNvPicPr>
            <a:picLocks noChangeAspect="1"/>
          </p:cNvPicPr>
          <p:nvPr/>
        </p:nvPicPr>
        <p:blipFill>
          <a:blip r:embed="rId6"/>
          <a:stretch>
            <a:fillRect/>
          </a:stretch>
        </p:blipFill>
        <p:spPr>
          <a:xfrm>
            <a:off x="9977316" y="4733666"/>
            <a:ext cx="658368" cy="408188"/>
          </a:xfrm>
          <a:prstGeom prst="rect">
            <a:avLst/>
          </a:prstGeom>
        </p:spPr>
      </p:pic>
      <p:sp>
        <p:nvSpPr>
          <p:cNvPr id="59" name="Shape 49">
            <a:extLst>
              <a:ext uri="{FF2B5EF4-FFF2-40B4-BE49-F238E27FC236}">
                <a16:creationId xmlns:a16="http://schemas.microsoft.com/office/drawing/2014/main" id="{7F7A6BCB-C8D8-17AE-F44E-7882EA234FAD}"/>
              </a:ext>
            </a:extLst>
          </p:cNvPr>
          <p:cNvSpPr/>
          <p:nvPr/>
        </p:nvSpPr>
        <p:spPr>
          <a:xfrm>
            <a:off x="10635684" y="4937760"/>
            <a:ext cx="530352" cy="0"/>
          </a:xfrm>
          <a:prstGeom prst="line">
            <a:avLst/>
          </a:prstGeom>
          <a:noFill/>
          <a:ln w="19050">
            <a:solidFill>
              <a:srgbClr val="8C95A6"/>
            </a:solidFill>
            <a:prstDash val="solid"/>
          </a:ln>
        </p:spPr>
        <p:txBody>
          <a:bodyPr/>
          <a:lstStyle/>
          <a:p>
            <a:endParaRPr lang="en-US"/>
          </a:p>
        </p:txBody>
      </p:sp>
      <p:pic>
        <p:nvPicPr>
          <p:cNvPr id="60" name="Image 8" descr="preencoded.png">
            <a:extLst>
              <a:ext uri="{FF2B5EF4-FFF2-40B4-BE49-F238E27FC236}">
                <a16:creationId xmlns:a16="http://schemas.microsoft.com/office/drawing/2014/main" id="{E508EF1F-1D47-BEA5-5960-AFB9BCD86A80}"/>
              </a:ext>
            </a:extLst>
          </p:cNvPr>
          <p:cNvPicPr>
            <a:picLocks noChangeAspect="1"/>
          </p:cNvPicPr>
          <p:nvPr/>
        </p:nvPicPr>
        <p:blipFill>
          <a:blip r:embed="rId7"/>
          <a:stretch>
            <a:fillRect/>
          </a:stretch>
        </p:blipFill>
        <p:spPr>
          <a:xfrm>
            <a:off x="11166036" y="4726305"/>
            <a:ext cx="338328" cy="422910"/>
          </a:xfrm>
          <a:prstGeom prst="rect">
            <a:avLst/>
          </a:prstGeom>
        </p:spPr>
      </p:pic>
      <p:sp>
        <p:nvSpPr>
          <p:cNvPr id="62" name="Shape 51">
            <a:extLst>
              <a:ext uri="{FF2B5EF4-FFF2-40B4-BE49-F238E27FC236}">
                <a16:creationId xmlns:a16="http://schemas.microsoft.com/office/drawing/2014/main" id="{21C04D93-1FDF-B5F1-401E-15696DA0CC00}"/>
              </a:ext>
            </a:extLst>
          </p:cNvPr>
          <p:cNvSpPr/>
          <p:nvPr/>
        </p:nvSpPr>
        <p:spPr>
          <a:xfrm>
            <a:off x="4710372" y="3520440"/>
            <a:ext cx="1298448" cy="274320"/>
          </a:xfrm>
          <a:prstGeom prst="roundRect">
            <a:avLst>
              <a:gd name="adj" fmla="val 50000"/>
            </a:avLst>
          </a:prstGeom>
          <a:solidFill>
            <a:srgbClr val="FFFFFF"/>
          </a:solidFill>
          <a:ln w="12700">
            <a:solidFill>
              <a:srgbClr val="2F3747"/>
            </a:solidFill>
            <a:prstDash val="solid"/>
          </a:ln>
        </p:spPr>
        <p:txBody>
          <a:bodyPr/>
          <a:lstStyle/>
          <a:p>
            <a:endParaRPr lang="en-US"/>
          </a:p>
        </p:txBody>
      </p:sp>
      <p:sp>
        <p:nvSpPr>
          <p:cNvPr id="63" name="Text 52">
            <a:extLst>
              <a:ext uri="{FF2B5EF4-FFF2-40B4-BE49-F238E27FC236}">
                <a16:creationId xmlns:a16="http://schemas.microsoft.com/office/drawing/2014/main" id="{EBFE48C4-6FCA-8A3C-56B5-7D0AB0146505}"/>
              </a:ext>
            </a:extLst>
          </p:cNvPr>
          <p:cNvSpPr txBox="1"/>
          <p:nvPr/>
        </p:nvSpPr>
        <p:spPr>
          <a:xfrm>
            <a:off x="4710372" y="3520440"/>
            <a:ext cx="1298448" cy="274320"/>
          </a:xfrm>
          <a:prstGeom prst="rect">
            <a:avLst/>
          </a:prstGeom>
          <a:noFill/>
          <a:ln/>
        </p:spPr>
        <p:txBody>
          <a:bodyPr wrap="square" lIns="0" tIns="0" rIns="0" bIns="0" rtlCol="0" anchor="ctr"/>
          <a:lstStyle/>
          <a:p>
            <a:pPr marL="0" indent="0" algn="ctr">
              <a:buNone/>
            </a:pPr>
            <a:r>
              <a:rPr lang="en-US" sz="900" b="1" dirty="0">
                <a:solidFill>
                  <a:srgbClr val="2F3747"/>
                </a:solidFill>
                <a:latin typeface="Century Gothic" pitchFamily="34" charset="0"/>
                <a:ea typeface="Century Gothic" pitchFamily="34" charset="-122"/>
                <a:cs typeface="Century Gothic" pitchFamily="34" charset="-120"/>
              </a:rPr>
              <a:t>Inter-DC link · 10G</a:t>
            </a:r>
            <a:endParaRPr lang="en-US" sz="900" dirty="0"/>
          </a:p>
        </p:txBody>
      </p:sp>
      <p:sp>
        <p:nvSpPr>
          <p:cNvPr id="64" name="Shape 53">
            <a:extLst>
              <a:ext uri="{FF2B5EF4-FFF2-40B4-BE49-F238E27FC236}">
                <a16:creationId xmlns:a16="http://schemas.microsoft.com/office/drawing/2014/main" id="{13223EE9-F04E-F8D0-9948-8C18EAC7AC61}"/>
              </a:ext>
            </a:extLst>
          </p:cNvPr>
          <p:cNvSpPr/>
          <p:nvPr/>
        </p:nvSpPr>
        <p:spPr>
          <a:xfrm>
            <a:off x="10256208" y="3520440"/>
            <a:ext cx="1298448" cy="274320"/>
          </a:xfrm>
          <a:prstGeom prst="roundRect">
            <a:avLst>
              <a:gd name="adj" fmla="val 50000"/>
            </a:avLst>
          </a:prstGeom>
          <a:solidFill>
            <a:srgbClr val="FFFFFF"/>
          </a:solidFill>
          <a:ln w="12700">
            <a:solidFill>
              <a:srgbClr val="2F3747"/>
            </a:solidFill>
            <a:prstDash val="solid"/>
          </a:ln>
        </p:spPr>
        <p:txBody>
          <a:bodyPr/>
          <a:lstStyle/>
          <a:p>
            <a:endParaRPr lang="en-US"/>
          </a:p>
        </p:txBody>
      </p:sp>
      <p:sp>
        <p:nvSpPr>
          <p:cNvPr id="65" name="Text 54">
            <a:extLst>
              <a:ext uri="{FF2B5EF4-FFF2-40B4-BE49-F238E27FC236}">
                <a16:creationId xmlns:a16="http://schemas.microsoft.com/office/drawing/2014/main" id="{073EEF13-D9C7-0032-9D3B-13DF10AD400E}"/>
              </a:ext>
            </a:extLst>
          </p:cNvPr>
          <p:cNvSpPr txBox="1"/>
          <p:nvPr/>
        </p:nvSpPr>
        <p:spPr>
          <a:xfrm>
            <a:off x="10256208" y="3520441"/>
            <a:ext cx="1298448" cy="274320"/>
          </a:xfrm>
          <a:prstGeom prst="rect">
            <a:avLst/>
          </a:prstGeom>
          <a:noFill/>
          <a:ln/>
        </p:spPr>
        <p:txBody>
          <a:bodyPr wrap="square" lIns="0" tIns="0" rIns="0" bIns="0" rtlCol="0" anchor="ctr"/>
          <a:lstStyle/>
          <a:p>
            <a:pPr marL="0" indent="0" algn="ctr">
              <a:buNone/>
            </a:pPr>
            <a:r>
              <a:rPr lang="en-US" sz="900" b="1" dirty="0">
                <a:solidFill>
                  <a:srgbClr val="2F3747"/>
                </a:solidFill>
                <a:latin typeface="Century Gothic" pitchFamily="34" charset="0"/>
                <a:ea typeface="Century Gothic" pitchFamily="34" charset="-122"/>
                <a:cs typeface="Century Gothic" pitchFamily="34" charset="-120"/>
              </a:rPr>
              <a:t>Inter-DC link · 2G</a:t>
            </a:r>
            <a:endParaRPr lang="en-US" sz="900" dirty="0"/>
          </a:p>
        </p:txBody>
      </p:sp>
      <p:sp>
        <p:nvSpPr>
          <p:cNvPr id="66" name="Text 55">
            <a:extLst>
              <a:ext uri="{FF2B5EF4-FFF2-40B4-BE49-F238E27FC236}">
                <a16:creationId xmlns:a16="http://schemas.microsoft.com/office/drawing/2014/main" id="{E6F02E36-CF16-A91B-4B6C-44D6D942508A}"/>
              </a:ext>
            </a:extLst>
          </p:cNvPr>
          <p:cNvSpPr txBox="1"/>
          <p:nvPr/>
        </p:nvSpPr>
        <p:spPr>
          <a:xfrm>
            <a:off x="2212848" y="1481328"/>
            <a:ext cx="1828800" cy="219456"/>
          </a:xfrm>
          <a:prstGeom prst="rect">
            <a:avLst/>
          </a:prstGeom>
          <a:noFill/>
          <a:ln/>
        </p:spPr>
        <p:txBody>
          <a:bodyPr wrap="square" lIns="0" tIns="0" rIns="0" bIns="0" rtlCol="0" anchor="ctr"/>
          <a:lstStyle/>
          <a:p>
            <a:pPr marL="0" indent="0" algn="ctr">
              <a:buNone/>
            </a:pPr>
            <a:r>
              <a:rPr lang="en-US" sz="1100" b="1" dirty="0">
                <a:solidFill>
                  <a:srgbClr val="1B8A3E"/>
                </a:solidFill>
                <a:latin typeface="Century Gothic" pitchFamily="34" charset="0"/>
                <a:ea typeface="Century Gothic" pitchFamily="34" charset="-122"/>
                <a:cs typeface="Century Gothic" pitchFamily="34" charset="-120"/>
              </a:rPr>
              <a:t>Etisalat GPRS Cloud</a:t>
            </a:r>
            <a:endParaRPr lang="en-US" sz="1100" dirty="0"/>
          </a:p>
        </p:txBody>
      </p:sp>
      <p:sp>
        <p:nvSpPr>
          <p:cNvPr id="67" name="Text 56">
            <a:extLst>
              <a:ext uri="{FF2B5EF4-FFF2-40B4-BE49-F238E27FC236}">
                <a16:creationId xmlns:a16="http://schemas.microsoft.com/office/drawing/2014/main" id="{84A57819-C449-DF42-3862-6C8CDF46E440}"/>
              </a:ext>
            </a:extLst>
          </p:cNvPr>
          <p:cNvSpPr txBox="1"/>
          <p:nvPr/>
        </p:nvSpPr>
        <p:spPr>
          <a:xfrm>
            <a:off x="2212848" y="1700784"/>
            <a:ext cx="1828800" cy="182880"/>
          </a:xfrm>
          <a:prstGeom prst="rect">
            <a:avLst/>
          </a:prstGeom>
          <a:noFill/>
          <a:ln/>
        </p:spPr>
        <p:txBody>
          <a:bodyPr wrap="square" lIns="0" tIns="0" rIns="0" bIns="0" rtlCol="0" anchor="ctr"/>
          <a:lstStyle/>
          <a:p>
            <a:pPr marL="0" indent="0" algn="ctr">
              <a:buNone/>
            </a:pPr>
            <a:r>
              <a:rPr lang="en-US" sz="900" dirty="0">
                <a:solidFill>
                  <a:srgbClr val="667085"/>
                </a:solidFill>
                <a:latin typeface="Century Gothic" pitchFamily="34" charset="0"/>
                <a:ea typeface="Century Gothic" pitchFamily="34" charset="-122"/>
                <a:cs typeface="Century Gothic" pitchFamily="34" charset="-120"/>
              </a:rPr>
              <a:t>3 × 100 Mbps links to Mashreq</a:t>
            </a:r>
            <a:endParaRPr lang="en-US" sz="900" dirty="0"/>
          </a:p>
        </p:txBody>
      </p:sp>
      <p:sp>
        <p:nvSpPr>
          <p:cNvPr id="68" name="Text 57">
            <a:extLst>
              <a:ext uri="{FF2B5EF4-FFF2-40B4-BE49-F238E27FC236}">
                <a16:creationId xmlns:a16="http://schemas.microsoft.com/office/drawing/2014/main" id="{7A86D1D8-76E5-AD31-855D-9F1C39E25D0C}"/>
              </a:ext>
            </a:extLst>
          </p:cNvPr>
          <p:cNvSpPr txBox="1"/>
          <p:nvPr/>
        </p:nvSpPr>
        <p:spPr>
          <a:xfrm>
            <a:off x="7196108" y="2073775"/>
            <a:ext cx="1645920" cy="402336"/>
          </a:xfrm>
          <a:prstGeom prst="rect">
            <a:avLst/>
          </a:prstGeom>
          <a:noFill/>
          <a:ln/>
        </p:spPr>
        <p:txBody>
          <a:bodyPr wrap="square" lIns="0" tIns="0" rIns="0" bIns="0" rtlCol="0" anchor="ctr"/>
          <a:lstStyle/>
          <a:p>
            <a:pPr marL="0" indent="0" algn="ctr">
              <a:buNone/>
            </a:pPr>
            <a:r>
              <a:rPr lang="en-US" sz="1400" b="1" dirty="0">
                <a:solidFill>
                  <a:srgbClr val="1B8A3E"/>
                </a:solidFill>
                <a:latin typeface="Century Gothic" pitchFamily="34" charset="0"/>
                <a:ea typeface="Century Gothic" pitchFamily="34" charset="-122"/>
                <a:cs typeface="Century Gothic" pitchFamily="34" charset="-120"/>
              </a:rPr>
              <a:t>Etisalat </a:t>
            </a:r>
          </a:p>
          <a:p>
            <a:pPr marL="0" indent="0" algn="ctr">
              <a:buNone/>
            </a:pPr>
            <a:r>
              <a:rPr lang="en-US" sz="1400" b="1" dirty="0">
                <a:solidFill>
                  <a:srgbClr val="1B8A3E"/>
                </a:solidFill>
                <a:latin typeface="Century Gothic" pitchFamily="34" charset="0"/>
                <a:ea typeface="Century Gothic" pitchFamily="34" charset="-122"/>
                <a:cs typeface="Century Gothic" pitchFamily="34" charset="-120"/>
              </a:rPr>
              <a:t>VRF Cloud</a:t>
            </a:r>
            <a:endParaRPr lang="en-US" sz="1400" dirty="0"/>
          </a:p>
        </p:txBody>
      </p:sp>
      <p:sp>
        <p:nvSpPr>
          <p:cNvPr id="69" name="Text 58">
            <a:extLst>
              <a:ext uri="{FF2B5EF4-FFF2-40B4-BE49-F238E27FC236}">
                <a16:creationId xmlns:a16="http://schemas.microsoft.com/office/drawing/2014/main" id="{18949B41-0A67-0246-37FE-6EBDED69D2C9}"/>
              </a:ext>
            </a:extLst>
          </p:cNvPr>
          <p:cNvSpPr txBox="1"/>
          <p:nvPr/>
        </p:nvSpPr>
        <p:spPr>
          <a:xfrm>
            <a:off x="6786060" y="1742881"/>
            <a:ext cx="2651760" cy="182880"/>
          </a:xfrm>
          <a:prstGeom prst="rect">
            <a:avLst/>
          </a:prstGeom>
          <a:noFill/>
          <a:ln/>
        </p:spPr>
        <p:txBody>
          <a:bodyPr wrap="square" lIns="0" tIns="0" rIns="0" bIns="0" rtlCol="0" anchor="ctr"/>
          <a:lstStyle/>
          <a:p>
            <a:pPr marL="0" indent="0" algn="ctr">
              <a:buNone/>
            </a:pPr>
            <a:r>
              <a:rPr lang="en-US" sz="900" dirty="0">
                <a:solidFill>
                  <a:srgbClr val="667085"/>
                </a:solidFill>
                <a:latin typeface="Century Gothic" pitchFamily="34" charset="0"/>
                <a:ea typeface="Century Gothic" pitchFamily="34" charset="-122"/>
                <a:cs typeface="Century Gothic" pitchFamily="34" charset="-120"/>
              </a:rPr>
              <a:t>4 × GRE tunnels · Mashreq ↔ NeoPay</a:t>
            </a:r>
            <a:endParaRPr lang="en-US" sz="900" dirty="0"/>
          </a:p>
        </p:txBody>
      </p:sp>
      <p:sp>
        <p:nvSpPr>
          <p:cNvPr id="70" name="Text 59">
            <a:extLst>
              <a:ext uri="{FF2B5EF4-FFF2-40B4-BE49-F238E27FC236}">
                <a16:creationId xmlns:a16="http://schemas.microsoft.com/office/drawing/2014/main" id="{76B289BC-30DC-EB19-BCFB-948DFB679218}"/>
              </a:ext>
            </a:extLst>
          </p:cNvPr>
          <p:cNvSpPr txBox="1"/>
          <p:nvPr/>
        </p:nvSpPr>
        <p:spPr>
          <a:xfrm>
            <a:off x="1999176" y="5431536"/>
            <a:ext cx="2103120" cy="219456"/>
          </a:xfrm>
          <a:prstGeom prst="rect">
            <a:avLst/>
          </a:prstGeom>
          <a:noFill/>
          <a:ln/>
        </p:spPr>
        <p:txBody>
          <a:bodyPr wrap="square" lIns="0" tIns="0" rIns="0" bIns="0" rtlCol="0" anchor="ctr"/>
          <a:lstStyle/>
          <a:p>
            <a:pPr marL="0" indent="0" algn="ctr">
              <a:buNone/>
            </a:pPr>
            <a:r>
              <a:rPr lang="en-US" sz="1100" b="1" dirty="0">
                <a:solidFill>
                  <a:srgbClr val="1A62C4"/>
                </a:solidFill>
                <a:latin typeface="Century Gothic" pitchFamily="34" charset="0"/>
                <a:ea typeface="Century Gothic" pitchFamily="34" charset="-122"/>
                <a:cs typeface="Century Gothic" pitchFamily="34" charset="-120"/>
              </a:rPr>
              <a:t>Du GPRS Cloud</a:t>
            </a:r>
            <a:endParaRPr lang="en-US" sz="1100" dirty="0"/>
          </a:p>
        </p:txBody>
      </p:sp>
      <p:sp>
        <p:nvSpPr>
          <p:cNvPr id="71" name="Text 60">
            <a:extLst>
              <a:ext uri="{FF2B5EF4-FFF2-40B4-BE49-F238E27FC236}">
                <a16:creationId xmlns:a16="http://schemas.microsoft.com/office/drawing/2014/main" id="{C4EE77CE-7683-6F45-DF97-AC6352BE7AC7}"/>
              </a:ext>
            </a:extLst>
          </p:cNvPr>
          <p:cNvSpPr txBox="1"/>
          <p:nvPr/>
        </p:nvSpPr>
        <p:spPr>
          <a:xfrm>
            <a:off x="1999176" y="5650992"/>
            <a:ext cx="2103120" cy="182880"/>
          </a:xfrm>
          <a:prstGeom prst="rect">
            <a:avLst/>
          </a:prstGeom>
          <a:noFill/>
          <a:ln/>
        </p:spPr>
        <p:txBody>
          <a:bodyPr wrap="square" lIns="0" tIns="0" rIns="0" bIns="0" rtlCol="0" anchor="ctr"/>
          <a:lstStyle/>
          <a:p>
            <a:pPr marL="0" indent="0" algn="ctr">
              <a:buNone/>
            </a:pPr>
            <a:r>
              <a:rPr lang="en-US" sz="900" dirty="0">
                <a:solidFill>
                  <a:srgbClr val="667085"/>
                </a:solidFill>
                <a:latin typeface="Century Gothic" pitchFamily="34" charset="0"/>
                <a:ea typeface="Century Gothic" pitchFamily="34" charset="-122"/>
                <a:cs typeface="Century Gothic" pitchFamily="34" charset="-120"/>
              </a:rPr>
              <a:t>3 × 512 Kbps links to Mashreq</a:t>
            </a:r>
            <a:endParaRPr lang="en-US" sz="900" dirty="0"/>
          </a:p>
        </p:txBody>
      </p:sp>
      <p:sp>
        <p:nvSpPr>
          <p:cNvPr id="72" name="Text 61">
            <a:extLst>
              <a:ext uri="{FF2B5EF4-FFF2-40B4-BE49-F238E27FC236}">
                <a16:creationId xmlns:a16="http://schemas.microsoft.com/office/drawing/2014/main" id="{5B271E0E-94AB-80A6-46E2-4B4545EC4CFD}"/>
              </a:ext>
            </a:extLst>
          </p:cNvPr>
          <p:cNvSpPr txBox="1"/>
          <p:nvPr/>
        </p:nvSpPr>
        <p:spPr>
          <a:xfrm>
            <a:off x="7161486" y="4828032"/>
            <a:ext cx="1645920" cy="402336"/>
          </a:xfrm>
          <a:prstGeom prst="rect">
            <a:avLst/>
          </a:prstGeom>
          <a:noFill/>
          <a:ln/>
        </p:spPr>
        <p:txBody>
          <a:bodyPr wrap="square" lIns="0" tIns="0" rIns="0" bIns="0" rtlCol="0" anchor="ctr"/>
          <a:lstStyle/>
          <a:p>
            <a:pPr marL="0" indent="0" algn="ctr">
              <a:buNone/>
            </a:pPr>
            <a:r>
              <a:rPr lang="en-US" sz="1400" b="1" dirty="0">
                <a:solidFill>
                  <a:srgbClr val="1A62C4"/>
                </a:solidFill>
                <a:latin typeface="Century Gothic" pitchFamily="34" charset="0"/>
                <a:ea typeface="Century Gothic" pitchFamily="34" charset="-122"/>
                <a:cs typeface="Century Gothic" pitchFamily="34" charset="-120"/>
              </a:rPr>
              <a:t>Du </a:t>
            </a:r>
          </a:p>
          <a:p>
            <a:pPr marL="0" indent="0" algn="ctr">
              <a:buNone/>
            </a:pPr>
            <a:r>
              <a:rPr lang="en-US" sz="1400" b="1" dirty="0">
                <a:solidFill>
                  <a:srgbClr val="1A62C4"/>
                </a:solidFill>
                <a:latin typeface="Century Gothic" pitchFamily="34" charset="0"/>
                <a:ea typeface="Century Gothic" pitchFamily="34" charset="-122"/>
                <a:cs typeface="Century Gothic" pitchFamily="34" charset="-120"/>
              </a:rPr>
              <a:t>VRF Cloud</a:t>
            </a:r>
            <a:endParaRPr lang="en-US" sz="1400" dirty="0"/>
          </a:p>
        </p:txBody>
      </p:sp>
      <p:sp>
        <p:nvSpPr>
          <p:cNvPr id="73" name="Text 62">
            <a:extLst>
              <a:ext uri="{FF2B5EF4-FFF2-40B4-BE49-F238E27FC236}">
                <a16:creationId xmlns:a16="http://schemas.microsoft.com/office/drawing/2014/main" id="{2DF17231-31CE-4EC4-71AA-F5FC06DA5B67}"/>
              </a:ext>
            </a:extLst>
          </p:cNvPr>
          <p:cNvSpPr txBox="1"/>
          <p:nvPr/>
        </p:nvSpPr>
        <p:spPr>
          <a:xfrm>
            <a:off x="6700660" y="5410833"/>
            <a:ext cx="2651760" cy="182880"/>
          </a:xfrm>
          <a:prstGeom prst="rect">
            <a:avLst/>
          </a:prstGeom>
          <a:noFill/>
          <a:ln/>
        </p:spPr>
        <p:txBody>
          <a:bodyPr wrap="square" lIns="0" tIns="0" rIns="0" bIns="0" rtlCol="0" anchor="ctr"/>
          <a:lstStyle/>
          <a:p>
            <a:pPr marL="0" indent="0" algn="ctr">
              <a:buNone/>
            </a:pPr>
            <a:r>
              <a:rPr lang="en-US" sz="900" dirty="0">
                <a:solidFill>
                  <a:srgbClr val="667085"/>
                </a:solidFill>
                <a:latin typeface="Century Gothic" pitchFamily="34" charset="0"/>
                <a:ea typeface="Century Gothic" pitchFamily="34" charset="-122"/>
                <a:cs typeface="Century Gothic" pitchFamily="34" charset="-120"/>
              </a:rPr>
              <a:t>4 × GRE tunnels · Mashreq ↔ NeoPay</a:t>
            </a:r>
            <a:endParaRPr lang="en-US" sz="900" dirty="0"/>
          </a:p>
        </p:txBody>
      </p:sp>
      <p:pic>
        <p:nvPicPr>
          <p:cNvPr id="74" name="Image 9" descr="preencoded.png">
            <a:extLst>
              <a:ext uri="{FF2B5EF4-FFF2-40B4-BE49-F238E27FC236}">
                <a16:creationId xmlns:a16="http://schemas.microsoft.com/office/drawing/2014/main" id="{513BC247-3F97-2340-D9D4-32D015DA8B0B}"/>
              </a:ext>
            </a:extLst>
          </p:cNvPr>
          <p:cNvPicPr>
            <a:picLocks noChangeAspect="1"/>
          </p:cNvPicPr>
          <p:nvPr/>
        </p:nvPicPr>
        <p:blipFill>
          <a:blip r:embed="rId8"/>
          <a:stretch>
            <a:fillRect/>
          </a:stretch>
        </p:blipFill>
        <p:spPr>
          <a:xfrm>
            <a:off x="1186112" y="2971801"/>
            <a:ext cx="424444" cy="502920"/>
          </a:xfrm>
          <a:prstGeom prst="rect">
            <a:avLst/>
          </a:prstGeom>
        </p:spPr>
      </p:pic>
      <p:sp>
        <p:nvSpPr>
          <p:cNvPr id="75" name="Text 63">
            <a:extLst>
              <a:ext uri="{FF2B5EF4-FFF2-40B4-BE49-F238E27FC236}">
                <a16:creationId xmlns:a16="http://schemas.microsoft.com/office/drawing/2014/main" id="{C0417DF7-E376-6907-398C-D4D76E470164}"/>
              </a:ext>
            </a:extLst>
          </p:cNvPr>
          <p:cNvSpPr txBox="1"/>
          <p:nvPr/>
        </p:nvSpPr>
        <p:spPr>
          <a:xfrm>
            <a:off x="558996" y="3442894"/>
            <a:ext cx="1280160" cy="237744"/>
          </a:xfrm>
          <a:prstGeom prst="rect">
            <a:avLst/>
          </a:prstGeom>
          <a:noFill/>
          <a:ln/>
        </p:spPr>
        <p:txBody>
          <a:bodyPr wrap="square" lIns="0" tIns="0" rIns="0" bIns="0" rtlCol="0" anchor="ctr"/>
          <a:lstStyle/>
          <a:p>
            <a:pPr marL="0" indent="0" algn="ctr">
              <a:buNone/>
            </a:pPr>
            <a:r>
              <a:rPr lang="en-US" sz="1200" b="1" dirty="0">
                <a:solidFill>
                  <a:srgbClr val="213C81"/>
                </a:solidFill>
                <a:latin typeface="Century Gothic" pitchFamily="34" charset="0"/>
                <a:ea typeface="Century Gothic" pitchFamily="34" charset="-122"/>
                <a:cs typeface="Century Gothic" pitchFamily="34" charset="-120"/>
              </a:rPr>
              <a:t>POS Machine</a:t>
            </a:r>
            <a:endParaRPr lang="en-US" sz="1200" dirty="0"/>
          </a:p>
        </p:txBody>
      </p:sp>
      <p:sp>
        <p:nvSpPr>
          <p:cNvPr id="76" name="Text 64">
            <a:extLst>
              <a:ext uri="{FF2B5EF4-FFF2-40B4-BE49-F238E27FC236}">
                <a16:creationId xmlns:a16="http://schemas.microsoft.com/office/drawing/2014/main" id="{9E5C2ED9-2B64-7D5D-B044-BCF19AF6F2F0}"/>
              </a:ext>
            </a:extLst>
          </p:cNvPr>
          <p:cNvSpPr txBox="1"/>
          <p:nvPr/>
        </p:nvSpPr>
        <p:spPr>
          <a:xfrm>
            <a:off x="513276" y="3680638"/>
            <a:ext cx="1371600" cy="201168"/>
          </a:xfrm>
          <a:prstGeom prst="rect">
            <a:avLst/>
          </a:prstGeom>
          <a:noFill/>
          <a:ln/>
        </p:spPr>
        <p:txBody>
          <a:bodyPr wrap="square" lIns="0" tIns="0" rIns="0" bIns="0" rtlCol="0" anchor="ctr"/>
          <a:lstStyle/>
          <a:p>
            <a:pPr marL="0" indent="0" algn="ctr">
              <a:buNone/>
            </a:pPr>
            <a:r>
              <a:rPr lang="en-US" sz="1000" dirty="0">
                <a:solidFill>
                  <a:srgbClr val="667085"/>
                </a:solidFill>
                <a:latin typeface="Century Gothic" pitchFamily="34" charset="0"/>
                <a:ea typeface="Century Gothic" pitchFamily="34" charset="-122"/>
                <a:cs typeface="Century Gothic" pitchFamily="34" charset="-120"/>
              </a:rPr>
              <a:t>End-point device</a:t>
            </a:r>
            <a:endParaRPr lang="en-US" sz="1000" dirty="0"/>
          </a:p>
        </p:txBody>
      </p:sp>
      <p:sp>
        <p:nvSpPr>
          <p:cNvPr id="77" name="Text 65">
            <a:extLst>
              <a:ext uri="{FF2B5EF4-FFF2-40B4-BE49-F238E27FC236}">
                <a16:creationId xmlns:a16="http://schemas.microsoft.com/office/drawing/2014/main" id="{69183FBD-7209-110E-5E11-BAC2B4503F34}"/>
              </a:ext>
            </a:extLst>
          </p:cNvPr>
          <p:cNvSpPr txBox="1"/>
          <p:nvPr/>
        </p:nvSpPr>
        <p:spPr>
          <a:xfrm>
            <a:off x="1930596" y="3291840"/>
            <a:ext cx="457200" cy="182880"/>
          </a:xfrm>
          <a:prstGeom prst="rect">
            <a:avLst/>
          </a:prstGeom>
          <a:noFill/>
          <a:ln/>
        </p:spPr>
        <p:txBody>
          <a:bodyPr wrap="square" lIns="0" tIns="0" rIns="0" bIns="0" rtlCol="0" anchor="ctr"/>
          <a:lstStyle/>
          <a:p>
            <a:pPr marL="0" indent="0" algn="ctr">
              <a:buNone/>
            </a:pPr>
            <a:r>
              <a:rPr lang="en-US" sz="900" b="1" dirty="0">
                <a:solidFill>
                  <a:srgbClr val="2F3747"/>
                </a:solidFill>
                <a:latin typeface="Century Gothic" pitchFamily="34" charset="0"/>
                <a:ea typeface="Century Gothic" pitchFamily="34" charset="-122"/>
                <a:cs typeface="Century Gothic" pitchFamily="34" charset="-120"/>
              </a:rPr>
              <a:t>GPRS</a:t>
            </a:r>
            <a:endParaRPr lang="en-US" sz="900" dirty="0"/>
          </a:p>
        </p:txBody>
      </p:sp>
      <p:sp>
        <p:nvSpPr>
          <p:cNvPr id="78" name="Shape 66">
            <a:extLst>
              <a:ext uri="{FF2B5EF4-FFF2-40B4-BE49-F238E27FC236}">
                <a16:creationId xmlns:a16="http://schemas.microsoft.com/office/drawing/2014/main" id="{553AF74D-9E85-E54D-46E2-E413050C6FAB}"/>
              </a:ext>
            </a:extLst>
          </p:cNvPr>
          <p:cNvSpPr/>
          <p:nvPr/>
        </p:nvSpPr>
        <p:spPr>
          <a:xfrm>
            <a:off x="741876" y="6190488"/>
            <a:ext cx="457200" cy="0"/>
          </a:xfrm>
          <a:prstGeom prst="line">
            <a:avLst/>
          </a:prstGeom>
          <a:noFill/>
          <a:ln w="28575">
            <a:solidFill>
              <a:srgbClr val="23A04A"/>
            </a:solidFill>
            <a:prstDash val="solid"/>
          </a:ln>
        </p:spPr>
        <p:txBody>
          <a:bodyPr/>
          <a:lstStyle/>
          <a:p>
            <a:endParaRPr lang="en-US"/>
          </a:p>
        </p:txBody>
      </p:sp>
      <p:sp>
        <p:nvSpPr>
          <p:cNvPr id="79" name="Text 67">
            <a:extLst>
              <a:ext uri="{FF2B5EF4-FFF2-40B4-BE49-F238E27FC236}">
                <a16:creationId xmlns:a16="http://schemas.microsoft.com/office/drawing/2014/main" id="{8F294597-50E1-49C8-E1D7-80B274973EFE}"/>
              </a:ext>
            </a:extLst>
          </p:cNvPr>
          <p:cNvSpPr txBox="1"/>
          <p:nvPr/>
        </p:nvSpPr>
        <p:spPr>
          <a:xfrm>
            <a:off x="1290516" y="6089904"/>
            <a:ext cx="1325880"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Etisalat physical link</a:t>
            </a:r>
            <a:endParaRPr lang="en-US" sz="1000" dirty="0"/>
          </a:p>
        </p:txBody>
      </p:sp>
      <p:sp>
        <p:nvSpPr>
          <p:cNvPr id="80" name="Shape 68">
            <a:extLst>
              <a:ext uri="{FF2B5EF4-FFF2-40B4-BE49-F238E27FC236}">
                <a16:creationId xmlns:a16="http://schemas.microsoft.com/office/drawing/2014/main" id="{3115C6CF-DD4E-BFD1-216F-BF409C153B44}"/>
              </a:ext>
            </a:extLst>
          </p:cNvPr>
          <p:cNvSpPr/>
          <p:nvPr/>
        </p:nvSpPr>
        <p:spPr>
          <a:xfrm>
            <a:off x="2890716" y="6190488"/>
            <a:ext cx="457200" cy="0"/>
          </a:xfrm>
          <a:prstGeom prst="line">
            <a:avLst/>
          </a:prstGeom>
          <a:noFill/>
          <a:ln w="25400">
            <a:solidFill>
              <a:srgbClr val="23A04A"/>
            </a:solidFill>
            <a:prstDash val="sysDot"/>
          </a:ln>
        </p:spPr>
        <p:txBody>
          <a:bodyPr/>
          <a:lstStyle/>
          <a:p>
            <a:endParaRPr lang="en-US"/>
          </a:p>
        </p:txBody>
      </p:sp>
      <p:sp>
        <p:nvSpPr>
          <p:cNvPr id="81" name="Text 69">
            <a:extLst>
              <a:ext uri="{FF2B5EF4-FFF2-40B4-BE49-F238E27FC236}">
                <a16:creationId xmlns:a16="http://schemas.microsoft.com/office/drawing/2014/main" id="{E045F8CE-F109-B258-C625-8C84BD6B7B58}"/>
              </a:ext>
            </a:extLst>
          </p:cNvPr>
          <p:cNvSpPr txBox="1"/>
          <p:nvPr/>
        </p:nvSpPr>
        <p:spPr>
          <a:xfrm>
            <a:off x="3439356" y="6089904"/>
            <a:ext cx="1261872"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Etisalat GRE tunnel</a:t>
            </a:r>
            <a:endParaRPr lang="en-US" sz="1000" dirty="0"/>
          </a:p>
        </p:txBody>
      </p:sp>
      <p:sp>
        <p:nvSpPr>
          <p:cNvPr id="82" name="Shape 70">
            <a:extLst>
              <a:ext uri="{FF2B5EF4-FFF2-40B4-BE49-F238E27FC236}">
                <a16:creationId xmlns:a16="http://schemas.microsoft.com/office/drawing/2014/main" id="{4AAD1972-E5BD-A4A9-667C-0EF83D261F24}"/>
              </a:ext>
            </a:extLst>
          </p:cNvPr>
          <p:cNvSpPr/>
          <p:nvPr/>
        </p:nvSpPr>
        <p:spPr>
          <a:xfrm>
            <a:off x="4975548" y="6190488"/>
            <a:ext cx="457200" cy="0"/>
          </a:xfrm>
          <a:prstGeom prst="line">
            <a:avLst/>
          </a:prstGeom>
          <a:noFill/>
          <a:ln w="28575">
            <a:solidFill>
              <a:srgbClr val="1E73E8"/>
            </a:solidFill>
            <a:prstDash val="solid"/>
          </a:ln>
        </p:spPr>
        <p:txBody>
          <a:bodyPr/>
          <a:lstStyle/>
          <a:p>
            <a:endParaRPr lang="en-US"/>
          </a:p>
        </p:txBody>
      </p:sp>
      <p:sp>
        <p:nvSpPr>
          <p:cNvPr id="83" name="Text 71">
            <a:extLst>
              <a:ext uri="{FF2B5EF4-FFF2-40B4-BE49-F238E27FC236}">
                <a16:creationId xmlns:a16="http://schemas.microsoft.com/office/drawing/2014/main" id="{9442AB17-88E5-9491-1901-CEC22A0BF8DA}"/>
              </a:ext>
            </a:extLst>
          </p:cNvPr>
          <p:cNvSpPr txBox="1"/>
          <p:nvPr/>
        </p:nvSpPr>
        <p:spPr>
          <a:xfrm>
            <a:off x="5524188" y="6089904"/>
            <a:ext cx="1234440"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Du physical link</a:t>
            </a:r>
            <a:endParaRPr lang="en-US" sz="1000" dirty="0"/>
          </a:p>
        </p:txBody>
      </p:sp>
      <p:sp>
        <p:nvSpPr>
          <p:cNvPr id="84" name="Shape 72">
            <a:extLst>
              <a:ext uri="{FF2B5EF4-FFF2-40B4-BE49-F238E27FC236}">
                <a16:creationId xmlns:a16="http://schemas.microsoft.com/office/drawing/2014/main" id="{193C24BD-6553-0E39-2832-196EE13D0AAC}"/>
              </a:ext>
            </a:extLst>
          </p:cNvPr>
          <p:cNvSpPr/>
          <p:nvPr/>
        </p:nvSpPr>
        <p:spPr>
          <a:xfrm>
            <a:off x="6786060" y="6190488"/>
            <a:ext cx="457200" cy="0"/>
          </a:xfrm>
          <a:prstGeom prst="line">
            <a:avLst/>
          </a:prstGeom>
          <a:noFill/>
          <a:ln w="25400">
            <a:solidFill>
              <a:srgbClr val="1E73E8"/>
            </a:solidFill>
            <a:prstDash val="sysDot"/>
          </a:ln>
        </p:spPr>
        <p:txBody>
          <a:bodyPr/>
          <a:lstStyle/>
          <a:p>
            <a:endParaRPr lang="en-US"/>
          </a:p>
        </p:txBody>
      </p:sp>
      <p:sp>
        <p:nvSpPr>
          <p:cNvPr id="85" name="Text 73">
            <a:extLst>
              <a:ext uri="{FF2B5EF4-FFF2-40B4-BE49-F238E27FC236}">
                <a16:creationId xmlns:a16="http://schemas.microsoft.com/office/drawing/2014/main" id="{1AF1CBC7-AE7C-05E9-7206-1DCF2D3EDBA4}"/>
              </a:ext>
            </a:extLst>
          </p:cNvPr>
          <p:cNvSpPr txBox="1"/>
          <p:nvPr/>
        </p:nvSpPr>
        <p:spPr>
          <a:xfrm>
            <a:off x="7334700" y="6089904"/>
            <a:ext cx="932688"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Du GRE tunnel</a:t>
            </a:r>
            <a:endParaRPr lang="en-US" sz="1000" dirty="0"/>
          </a:p>
        </p:txBody>
      </p:sp>
      <p:sp>
        <p:nvSpPr>
          <p:cNvPr id="86" name="Shape 74">
            <a:extLst>
              <a:ext uri="{FF2B5EF4-FFF2-40B4-BE49-F238E27FC236}">
                <a16:creationId xmlns:a16="http://schemas.microsoft.com/office/drawing/2014/main" id="{421FB7A2-2BD3-BCFA-B599-8F9BC9D2F30D}"/>
              </a:ext>
            </a:extLst>
          </p:cNvPr>
          <p:cNvSpPr/>
          <p:nvPr/>
        </p:nvSpPr>
        <p:spPr>
          <a:xfrm>
            <a:off x="8541708" y="6190488"/>
            <a:ext cx="457200" cy="0"/>
          </a:xfrm>
          <a:prstGeom prst="line">
            <a:avLst/>
          </a:prstGeom>
          <a:noFill/>
          <a:ln w="50800">
            <a:solidFill>
              <a:srgbClr val="2F3747"/>
            </a:solidFill>
            <a:prstDash val="solid"/>
          </a:ln>
        </p:spPr>
        <p:txBody>
          <a:bodyPr/>
          <a:lstStyle/>
          <a:p>
            <a:endParaRPr lang="en-US"/>
          </a:p>
        </p:txBody>
      </p:sp>
      <p:sp>
        <p:nvSpPr>
          <p:cNvPr id="87" name="Text 75">
            <a:extLst>
              <a:ext uri="{FF2B5EF4-FFF2-40B4-BE49-F238E27FC236}">
                <a16:creationId xmlns:a16="http://schemas.microsoft.com/office/drawing/2014/main" id="{4D5C4B1F-B067-BF17-35B0-99C8753225F3}"/>
              </a:ext>
            </a:extLst>
          </p:cNvPr>
          <p:cNvSpPr txBox="1"/>
          <p:nvPr/>
        </p:nvSpPr>
        <p:spPr>
          <a:xfrm>
            <a:off x="9090348" y="6089904"/>
            <a:ext cx="896112"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Inter-DC link</a:t>
            </a:r>
            <a:endParaRPr lang="en-US" sz="1000" dirty="0"/>
          </a:p>
        </p:txBody>
      </p:sp>
      <p:sp>
        <p:nvSpPr>
          <p:cNvPr id="88" name="Shape 76">
            <a:extLst>
              <a:ext uri="{FF2B5EF4-FFF2-40B4-BE49-F238E27FC236}">
                <a16:creationId xmlns:a16="http://schemas.microsoft.com/office/drawing/2014/main" id="{9336E516-4355-5FAA-DAC5-4AB5D07D54B3}"/>
              </a:ext>
            </a:extLst>
          </p:cNvPr>
          <p:cNvSpPr/>
          <p:nvPr/>
        </p:nvSpPr>
        <p:spPr>
          <a:xfrm>
            <a:off x="10242492" y="6099048"/>
            <a:ext cx="493776" cy="182880"/>
          </a:xfrm>
          <a:custGeom>
            <a:avLst/>
            <a:gdLst/>
            <a:ahLst/>
            <a:cxnLst/>
            <a:rect l="l" t="t" r="r" b="b"/>
            <a:pathLst>
              <a:path w="493776" h="182880">
                <a:moveTo>
                  <a:pt x="18288" y="91440"/>
                </a:moveTo>
                <a:lnTo>
                  <a:pt x="173736" y="91440"/>
                </a:lnTo>
                <a:lnTo>
                  <a:pt x="301752" y="18288"/>
                </a:lnTo>
                <a:lnTo>
                  <a:pt x="192024" y="164592"/>
                </a:lnTo>
                <a:lnTo>
                  <a:pt x="320040" y="91440"/>
                </a:lnTo>
                <a:lnTo>
                  <a:pt x="475488" y="91440"/>
                </a:lnTo>
              </a:path>
            </a:pathLst>
          </a:custGeom>
          <a:noFill/>
          <a:ln w="22225">
            <a:solidFill>
              <a:srgbClr val="2F3747"/>
            </a:solidFill>
            <a:prstDash val="solid"/>
          </a:ln>
        </p:spPr>
        <p:txBody>
          <a:bodyPr/>
          <a:lstStyle/>
          <a:p>
            <a:endParaRPr lang="en-US"/>
          </a:p>
        </p:txBody>
      </p:sp>
      <p:sp>
        <p:nvSpPr>
          <p:cNvPr id="89" name="Text 77">
            <a:extLst>
              <a:ext uri="{FF2B5EF4-FFF2-40B4-BE49-F238E27FC236}">
                <a16:creationId xmlns:a16="http://schemas.microsoft.com/office/drawing/2014/main" id="{C5A62FCD-EFF7-6EB2-C49B-5063C8E6A88A}"/>
              </a:ext>
            </a:extLst>
          </p:cNvPr>
          <p:cNvSpPr txBox="1"/>
          <p:nvPr/>
        </p:nvSpPr>
        <p:spPr>
          <a:xfrm>
            <a:off x="10809420" y="6089904"/>
            <a:ext cx="1024128" cy="201168"/>
          </a:xfrm>
          <a:prstGeom prst="rect">
            <a:avLst/>
          </a:prstGeom>
          <a:noFill/>
          <a:ln/>
        </p:spPr>
        <p:txBody>
          <a:bodyPr wrap="square" lIns="0" tIns="0" rIns="0" bIns="0" rtlCol="0" anchor="ctr"/>
          <a:lstStyle/>
          <a:p>
            <a:pPr marL="0" indent="0">
              <a:buNone/>
            </a:pPr>
            <a:r>
              <a:rPr lang="en-US" sz="1000" dirty="0">
                <a:solidFill>
                  <a:srgbClr val="2B3140"/>
                </a:solidFill>
                <a:latin typeface="Century Gothic" pitchFamily="34" charset="0"/>
                <a:ea typeface="Century Gothic" pitchFamily="34" charset="-122"/>
                <a:cs typeface="Century Gothic" pitchFamily="34" charset="-120"/>
              </a:rPr>
              <a:t>GPRS radio link</a:t>
            </a:r>
            <a:endParaRPr lang="en-US" sz="1000" dirty="0"/>
          </a:p>
        </p:txBody>
      </p:sp>
      <p:sp>
        <p:nvSpPr>
          <p:cNvPr id="103" name="Text 62">
            <a:extLst>
              <a:ext uri="{FF2B5EF4-FFF2-40B4-BE49-F238E27FC236}">
                <a16:creationId xmlns:a16="http://schemas.microsoft.com/office/drawing/2014/main" id="{B71FE5C0-F108-E6AD-6527-5EDD23E00E31}"/>
              </a:ext>
            </a:extLst>
          </p:cNvPr>
          <p:cNvSpPr txBox="1"/>
          <p:nvPr/>
        </p:nvSpPr>
        <p:spPr>
          <a:xfrm>
            <a:off x="9573768" y="5632704"/>
            <a:ext cx="2258568" cy="411480"/>
          </a:xfrm>
          <a:prstGeom prst="rect">
            <a:avLst/>
          </a:prstGeom>
          <a:noFill/>
          <a:ln>
            <a:solidFill>
              <a:srgbClr val="C00000"/>
            </a:solidFill>
          </a:ln>
        </p:spPr>
        <p:txBody>
          <a:bodyPr wrap="square" lIns="0" tIns="0" rIns="0" bIns="0" rtlCol="0" anchor="ctr"/>
          <a:lstStyle/>
          <a:p>
            <a:pPr marL="0" indent="0" algn="ctr">
              <a:buNone/>
            </a:pPr>
            <a:r>
              <a:rPr lang="en-US" sz="900" b="1" dirty="0">
                <a:solidFill>
                  <a:srgbClr val="FF0000"/>
                </a:solidFill>
                <a:latin typeface="Century Gothic" pitchFamily="34" charset="0"/>
              </a:rPr>
              <a:t>Etisalat link on DR is not available now</a:t>
            </a:r>
          </a:p>
          <a:p>
            <a:pPr marL="0" indent="0" algn="ctr">
              <a:buNone/>
            </a:pPr>
            <a:r>
              <a:rPr lang="en-US" sz="900" b="1" dirty="0">
                <a:solidFill>
                  <a:srgbClr val="FF0000"/>
                </a:solidFill>
                <a:latin typeface="Century Gothic" pitchFamily="34" charset="0"/>
              </a:rPr>
              <a:t>Expected link delivery 7</a:t>
            </a:r>
            <a:r>
              <a:rPr lang="en-US" sz="900" b="1" baseline="30000" dirty="0">
                <a:solidFill>
                  <a:srgbClr val="FF0000"/>
                </a:solidFill>
                <a:latin typeface="Century Gothic" pitchFamily="34" charset="0"/>
              </a:rPr>
              <a:t>th</a:t>
            </a:r>
            <a:r>
              <a:rPr lang="en-US" sz="900" b="1" dirty="0">
                <a:solidFill>
                  <a:srgbClr val="FF0000"/>
                </a:solidFill>
                <a:latin typeface="Century Gothic" pitchFamily="34" charset="0"/>
              </a:rPr>
              <a:t> Oct</a:t>
            </a:r>
            <a:endParaRPr lang="en-US" sz="900" b="1" dirty="0">
              <a:solidFill>
                <a:srgbClr val="FF0000"/>
              </a:solidFill>
            </a:endParaRPr>
          </a:p>
        </p:txBody>
      </p:sp>
      <p:sp>
        <p:nvSpPr>
          <p:cNvPr id="105" name="Freeform: Shape 104">
            <a:extLst>
              <a:ext uri="{FF2B5EF4-FFF2-40B4-BE49-F238E27FC236}">
                <a16:creationId xmlns:a16="http://schemas.microsoft.com/office/drawing/2014/main" id="{1CCA471A-9F63-B79C-055B-26F4851CD0CA}"/>
              </a:ext>
            </a:extLst>
          </p:cNvPr>
          <p:cNvSpPr/>
          <p:nvPr/>
        </p:nvSpPr>
        <p:spPr>
          <a:xfrm>
            <a:off x="9182630" y="4209691"/>
            <a:ext cx="401321" cy="1345720"/>
          </a:xfrm>
          <a:custGeom>
            <a:avLst/>
            <a:gdLst>
              <a:gd name="csX0" fmla="*/ 13133 w 401321"/>
              <a:gd name="csY0" fmla="*/ 0 h 1345720"/>
              <a:gd name="csX1" fmla="*/ 47638 w 401321"/>
              <a:gd name="csY1" fmla="*/ 940279 h 1345720"/>
              <a:gd name="csX2" fmla="*/ 401321 w 401321"/>
              <a:gd name="csY2" fmla="*/ 1345720 h 1345720"/>
            </a:gdLst>
            <a:ahLst/>
            <a:cxnLst>
              <a:cxn ang="0">
                <a:pos x="csX0" y="csY0"/>
              </a:cxn>
              <a:cxn ang="0">
                <a:pos x="csX1" y="csY1"/>
              </a:cxn>
              <a:cxn ang="0">
                <a:pos x="csX2" y="csY2"/>
              </a:cxn>
            </a:cxnLst>
            <a:rect l="l" t="t" r="r" b="b"/>
            <a:pathLst>
              <a:path w="401321" h="1345720">
                <a:moveTo>
                  <a:pt x="13133" y="0"/>
                </a:moveTo>
                <a:cubicBezTo>
                  <a:pt x="-1964" y="357996"/>
                  <a:pt x="-17060" y="715992"/>
                  <a:pt x="47638" y="940279"/>
                </a:cubicBezTo>
                <a:cubicBezTo>
                  <a:pt x="112336" y="1164566"/>
                  <a:pt x="375442" y="1164565"/>
                  <a:pt x="401321" y="1345720"/>
                </a:cubicBezTo>
              </a:path>
            </a:pathLst>
          </a:custGeom>
          <a:noFill/>
          <a:ln>
            <a:solidFill>
              <a:srgbClr val="C00000"/>
            </a:solidFill>
            <a:headEnd type="oval"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 60">
            <a:extLst>
              <a:ext uri="{FF2B5EF4-FFF2-40B4-BE49-F238E27FC236}">
                <a16:creationId xmlns:a16="http://schemas.microsoft.com/office/drawing/2014/main" id="{0B4C8D91-5857-E21D-B83A-6F3D2B884DD1}"/>
              </a:ext>
            </a:extLst>
          </p:cNvPr>
          <p:cNvSpPr txBox="1"/>
          <p:nvPr/>
        </p:nvSpPr>
        <p:spPr>
          <a:xfrm>
            <a:off x="201659" y="2330975"/>
            <a:ext cx="2103120" cy="182880"/>
          </a:xfrm>
          <a:prstGeom prst="rect">
            <a:avLst/>
          </a:prstGeom>
          <a:noFill/>
          <a:ln/>
        </p:spPr>
        <p:txBody>
          <a:bodyPr wrap="square" lIns="0" tIns="0" rIns="0" bIns="0" rtlCol="0" anchor="ctr"/>
          <a:lstStyle/>
          <a:p>
            <a:pPr marL="0" indent="0" algn="ctr">
              <a:buNone/>
            </a:pPr>
            <a:endParaRPr lang="en-US" sz="900" dirty="0"/>
          </a:p>
        </p:txBody>
      </p:sp>
      <p:graphicFrame>
        <p:nvGraphicFramePr>
          <p:cNvPr id="112" name="Table 111">
            <a:extLst>
              <a:ext uri="{FF2B5EF4-FFF2-40B4-BE49-F238E27FC236}">
                <a16:creationId xmlns:a16="http://schemas.microsoft.com/office/drawing/2014/main" id="{67E36DE0-BB4C-099C-E1CC-44116821BE2E}"/>
              </a:ext>
            </a:extLst>
          </p:cNvPr>
          <p:cNvGraphicFramePr>
            <a:graphicFrameLocks noGrp="1"/>
          </p:cNvGraphicFramePr>
          <p:nvPr/>
        </p:nvGraphicFramePr>
        <p:xfrm>
          <a:off x="91440" y="1517904"/>
          <a:ext cx="2061972" cy="1266825"/>
        </p:xfrm>
        <a:graphic>
          <a:graphicData uri="http://schemas.openxmlformats.org/drawingml/2006/table">
            <a:tbl>
              <a:tblPr>
                <a:tableStyleId>{5C22544A-7EE6-4342-B048-85BDC9FD1C3A}</a:tableStyleId>
              </a:tblPr>
              <a:tblGrid>
                <a:gridCol w="915740">
                  <a:extLst>
                    <a:ext uri="{9D8B030D-6E8A-4147-A177-3AD203B41FA5}">
                      <a16:colId xmlns:a16="http://schemas.microsoft.com/office/drawing/2014/main" val="4232175431"/>
                    </a:ext>
                  </a:extLst>
                </a:gridCol>
                <a:gridCol w="573116">
                  <a:extLst>
                    <a:ext uri="{9D8B030D-6E8A-4147-A177-3AD203B41FA5}">
                      <a16:colId xmlns:a16="http://schemas.microsoft.com/office/drawing/2014/main" val="3944545850"/>
                    </a:ext>
                  </a:extLst>
                </a:gridCol>
                <a:gridCol w="573116">
                  <a:extLst>
                    <a:ext uri="{9D8B030D-6E8A-4147-A177-3AD203B41FA5}">
                      <a16:colId xmlns:a16="http://schemas.microsoft.com/office/drawing/2014/main" val="287423754"/>
                    </a:ext>
                  </a:extLst>
                </a:gridCol>
              </a:tblGrid>
              <a:tr h="114523">
                <a:tc gridSpan="3">
                  <a:txBody>
                    <a:bodyPr/>
                    <a:lstStyle/>
                    <a:p>
                      <a:pPr algn="ctr" fontAlgn="ctr">
                        <a:buNone/>
                      </a:pPr>
                      <a:r>
                        <a:rPr lang="en-US" sz="800" b="1" u="none" strike="noStrike" dirty="0">
                          <a:effectLst/>
                        </a:rPr>
                        <a:t>Transaction Latency</a:t>
                      </a:r>
                      <a:endParaRPr lang="en-US" sz="800" b="1" i="0" u="none" strike="noStrike" dirty="0">
                        <a:solidFill>
                          <a:srgbClr val="000000"/>
                        </a:solidFill>
                        <a:effectLst/>
                        <a:latin typeface="Aptos Narrow" panose="020B000402020202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21721163"/>
                  </a:ext>
                </a:extLst>
              </a:tr>
              <a:tr h="114523">
                <a:tc>
                  <a:txBody>
                    <a:bodyPr/>
                    <a:lstStyle/>
                    <a:p>
                      <a:pPr algn="ctr" fontAlgn="ctr">
                        <a:buNone/>
                      </a:pPr>
                      <a:r>
                        <a:rPr lang="en-US" sz="800" b="1" u="none" strike="noStrike" dirty="0">
                          <a:effectLst/>
                        </a:rPr>
                        <a:t>Environment</a:t>
                      </a:r>
                      <a:endParaRPr lang="en-US" sz="8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800" b="1" u="none" strike="noStrike" dirty="0">
                          <a:effectLst/>
                        </a:rPr>
                        <a:t>du</a:t>
                      </a:r>
                      <a:endParaRPr lang="en-US" sz="8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800" b="1" u="none" strike="noStrike" dirty="0">
                          <a:effectLst/>
                        </a:rPr>
                        <a:t>e&amp;</a:t>
                      </a:r>
                      <a:endParaRPr lang="en-US" sz="800" b="1"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331452701"/>
                  </a:ext>
                </a:extLst>
              </a:tr>
              <a:tr h="326971">
                <a:tc>
                  <a:txBody>
                    <a:bodyPr/>
                    <a:lstStyle/>
                    <a:p>
                      <a:pPr algn="l" fontAlgn="ctr">
                        <a:buNone/>
                      </a:pPr>
                      <a:r>
                        <a:rPr lang="en-US" sz="800" u="none" strike="noStrike">
                          <a:effectLst/>
                        </a:rPr>
                        <a:t>Mashreq Production</a:t>
                      </a:r>
                      <a:endParaRPr lang="en-US" sz="8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800" u="none" strike="noStrike" dirty="0">
                          <a:effectLst/>
                        </a:rPr>
                        <a:t>Avg. 4 S 42 </a:t>
                      </a:r>
                      <a:r>
                        <a:rPr lang="en-US" sz="800" u="none" strike="noStrike" dirty="0" err="1">
                          <a:effectLst/>
                        </a:rPr>
                        <a:t>ms</a:t>
                      </a:r>
                      <a:r>
                        <a:rPr lang="en-US" sz="800" u="none" strike="noStrike" dirty="0">
                          <a:effectLst/>
                        </a:rPr>
                        <a:t>  to 5 S 17 </a:t>
                      </a:r>
                      <a:r>
                        <a:rPr lang="en-US" sz="800" u="none" strike="noStrike" dirty="0" err="1">
                          <a:effectLst/>
                        </a:rPr>
                        <a:t>ms</a:t>
                      </a:r>
                      <a:endParaRPr lang="en-US" sz="8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800" u="none" strike="noStrike">
                          <a:effectLst/>
                        </a:rPr>
                        <a:t>Avg. 2 S 51 ms to 3 S 37 ms</a:t>
                      </a:r>
                      <a:endParaRPr lang="en-US" sz="8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199407218"/>
                  </a:ext>
                </a:extLst>
              </a:tr>
              <a:tr h="326971">
                <a:tc>
                  <a:txBody>
                    <a:bodyPr/>
                    <a:lstStyle/>
                    <a:p>
                      <a:pPr algn="l" fontAlgn="ctr">
                        <a:buNone/>
                      </a:pPr>
                      <a:r>
                        <a:rPr lang="en-US" sz="800" u="none" strike="noStrike">
                          <a:effectLst/>
                        </a:rPr>
                        <a:t>Neopay pilot Production</a:t>
                      </a:r>
                      <a:endParaRPr lang="en-US" sz="8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800" u="none" strike="noStrike" dirty="0">
                          <a:effectLst/>
                        </a:rPr>
                        <a:t>Avg. 4 S 62 </a:t>
                      </a:r>
                      <a:r>
                        <a:rPr lang="en-US" sz="800" u="none" strike="noStrike" dirty="0" err="1">
                          <a:effectLst/>
                        </a:rPr>
                        <a:t>ms</a:t>
                      </a:r>
                      <a:r>
                        <a:rPr lang="en-US" sz="800" u="none" strike="noStrike" dirty="0">
                          <a:effectLst/>
                        </a:rPr>
                        <a:t>  to 5 S 43 </a:t>
                      </a:r>
                      <a:r>
                        <a:rPr lang="en-US" sz="800" u="none" strike="noStrike" dirty="0" err="1">
                          <a:effectLst/>
                        </a:rPr>
                        <a:t>ms</a:t>
                      </a:r>
                      <a:endParaRPr lang="en-US" sz="8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800" u="none" strike="noStrike" dirty="0">
                          <a:effectLst/>
                        </a:rPr>
                        <a:t>Avg. 2 S 65 </a:t>
                      </a:r>
                      <a:r>
                        <a:rPr lang="en-US" sz="800" u="none" strike="noStrike" dirty="0" err="1">
                          <a:effectLst/>
                        </a:rPr>
                        <a:t>ms</a:t>
                      </a:r>
                      <a:r>
                        <a:rPr lang="en-US" sz="800" u="none" strike="noStrike" dirty="0">
                          <a:effectLst/>
                        </a:rPr>
                        <a:t> to 3 S 59 </a:t>
                      </a:r>
                      <a:r>
                        <a:rPr lang="en-US" sz="800" u="none" strike="noStrike" dirty="0" err="1">
                          <a:effectLst/>
                        </a:rPr>
                        <a:t>ms</a:t>
                      </a:r>
                      <a:endParaRPr lang="en-US" sz="8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31357850"/>
                  </a:ext>
                </a:extLst>
              </a:tr>
              <a:tr h="114523">
                <a:tc>
                  <a:txBody>
                    <a:bodyPr/>
                    <a:lstStyle/>
                    <a:p>
                      <a:pPr algn="l" fontAlgn="b">
                        <a:buNone/>
                      </a:pPr>
                      <a:r>
                        <a:rPr lang="en-US" sz="800" b="1" u="none" strike="noStrike" dirty="0">
                          <a:solidFill>
                            <a:srgbClr val="FF0000"/>
                          </a:solidFill>
                          <a:effectLst/>
                        </a:rPr>
                        <a:t>Increased Latency </a:t>
                      </a:r>
                      <a:endParaRPr lang="en-US" sz="800" b="1" i="0" u="none" strike="noStrike" dirty="0">
                        <a:solidFill>
                          <a:srgbClr val="FF0000"/>
                        </a:solidFill>
                        <a:effectLst/>
                        <a:latin typeface="Aptos Narrow" panose="020B0004020202020204" pitchFamily="34" charset="0"/>
                      </a:endParaRPr>
                    </a:p>
                  </a:txBody>
                  <a:tcPr marL="9525" marR="9525" marT="9525" marB="0" anchor="b"/>
                </a:tc>
                <a:tc>
                  <a:txBody>
                    <a:bodyPr/>
                    <a:lstStyle/>
                    <a:p>
                      <a:pPr algn="l" fontAlgn="ctr">
                        <a:buNone/>
                      </a:pPr>
                      <a:r>
                        <a:rPr lang="en-US" sz="800" b="1" u="none" strike="noStrike" dirty="0">
                          <a:solidFill>
                            <a:srgbClr val="FF0000"/>
                          </a:solidFill>
                          <a:effectLst/>
                        </a:rPr>
                        <a:t>20-26 </a:t>
                      </a:r>
                      <a:r>
                        <a:rPr lang="en-US" sz="800" b="1" u="none" strike="noStrike" dirty="0" err="1">
                          <a:solidFill>
                            <a:srgbClr val="FF0000"/>
                          </a:solidFill>
                          <a:effectLst/>
                        </a:rPr>
                        <a:t>ms</a:t>
                      </a:r>
                      <a:endParaRPr lang="en-US" sz="800" b="1" i="0" u="none" strike="noStrike" dirty="0">
                        <a:solidFill>
                          <a:srgbClr val="FF0000"/>
                        </a:solidFill>
                        <a:effectLst/>
                        <a:latin typeface="Aptos Narrow" panose="020B0004020202020204" pitchFamily="34" charset="0"/>
                      </a:endParaRPr>
                    </a:p>
                  </a:txBody>
                  <a:tcPr marL="9525" marR="9525" marT="9525" marB="0" anchor="ctr"/>
                </a:tc>
                <a:tc>
                  <a:txBody>
                    <a:bodyPr/>
                    <a:lstStyle/>
                    <a:p>
                      <a:pPr algn="l" fontAlgn="ctr">
                        <a:buNone/>
                      </a:pPr>
                      <a:r>
                        <a:rPr lang="en-US" sz="800" b="1" u="none" strike="noStrike" dirty="0">
                          <a:solidFill>
                            <a:srgbClr val="FF0000"/>
                          </a:solidFill>
                          <a:effectLst/>
                        </a:rPr>
                        <a:t>14-27 </a:t>
                      </a:r>
                      <a:r>
                        <a:rPr lang="en-US" sz="800" b="1" u="none" strike="noStrike" dirty="0" err="1">
                          <a:solidFill>
                            <a:srgbClr val="FF0000"/>
                          </a:solidFill>
                          <a:effectLst/>
                        </a:rPr>
                        <a:t>ms</a:t>
                      </a:r>
                      <a:endParaRPr lang="en-US" sz="800" b="1" i="0" u="none" strike="noStrike" dirty="0">
                        <a:solidFill>
                          <a:srgbClr val="FF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347054468"/>
                  </a:ext>
                </a:extLst>
              </a:tr>
            </a:tbl>
          </a:graphicData>
        </a:graphic>
      </p:graphicFrame>
      <p:sp>
        <p:nvSpPr>
          <p:cNvPr id="91" name="Text 60">
            <a:extLst>
              <a:ext uri="{FF2B5EF4-FFF2-40B4-BE49-F238E27FC236}">
                <a16:creationId xmlns:a16="http://schemas.microsoft.com/office/drawing/2014/main" id="{5F8AD50F-4815-171D-36CA-EA67937CF2EE}"/>
              </a:ext>
            </a:extLst>
          </p:cNvPr>
          <p:cNvSpPr txBox="1"/>
          <p:nvPr/>
        </p:nvSpPr>
        <p:spPr>
          <a:xfrm>
            <a:off x="215722" y="4075636"/>
            <a:ext cx="1874519" cy="1758236"/>
          </a:xfrm>
          <a:prstGeom prst="rect">
            <a:avLst/>
          </a:prstGeom>
          <a:noFill/>
          <a:ln/>
        </p:spPr>
        <p:txBody>
          <a:bodyPr wrap="square" lIns="0" tIns="0" rIns="0" bIns="0" rtlCol="0" anchor="t"/>
          <a:lstStyle/>
          <a:p>
            <a:pPr marL="0" indent="0" algn="just">
              <a:buNone/>
            </a:pPr>
            <a:r>
              <a:rPr lang="en-US" sz="900" b="1" dirty="0">
                <a:solidFill>
                  <a:srgbClr val="C00000"/>
                </a:solidFill>
                <a:latin typeface="Century Gothic" pitchFamily="34" charset="0"/>
                <a:ea typeface="Century Gothic" pitchFamily="34" charset="-122"/>
                <a:cs typeface="Century Gothic" pitchFamily="34" charset="-120"/>
              </a:rPr>
              <a:t>RISK on operating the services via Mashreq for 2 Mondsh</a:t>
            </a:r>
          </a:p>
          <a:p>
            <a:pPr marL="0" indent="0" algn="just">
              <a:buNone/>
            </a:pPr>
            <a:endParaRPr lang="en-US" sz="900" dirty="0">
              <a:solidFill>
                <a:srgbClr val="667085"/>
              </a:solidFill>
              <a:latin typeface="Century Gothic" pitchFamily="34" charset="0"/>
              <a:ea typeface="Century Gothic" pitchFamily="34" charset="-122"/>
              <a:cs typeface="Century Gothic" pitchFamily="34" charset="-120"/>
            </a:endParaRPr>
          </a:p>
          <a:p>
            <a:pPr marL="171450" indent="-171450" algn="just">
              <a:buFontTx/>
              <a:buChar char="-"/>
            </a:pPr>
            <a:r>
              <a:rPr lang="en-US" sz="900" dirty="0">
                <a:solidFill>
                  <a:srgbClr val="667085"/>
                </a:solidFill>
                <a:latin typeface="Century Gothic" pitchFamily="34" charset="0"/>
                <a:ea typeface="Century Gothic" pitchFamily="34" charset="-122"/>
                <a:cs typeface="Century Gothic" pitchFamily="34" charset="-120"/>
              </a:rPr>
              <a:t>Overall negligible latency 14-27 </a:t>
            </a:r>
            <a:r>
              <a:rPr lang="en-US" sz="900" dirty="0" err="1">
                <a:solidFill>
                  <a:srgbClr val="667085"/>
                </a:solidFill>
                <a:latin typeface="Century Gothic" pitchFamily="34" charset="0"/>
                <a:ea typeface="Century Gothic" pitchFamily="34" charset="-122"/>
                <a:cs typeface="Century Gothic" pitchFamily="34" charset="-120"/>
              </a:rPr>
              <a:t>ms</a:t>
            </a:r>
            <a:endParaRPr lang="en-US" sz="900" dirty="0">
              <a:solidFill>
                <a:srgbClr val="667085"/>
              </a:solidFill>
              <a:latin typeface="Century Gothic" pitchFamily="34" charset="0"/>
              <a:ea typeface="Century Gothic" pitchFamily="34" charset="-122"/>
              <a:cs typeface="Century Gothic" pitchFamily="34" charset="-120"/>
            </a:endParaRPr>
          </a:p>
          <a:p>
            <a:pPr marL="171450" indent="-171450" algn="just">
              <a:buFontTx/>
              <a:buChar char="-"/>
            </a:pPr>
            <a:r>
              <a:rPr lang="en-US" sz="900" dirty="0">
                <a:solidFill>
                  <a:srgbClr val="667085"/>
                </a:solidFill>
                <a:latin typeface="Century Gothic" pitchFamily="34" charset="0"/>
                <a:ea typeface="Century Gothic" pitchFamily="34" charset="-122"/>
                <a:cs typeface="Century Gothic" pitchFamily="34" charset="-120"/>
              </a:rPr>
              <a:t>No of hops increases (4) </a:t>
            </a:r>
          </a:p>
          <a:p>
            <a:pPr marL="171450" indent="-171450" algn="just">
              <a:buFontTx/>
              <a:buChar char="-"/>
            </a:pPr>
            <a:r>
              <a:rPr lang="en-US" sz="900" dirty="0">
                <a:solidFill>
                  <a:srgbClr val="667085"/>
                </a:solidFill>
                <a:latin typeface="Century Gothic" pitchFamily="34" charset="0"/>
                <a:ea typeface="Century Gothic" pitchFamily="34" charset="-122"/>
                <a:cs typeface="Century Gothic" pitchFamily="34" charset="-120"/>
              </a:rPr>
              <a:t>Operation dependency with Mashreq</a:t>
            </a:r>
          </a:p>
          <a:p>
            <a:pPr marL="171450" indent="-171450" algn="just">
              <a:buFontTx/>
              <a:buChar char="-"/>
            </a:pPr>
            <a:r>
              <a:rPr lang="en-US" sz="900" dirty="0">
                <a:solidFill>
                  <a:srgbClr val="667085"/>
                </a:solidFill>
                <a:latin typeface="Century Gothic" pitchFamily="34" charset="0"/>
                <a:ea typeface="Century Gothic" pitchFamily="34" charset="-122"/>
                <a:cs typeface="Century Gothic" pitchFamily="34" charset="-120"/>
              </a:rPr>
              <a:t>ITSM team alignment which touches the path</a:t>
            </a:r>
          </a:p>
          <a:p>
            <a:pPr marL="171450" indent="-171450" algn="just">
              <a:buFontTx/>
              <a:buChar char="-"/>
            </a:pPr>
            <a:r>
              <a:rPr lang="en-US" sz="900" dirty="0">
                <a:solidFill>
                  <a:srgbClr val="667085"/>
                </a:solidFill>
                <a:latin typeface="Century Gothic" pitchFamily="34" charset="0"/>
                <a:ea typeface="Century Gothic" pitchFamily="34" charset="-122"/>
                <a:cs typeface="Century Gothic" pitchFamily="34" charset="-120"/>
              </a:rPr>
              <a:t>Potential ETA increases for resolution for incident</a:t>
            </a:r>
          </a:p>
          <a:p>
            <a:pPr marL="171450" indent="-171450" algn="just">
              <a:buFontTx/>
              <a:buChar char="-"/>
            </a:pPr>
            <a:endParaRPr lang="en-US" sz="900" dirty="0">
              <a:solidFill>
                <a:srgbClr val="667085"/>
              </a:solidFill>
              <a:latin typeface="Century Gothic" pitchFamily="34" charset="0"/>
              <a:ea typeface="Century Gothic" pitchFamily="34" charset="-122"/>
              <a:cs typeface="Century Gothic" pitchFamily="34" charset="-120"/>
            </a:endParaRPr>
          </a:p>
        </p:txBody>
      </p:sp>
      <p:sp>
        <p:nvSpPr>
          <p:cNvPr id="94" name="Text 62">
            <a:extLst>
              <a:ext uri="{FF2B5EF4-FFF2-40B4-BE49-F238E27FC236}">
                <a16:creationId xmlns:a16="http://schemas.microsoft.com/office/drawing/2014/main" id="{7CF21B56-39E7-453C-B89D-F21B29A72395}"/>
              </a:ext>
            </a:extLst>
          </p:cNvPr>
          <p:cNvSpPr txBox="1"/>
          <p:nvPr/>
        </p:nvSpPr>
        <p:spPr>
          <a:xfrm>
            <a:off x="9145212" y="780051"/>
            <a:ext cx="2651760" cy="182880"/>
          </a:xfrm>
          <a:prstGeom prst="rect">
            <a:avLst/>
          </a:prstGeom>
          <a:noFill/>
          <a:ln/>
        </p:spPr>
        <p:txBody>
          <a:bodyPr wrap="square" lIns="0" tIns="0" rIns="0" bIns="0" rtlCol="0" anchor="ctr"/>
          <a:lstStyle/>
          <a:p>
            <a:pPr marL="0" indent="0" algn="ctr">
              <a:buNone/>
            </a:pPr>
            <a:r>
              <a:rPr lang="en-US" sz="900" b="1" dirty="0">
                <a:solidFill>
                  <a:srgbClr val="667085"/>
                </a:solidFill>
                <a:highlight>
                  <a:srgbClr val="FFFF00"/>
                </a:highlight>
                <a:latin typeface="Century Gothic" pitchFamily="34" charset="0"/>
                <a:ea typeface="Century Gothic" pitchFamily="34" charset="-122"/>
                <a:cs typeface="Century Gothic" pitchFamily="34" charset="-120"/>
              </a:rPr>
              <a:t>All POS transaction at Neopay</a:t>
            </a:r>
            <a:endParaRPr lang="en-US" sz="900" b="1" dirty="0">
              <a:highlight>
                <a:srgbClr val="FFFF00"/>
              </a:highlight>
            </a:endParaRPr>
          </a:p>
        </p:txBody>
      </p:sp>
      <p:pic>
        <p:nvPicPr>
          <p:cNvPr id="92" name="Image 0" descr="/mnt/user-data/uploads/MASHREQ-NEO_PAY_LOGO-V2-2023-ENG-RGB-01.png">
            <a:extLst>
              <a:ext uri="{FF2B5EF4-FFF2-40B4-BE49-F238E27FC236}">
                <a16:creationId xmlns:a16="http://schemas.microsoft.com/office/drawing/2014/main" id="{3EC96101-03BC-CB35-E780-1E19FD68A65D}"/>
              </a:ext>
            </a:extLst>
          </p:cNvPr>
          <p:cNvPicPr>
            <a:picLocks noChangeAspect="1"/>
          </p:cNvPicPr>
          <p:nvPr/>
        </p:nvPicPr>
        <p:blipFill>
          <a:blip r:embed="rId3"/>
          <a:stretch>
            <a:fillRect/>
          </a:stretch>
        </p:blipFill>
        <p:spPr>
          <a:xfrm>
            <a:off x="9927843" y="2035087"/>
            <a:ext cx="512631" cy="79472"/>
          </a:xfrm>
          <a:prstGeom prst="rect">
            <a:avLst/>
          </a:prstGeom>
        </p:spPr>
      </p:pic>
      <p:pic>
        <p:nvPicPr>
          <p:cNvPr id="98" name="Image 0" descr="/mnt/user-data/uploads/MASHREQ-NEO_PAY_LOGO-V2-2023-ENG-RGB-01.png">
            <a:extLst>
              <a:ext uri="{FF2B5EF4-FFF2-40B4-BE49-F238E27FC236}">
                <a16:creationId xmlns:a16="http://schemas.microsoft.com/office/drawing/2014/main" id="{56E13FB0-BBFD-A1EA-56F7-F59CFFE355B1}"/>
              </a:ext>
            </a:extLst>
          </p:cNvPr>
          <p:cNvPicPr>
            <a:picLocks noChangeAspect="1"/>
          </p:cNvPicPr>
          <p:nvPr/>
        </p:nvPicPr>
        <p:blipFill>
          <a:blip r:embed="rId3"/>
          <a:stretch>
            <a:fillRect/>
          </a:stretch>
        </p:blipFill>
        <p:spPr>
          <a:xfrm>
            <a:off x="9933601" y="4240569"/>
            <a:ext cx="512631" cy="79472"/>
          </a:xfrm>
          <a:prstGeom prst="rect">
            <a:avLst/>
          </a:prstGeom>
        </p:spPr>
      </p:pic>
      <p:pic>
        <p:nvPicPr>
          <p:cNvPr id="101" name="Picture 100" descr="Mashreqbank logo in transparent PNG and vectorized SVG formats">
            <a:extLst>
              <a:ext uri="{FF2B5EF4-FFF2-40B4-BE49-F238E27FC236}">
                <a16:creationId xmlns:a16="http://schemas.microsoft.com/office/drawing/2014/main" id="{A54BACE7-FB3A-048C-5099-94130EC21B32}"/>
              </a:ext>
            </a:extLst>
          </p:cNvPr>
          <p:cNvPicPr>
            <a:picLocks noChangeAspect="1"/>
          </p:cNvPicPr>
          <p:nvPr/>
        </p:nvPicPr>
        <p:blipFill>
          <a:blip r:embed="rId9"/>
          <a:stretch>
            <a:fillRect/>
          </a:stretch>
        </p:blipFill>
        <p:spPr>
          <a:xfrm>
            <a:off x="4130729" y="1745128"/>
            <a:ext cx="683797" cy="328647"/>
          </a:xfrm>
          <a:prstGeom prst="rect">
            <a:avLst/>
          </a:prstGeom>
        </p:spPr>
      </p:pic>
      <p:pic>
        <p:nvPicPr>
          <p:cNvPr id="104" name="Picture 103" descr="Mashreqbank logo in transparent PNG and vectorized SVG formats">
            <a:extLst>
              <a:ext uri="{FF2B5EF4-FFF2-40B4-BE49-F238E27FC236}">
                <a16:creationId xmlns:a16="http://schemas.microsoft.com/office/drawing/2014/main" id="{846C1D2F-9EC2-AF27-A29E-E5B7584C4CE9}"/>
              </a:ext>
            </a:extLst>
          </p:cNvPr>
          <p:cNvPicPr>
            <a:picLocks noChangeAspect="1"/>
          </p:cNvPicPr>
          <p:nvPr/>
        </p:nvPicPr>
        <p:blipFill>
          <a:blip r:embed="rId9"/>
          <a:stretch>
            <a:fillRect/>
          </a:stretch>
        </p:blipFill>
        <p:spPr>
          <a:xfrm>
            <a:off x="4291751" y="3872418"/>
            <a:ext cx="683797" cy="328647"/>
          </a:xfrm>
          <a:prstGeom prst="rect">
            <a:avLst/>
          </a:prstGeom>
        </p:spPr>
      </p:pic>
      <p:pic>
        <p:nvPicPr>
          <p:cNvPr id="107" name="Graphic 106" descr="Badge Cross with solid fill">
            <a:extLst>
              <a:ext uri="{FF2B5EF4-FFF2-40B4-BE49-F238E27FC236}">
                <a16:creationId xmlns:a16="http://schemas.microsoft.com/office/drawing/2014/main" id="{CBE2E4F2-DF1D-DA71-30B2-DC1692D2ECF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42404" y="3723323"/>
            <a:ext cx="530611" cy="530611"/>
          </a:xfrm>
          <a:prstGeom prst="rect">
            <a:avLst/>
          </a:prstGeom>
        </p:spPr>
      </p:pic>
      <p:sp>
        <p:nvSpPr>
          <p:cNvPr id="109" name="Shape 34">
            <a:extLst>
              <a:ext uri="{FF2B5EF4-FFF2-40B4-BE49-F238E27FC236}">
                <a16:creationId xmlns:a16="http://schemas.microsoft.com/office/drawing/2014/main" id="{9560295C-ED80-8600-B60C-62BB82452F21}"/>
              </a:ext>
            </a:extLst>
          </p:cNvPr>
          <p:cNvSpPr/>
          <p:nvPr/>
        </p:nvSpPr>
        <p:spPr>
          <a:xfrm>
            <a:off x="11499649" y="2003213"/>
            <a:ext cx="420624" cy="201168"/>
          </a:xfrm>
          <a:prstGeom prst="roundRect">
            <a:avLst>
              <a:gd name="adj" fmla="val 50000"/>
            </a:avLst>
          </a:prstGeom>
          <a:solidFill>
            <a:srgbClr val="4A5568"/>
          </a:solidFill>
          <a:ln/>
        </p:spPr>
        <p:txBody>
          <a:bodyPr/>
          <a:lstStyle/>
          <a:p>
            <a:endParaRPr lang="en-US"/>
          </a:p>
        </p:txBody>
      </p:sp>
      <p:sp>
        <p:nvSpPr>
          <p:cNvPr id="113" name="Text 35">
            <a:extLst>
              <a:ext uri="{FF2B5EF4-FFF2-40B4-BE49-F238E27FC236}">
                <a16:creationId xmlns:a16="http://schemas.microsoft.com/office/drawing/2014/main" id="{DF99931C-94DD-BA4F-3CAC-2FAB8AEC9990}"/>
              </a:ext>
            </a:extLst>
          </p:cNvPr>
          <p:cNvSpPr txBox="1"/>
          <p:nvPr/>
        </p:nvSpPr>
        <p:spPr>
          <a:xfrm>
            <a:off x="11499649" y="2003213"/>
            <a:ext cx="420624"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entury Gothic" pitchFamily="34" charset="0"/>
                <a:ea typeface="Century Gothic" pitchFamily="34" charset="-122"/>
                <a:cs typeface="Century Gothic" pitchFamily="34" charset="-120"/>
              </a:rPr>
              <a:t>KDC</a:t>
            </a:r>
            <a:endParaRPr lang="en-US" sz="800" dirty="0"/>
          </a:p>
        </p:txBody>
      </p:sp>
      <p:sp>
        <p:nvSpPr>
          <p:cNvPr id="115" name="Shape 34">
            <a:extLst>
              <a:ext uri="{FF2B5EF4-FFF2-40B4-BE49-F238E27FC236}">
                <a16:creationId xmlns:a16="http://schemas.microsoft.com/office/drawing/2014/main" id="{43926419-5AA4-384C-9894-4C68565AE812}"/>
              </a:ext>
            </a:extLst>
          </p:cNvPr>
          <p:cNvSpPr/>
          <p:nvPr/>
        </p:nvSpPr>
        <p:spPr>
          <a:xfrm>
            <a:off x="11499649" y="4187952"/>
            <a:ext cx="420624" cy="201168"/>
          </a:xfrm>
          <a:prstGeom prst="roundRect">
            <a:avLst>
              <a:gd name="adj" fmla="val 50000"/>
            </a:avLst>
          </a:prstGeom>
          <a:solidFill>
            <a:srgbClr val="4A5568"/>
          </a:solidFill>
          <a:ln/>
        </p:spPr>
        <p:txBody>
          <a:bodyPr/>
          <a:lstStyle/>
          <a:p>
            <a:endParaRPr lang="en-US"/>
          </a:p>
        </p:txBody>
      </p:sp>
      <p:sp>
        <p:nvSpPr>
          <p:cNvPr id="117" name="Text 35">
            <a:extLst>
              <a:ext uri="{FF2B5EF4-FFF2-40B4-BE49-F238E27FC236}">
                <a16:creationId xmlns:a16="http://schemas.microsoft.com/office/drawing/2014/main" id="{1C19FECD-8E8D-7016-2295-FF4447375E2B}"/>
              </a:ext>
            </a:extLst>
          </p:cNvPr>
          <p:cNvSpPr txBox="1"/>
          <p:nvPr/>
        </p:nvSpPr>
        <p:spPr>
          <a:xfrm>
            <a:off x="11499649" y="4187952"/>
            <a:ext cx="420624"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entury Gothic" pitchFamily="34" charset="0"/>
                <a:ea typeface="Century Gothic" pitchFamily="34" charset="-122"/>
                <a:cs typeface="Century Gothic" pitchFamily="34" charset="-120"/>
              </a:rPr>
              <a:t>DXB</a:t>
            </a:r>
            <a:endParaRPr lang="en-US" sz="800" dirty="0"/>
          </a:p>
        </p:txBody>
      </p:sp>
      <p:sp>
        <p:nvSpPr>
          <p:cNvPr id="119" name="Text 45">
            <a:extLst>
              <a:ext uri="{FF2B5EF4-FFF2-40B4-BE49-F238E27FC236}">
                <a16:creationId xmlns:a16="http://schemas.microsoft.com/office/drawing/2014/main" id="{8FE7E2D9-3E08-0F34-9E48-CF6C84DCAF23}"/>
              </a:ext>
            </a:extLst>
          </p:cNvPr>
          <p:cNvSpPr txBox="1"/>
          <p:nvPr/>
        </p:nvSpPr>
        <p:spPr>
          <a:xfrm>
            <a:off x="10844784" y="2946400"/>
            <a:ext cx="1143000" cy="182880"/>
          </a:xfrm>
          <a:prstGeom prst="rect">
            <a:avLst/>
          </a:prstGeom>
          <a:noFill/>
          <a:ln/>
        </p:spPr>
        <p:txBody>
          <a:bodyPr wrap="square" lIns="0" tIns="0" rIns="0" bIns="0" rtlCol="0" anchor="ctr"/>
          <a:lstStyle/>
          <a:p>
            <a:pPr algn="ctr"/>
            <a:r>
              <a:rPr lang="en-US" sz="900" b="1" dirty="0">
                <a:solidFill>
                  <a:srgbClr val="213C81"/>
                </a:solidFill>
                <a:latin typeface="Century Gothic" pitchFamily="34" charset="0"/>
                <a:ea typeface="Century Gothic" pitchFamily="34" charset="-122"/>
                <a:cs typeface="Century Gothic" pitchFamily="34" charset="-120"/>
              </a:rPr>
              <a:t>Postilion Server </a:t>
            </a:r>
            <a:r>
              <a:rPr lang="en-US" sz="900" b="1" dirty="0">
                <a:solidFill>
                  <a:srgbClr val="EF4922"/>
                </a:solidFill>
                <a:latin typeface="Century Gothic" pitchFamily="34" charset="0"/>
                <a:ea typeface="Century Gothic" pitchFamily="34" charset="-122"/>
                <a:cs typeface="Century Gothic" pitchFamily="34" charset="-120"/>
              </a:rPr>
              <a:t>(</a:t>
            </a:r>
            <a:r>
              <a:rPr lang="en-US" sz="900" b="1" dirty="0">
                <a:solidFill>
                  <a:srgbClr val="EF4922"/>
                </a:solidFill>
                <a:latin typeface="Century Gothic" pitchFamily="34" charset="0"/>
              </a:rPr>
              <a:t>RT3)</a:t>
            </a:r>
            <a:endParaRPr lang="en-US" sz="900" dirty="0"/>
          </a:p>
        </p:txBody>
      </p:sp>
      <p:sp>
        <p:nvSpPr>
          <p:cNvPr id="121" name="Text 64">
            <a:extLst>
              <a:ext uri="{FF2B5EF4-FFF2-40B4-BE49-F238E27FC236}">
                <a16:creationId xmlns:a16="http://schemas.microsoft.com/office/drawing/2014/main" id="{4BDA5FAC-5C85-2232-AB29-15DC2CEB4824}"/>
              </a:ext>
            </a:extLst>
          </p:cNvPr>
          <p:cNvSpPr txBox="1"/>
          <p:nvPr/>
        </p:nvSpPr>
        <p:spPr>
          <a:xfrm>
            <a:off x="9793224" y="3227832"/>
            <a:ext cx="2221992" cy="182880"/>
          </a:xfrm>
          <a:prstGeom prst="rect">
            <a:avLst/>
          </a:prstGeom>
          <a:noFill/>
          <a:ln/>
        </p:spPr>
        <p:txBody>
          <a:bodyPr wrap="square" lIns="0" tIns="0" rIns="0" bIns="0" rtlCol="0" anchor="ctr"/>
          <a:lstStyle/>
          <a:p>
            <a:pPr marL="0" indent="0" algn="ctr">
              <a:buNone/>
            </a:pPr>
            <a:r>
              <a:rPr lang="en-US" sz="600" dirty="0">
                <a:solidFill>
                  <a:srgbClr val="00B050"/>
                </a:solidFill>
                <a:latin typeface="Century Gothic" pitchFamily="34" charset="0"/>
                <a:ea typeface="Century Gothic" pitchFamily="34" charset="-122"/>
                <a:cs typeface="Century Gothic" pitchFamily="34" charset="-120"/>
              </a:rPr>
              <a:t>Server Live from 7</a:t>
            </a:r>
            <a:r>
              <a:rPr lang="en-US" sz="600" baseline="30000" dirty="0">
                <a:solidFill>
                  <a:srgbClr val="00B050"/>
                </a:solidFill>
                <a:latin typeface="Century Gothic" pitchFamily="34" charset="0"/>
                <a:ea typeface="Century Gothic" pitchFamily="34" charset="-122"/>
                <a:cs typeface="Century Gothic" pitchFamily="34" charset="-120"/>
              </a:rPr>
              <a:t>th</a:t>
            </a:r>
            <a:r>
              <a:rPr lang="en-US" sz="600" dirty="0">
                <a:solidFill>
                  <a:srgbClr val="00B050"/>
                </a:solidFill>
                <a:latin typeface="Century Gothic" pitchFamily="34" charset="0"/>
                <a:ea typeface="Century Gothic" pitchFamily="34" charset="-122"/>
                <a:cs typeface="Century Gothic" pitchFamily="34" charset="-120"/>
              </a:rPr>
              <a:t> Sep</a:t>
            </a:r>
            <a:endParaRPr lang="en-US" sz="600" dirty="0">
              <a:solidFill>
                <a:srgbClr val="00B050"/>
              </a:solidFill>
            </a:endParaRPr>
          </a:p>
        </p:txBody>
      </p:sp>
      <p:sp>
        <p:nvSpPr>
          <p:cNvPr id="123" name="Text 50">
            <a:extLst>
              <a:ext uri="{FF2B5EF4-FFF2-40B4-BE49-F238E27FC236}">
                <a16:creationId xmlns:a16="http://schemas.microsoft.com/office/drawing/2014/main" id="{2E81F0E7-C5BB-76A8-166B-4B75CE08616C}"/>
              </a:ext>
            </a:extLst>
          </p:cNvPr>
          <p:cNvSpPr txBox="1"/>
          <p:nvPr/>
        </p:nvSpPr>
        <p:spPr>
          <a:xfrm>
            <a:off x="10844784" y="5140960"/>
            <a:ext cx="1143000" cy="182880"/>
          </a:xfrm>
          <a:prstGeom prst="rect">
            <a:avLst/>
          </a:prstGeom>
          <a:noFill/>
          <a:ln/>
        </p:spPr>
        <p:txBody>
          <a:bodyPr wrap="square" lIns="0" tIns="0" rIns="0" bIns="0" rtlCol="0" anchor="ctr"/>
          <a:lstStyle/>
          <a:p>
            <a:pPr algn="ctr"/>
            <a:r>
              <a:rPr lang="en-US" sz="900" b="1" dirty="0">
                <a:solidFill>
                  <a:srgbClr val="213C81"/>
                </a:solidFill>
                <a:latin typeface="Century Gothic" pitchFamily="34" charset="0"/>
                <a:ea typeface="Century Gothic" pitchFamily="34" charset="-122"/>
                <a:cs typeface="Century Gothic" pitchFamily="34" charset="-120"/>
              </a:rPr>
              <a:t>Postilion Server</a:t>
            </a:r>
            <a:r>
              <a:rPr lang="en-US" sz="900" b="1" dirty="0">
                <a:solidFill>
                  <a:srgbClr val="EF4922"/>
                </a:solidFill>
                <a:latin typeface="Century Gothic" pitchFamily="34" charset="0"/>
                <a:ea typeface="Century Gothic" pitchFamily="34" charset="-122"/>
                <a:cs typeface="Century Gothic" pitchFamily="34" charset="-120"/>
              </a:rPr>
              <a:t> (</a:t>
            </a:r>
            <a:r>
              <a:rPr lang="en-US" sz="900" b="1" dirty="0">
                <a:solidFill>
                  <a:srgbClr val="EF4922"/>
                </a:solidFill>
                <a:latin typeface="Century Gothic" pitchFamily="34" charset="0"/>
              </a:rPr>
              <a:t>RT4)</a:t>
            </a:r>
            <a:endParaRPr lang="en-US" sz="900" dirty="0"/>
          </a:p>
        </p:txBody>
      </p:sp>
      <p:sp>
        <p:nvSpPr>
          <p:cNvPr id="125" name="Text 64">
            <a:extLst>
              <a:ext uri="{FF2B5EF4-FFF2-40B4-BE49-F238E27FC236}">
                <a16:creationId xmlns:a16="http://schemas.microsoft.com/office/drawing/2014/main" id="{4242B972-D6D4-FE0B-3D25-2773F16C9442}"/>
              </a:ext>
            </a:extLst>
          </p:cNvPr>
          <p:cNvSpPr txBox="1"/>
          <p:nvPr/>
        </p:nvSpPr>
        <p:spPr>
          <a:xfrm>
            <a:off x="9793224" y="5422392"/>
            <a:ext cx="2221992" cy="182880"/>
          </a:xfrm>
          <a:prstGeom prst="rect">
            <a:avLst/>
          </a:prstGeom>
          <a:noFill/>
          <a:ln/>
        </p:spPr>
        <p:txBody>
          <a:bodyPr wrap="square" lIns="0" tIns="0" rIns="0" bIns="0" rtlCol="0" anchor="ctr"/>
          <a:lstStyle/>
          <a:p>
            <a:pPr marL="0" indent="0" algn="ctr">
              <a:buNone/>
            </a:pPr>
            <a:r>
              <a:rPr lang="en-US" sz="600" dirty="0">
                <a:solidFill>
                  <a:srgbClr val="C00000"/>
                </a:solidFill>
                <a:latin typeface="Century Gothic" pitchFamily="34" charset="0"/>
                <a:ea typeface="Century Gothic" pitchFamily="34" charset="-122"/>
                <a:cs typeface="Century Gothic" pitchFamily="34" charset="-120"/>
              </a:rPr>
              <a:t>Server will be live on 8</a:t>
            </a:r>
            <a:r>
              <a:rPr lang="en-US" sz="600" baseline="30000" dirty="0">
                <a:solidFill>
                  <a:srgbClr val="C00000"/>
                </a:solidFill>
                <a:latin typeface="Century Gothic" pitchFamily="34" charset="0"/>
                <a:ea typeface="Century Gothic" pitchFamily="34" charset="-122"/>
                <a:cs typeface="Century Gothic" pitchFamily="34" charset="-120"/>
              </a:rPr>
              <a:t>th</a:t>
            </a:r>
            <a:r>
              <a:rPr lang="en-US" sz="600" dirty="0">
                <a:solidFill>
                  <a:srgbClr val="C00000"/>
                </a:solidFill>
                <a:latin typeface="Century Gothic" pitchFamily="34" charset="0"/>
                <a:ea typeface="Century Gothic" pitchFamily="34" charset="-122"/>
                <a:cs typeface="Century Gothic" pitchFamily="34" charset="-120"/>
              </a:rPr>
              <a:t> Oct </a:t>
            </a:r>
            <a:endParaRPr lang="en-US" sz="600" dirty="0">
              <a:solidFill>
                <a:srgbClr val="C00000"/>
              </a:solidFill>
            </a:endParaRPr>
          </a:p>
        </p:txBody>
      </p:sp>
      <p:sp>
        <p:nvSpPr>
          <p:cNvPr id="127" name="Text 23">
            <a:extLst>
              <a:ext uri="{FF2B5EF4-FFF2-40B4-BE49-F238E27FC236}">
                <a16:creationId xmlns:a16="http://schemas.microsoft.com/office/drawing/2014/main" id="{6B6FC958-012A-0F59-F87D-F5F6D9E26C1B}"/>
              </a:ext>
            </a:extLst>
          </p:cNvPr>
          <p:cNvSpPr txBox="1"/>
          <p:nvPr/>
        </p:nvSpPr>
        <p:spPr>
          <a:xfrm>
            <a:off x="473896" y="6381327"/>
            <a:ext cx="11277295" cy="329184"/>
          </a:xfrm>
          <a:prstGeom prst="rect">
            <a:avLst/>
          </a:prstGeom>
          <a:noFill/>
          <a:ln/>
        </p:spPr>
        <p:txBody>
          <a:bodyPr wrap="square" lIns="0" tIns="0" rIns="0" bIns="0" rtlCol="0" anchor="t"/>
          <a:lstStyle/>
          <a:p>
            <a:r>
              <a:rPr lang="en-US" sz="800" b="1" i="1" dirty="0">
                <a:solidFill>
                  <a:srgbClr val="C00000"/>
                </a:solidFill>
                <a:latin typeface="Century Gothic" pitchFamily="34" charset="0"/>
              </a:rPr>
              <a:t>Mashreq – NEOPAY need to agree the risk of operation model for 2 months, till the links are delivered at NEOPAY.</a:t>
            </a:r>
          </a:p>
          <a:p>
            <a:r>
              <a:rPr lang="en-US" sz="800" b="1" i="1" dirty="0">
                <a:solidFill>
                  <a:srgbClr val="C00000"/>
                </a:solidFill>
                <a:latin typeface="Century Gothic" pitchFamily="34" charset="0"/>
              </a:rPr>
              <a:t> </a:t>
            </a:r>
          </a:p>
          <a:p>
            <a:r>
              <a:rPr lang="en-US" sz="800" b="1" i="1" dirty="0">
                <a:solidFill>
                  <a:srgbClr val="C00000"/>
                </a:solidFill>
                <a:highlight>
                  <a:srgbClr val="FFFF00"/>
                </a:highlight>
                <a:latin typeface="Century Gothic" pitchFamily="34" charset="0"/>
                <a:ea typeface="Century Gothic" pitchFamily="34" charset="-122"/>
                <a:cs typeface="Century Gothic" pitchFamily="34" charset="-120"/>
              </a:rPr>
              <a:t>Mastercard &amp; VISA connection will stay at Mashreq DC, the cross-connectivity risk still open for a year </a:t>
            </a:r>
            <a:endParaRPr lang="en-US" sz="800" b="1" i="1" dirty="0">
              <a:solidFill>
                <a:srgbClr val="C00000"/>
              </a:solidFill>
            </a:endParaRPr>
          </a:p>
        </p:txBody>
      </p:sp>
    </p:spTree>
    <p:extLst>
      <p:ext uri="{BB962C8B-B14F-4D97-AF65-F5344CB8AC3E}">
        <p14:creationId xmlns:p14="http://schemas.microsoft.com/office/powerpoint/2010/main" val="204472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6" name="Connector 58">
            <a:extLst>
              <a:ext uri="{FF2B5EF4-FFF2-40B4-BE49-F238E27FC236}">
                <a16:creationId xmlns:a16="http://schemas.microsoft.com/office/drawing/2014/main" id="{E4110FF8-68B8-9134-C353-809A47D4A910}"/>
              </a:ext>
            </a:extLst>
          </p:cNvPr>
          <p:cNvCxnSpPr/>
          <p:nvPr/>
        </p:nvCxnSpPr>
        <p:spPr>
          <a:xfrm flipV="1">
            <a:off x="3355848" y="2679192"/>
            <a:ext cx="1234440" cy="1837944"/>
          </a:xfrm>
          <a:prstGeom prst="line">
            <a:avLst/>
          </a:prstGeom>
          <a:ln w="22225">
            <a:solidFill>
              <a:srgbClr val="1A62C4"/>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291840" y="2606040"/>
            <a:ext cx="1234440" cy="1837944"/>
          </a:xfrm>
          <a:prstGeom prst="line">
            <a:avLst/>
          </a:prstGeom>
          <a:ln w="22225">
            <a:solidFill>
              <a:srgbClr val="1A62C4"/>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a:cxnSpLocks/>
          </p:cNvCxnSpPr>
          <p:nvPr/>
        </p:nvCxnSpPr>
        <p:spPr>
          <a:xfrm>
            <a:off x="3246120" y="2674620"/>
            <a:ext cx="1335024" cy="1769364"/>
          </a:xfrm>
          <a:prstGeom prst="line">
            <a:avLst/>
          </a:prstGeom>
          <a:ln w="22225">
            <a:solidFill>
              <a:srgbClr val="1B8A3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a:cxnSpLocks/>
          </p:cNvCxnSpPr>
          <p:nvPr/>
        </p:nvCxnSpPr>
        <p:spPr>
          <a:xfrm>
            <a:off x="3456432" y="2188343"/>
            <a:ext cx="1069848" cy="0"/>
          </a:xfrm>
          <a:prstGeom prst="line">
            <a:avLst/>
          </a:prstGeom>
          <a:ln w="22225">
            <a:solidFill>
              <a:srgbClr val="1B8A3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456432" y="2304288"/>
            <a:ext cx="1069848" cy="0"/>
          </a:xfrm>
          <a:prstGeom prst="line">
            <a:avLst/>
          </a:prstGeom>
          <a:ln w="22225">
            <a:solidFill>
              <a:srgbClr val="1B8A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a:cxnSpLocks/>
          </p:cNvCxnSpPr>
          <p:nvPr/>
        </p:nvCxnSpPr>
        <p:spPr>
          <a:xfrm flipV="1">
            <a:off x="3246120" y="4709160"/>
            <a:ext cx="1280160" cy="429768"/>
          </a:xfrm>
          <a:prstGeom prst="line">
            <a:avLst/>
          </a:prstGeom>
          <a:ln w="22225">
            <a:solidFill>
              <a:srgbClr val="1A62C4"/>
            </a:solidFill>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457200" y="301752"/>
            <a:ext cx="5486400" cy="219456"/>
          </a:xfrm>
          <a:prstGeom prst="rect">
            <a:avLst/>
          </a:prstGeom>
          <a:noFill/>
        </p:spPr>
        <p:txBody>
          <a:bodyPr wrap="square" lIns="0" tIns="0" rIns="0" bIns="0" anchor="t">
            <a:spAutoFit/>
          </a:bodyPr>
          <a:lstStyle/>
          <a:p>
            <a:pPr algn="l"/>
            <a:r>
              <a:rPr sz="1100" b="1" i="0">
                <a:solidFill>
                  <a:srgbClr val="667085"/>
                </a:solidFill>
                <a:latin typeface="Century Gothic"/>
              </a:rPr>
              <a:t>WAN LINKS MIGRATION</a:t>
            </a:r>
          </a:p>
        </p:txBody>
      </p:sp>
      <p:sp>
        <p:nvSpPr>
          <p:cNvPr id="3" name="TextBox 2"/>
          <p:cNvSpPr txBox="1"/>
          <p:nvPr/>
        </p:nvSpPr>
        <p:spPr>
          <a:xfrm>
            <a:off x="457200" y="548640"/>
            <a:ext cx="9326880" cy="548640"/>
          </a:xfrm>
          <a:prstGeom prst="rect">
            <a:avLst/>
          </a:prstGeom>
          <a:noFill/>
        </p:spPr>
        <p:txBody>
          <a:bodyPr wrap="square" lIns="0" tIns="0" rIns="0" bIns="0" anchor="ctr">
            <a:spAutoFit/>
          </a:bodyPr>
          <a:lstStyle/>
          <a:p>
            <a:pPr algn="l"/>
            <a:r>
              <a:rPr sz="3000" b="1" i="0">
                <a:solidFill>
                  <a:srgbClr val="EF4922"/>
                </a:solidFill>
                <a:latin typeface="Century Gothic"/>
              </a:rPr>
              <a:t>POS Traffic Flow </a:t>
            </a:r>
            <a:r>
              <a:rPr sz="3000" b="1" i="0">
                <a:solidFill>
                  <a:srgbClr val="213C81"/>
                </a:solidFill>
                <a:latin typeface="Century Gothic"/>
              </a:rPr>
              <a:t>&amp; Connectivity </a:t>
            </a:r>
            <a:r>
              <a:rPr sz="3000" b="1" i="0">
                <a:solidFill>
                  <a:srgbClr val="EF4922"/>
                </a:solidFill>
                <a:latin typeface="Century Gothic"/>
              </a:rPr>
              <a:t>| Target State</a:t>
            </a:r>
          </a:p>
        </p:txBody>
      </p:sp>
      <p:pic>
        <p:nvPicPr>
          <p:cNvPr id="4" name="Picture 3" descr="image.png"/>
          <p:cNvPicPr>
            <a:picLocks noChangeAspect="1"/>
          </p:cNvPicPr>
          <p:nvPr/>
        </p:nvPicPr>
        <p:blipFill>
          <a:blip r:embed="rId2"/>
          <a:stretch>
            <a:fillRect/>
          </a:stretch>
        </p:blipFill>
        <p:spPr>
          <a:xfrm>
            <a:off x="9902952" y="384048"/>
            <a:ext cx="1828800" cy="283464"/>
          </a:xfrm>
          <a:prstGeom prst="rect">
            <a:avLst/>
          </a:prstGeom>
        </p:spPr>
      </p:pic>
      <p:sp>
        <p:nvSpPr>
          <p:cNvPr id="5" name="TextBox 4"/>
          <p:cNvSpPr txBox="1"/>
          <p:nvPr/>
        </p:nvSpPr>
        <p:spPr>
          <a:xfrm>
            <a:off x="457200" y="1161288"/>
            <a:ext cx="11274552" cy="274320"/>
          </a:xfrm>
          <a:prstGeom prst="rect">
            <a:avLst/>
          </a:prstGeom>
          <a:noFill/>
        </p:spPr>
        <p:txBody>
          <a:bodyPr wrap="square" lIns="0" tIns="0" rIns="0" bIns="0" anchor="t">
            <a:spAutoFit/>
          </a:bodyPr>
          <a:lstStyle/>
          <a:p>
            <a:pPr algn="l"/>
            <a:r>
              <a:rPr sz="1100" b="1" i="0">
                <a:solidFill>
                  <a:srgbClr val="213C81"/>
                </a:solidFill>
                <a:latin typeface="Century Gothic"/>
              </a:rPr>
              <a:t>Transaction path:  </a:t>
            </a:r>
            <a:r>
              <a:rPr sz="1100" b="0" i="0">
                <a:solidFill>
                  <a:srgbClr val="2B3140"/>
                </a:solidFill>
                <a:latin typeface="Century Gothic"/>
              </a:rPr>
              <a:t>POS terminal  →  Etisalat / Du GPRS cloud  →  Physical link  →  NeoPay DC router  →  Centralized firewall  →  Postilion / TMS</a:t>
            </a:r>
          </a:p>
        </p:txBody>
      </p:sp>
      <p:pic>
        <p:nvPicPr>
          <p:cNvPr id="6" name="Picture 5" descr="image.png"/>
          <p:cNvPicPr>
            <a:picLocks noChangeAspect="1"/>
          </p:cNvPicPr>
          <p:nvPr/>
        </p:nvPicPr>
        <p:blipFill>
          <a:blip r:embed="rId3"/>
          <a:stretch>
            <a:fillRect/>
          </a:stretch>
        </p:blipFill>
        <p:spPr>
          <a:xfrm>
            <a:off x="384048" y="2761488"/>
            <a:ext cx="777240" cy="969264"/>
          </a:xfrm>
          <a:prstGeom prst="rect">
            <a:avLst/>
          </a:prstGeom>
        </p:spPr>
      </p:pic>
      <p:sp>
        <p:nvSpPr>
          <p:cNvPr id="7" name="TextBox 6"/>
          <p:cNvSpPr txBox="1"/>
          <p:nvPr/>
        </p:nvSpPr>
        <p:spPr>
          <a:xfrm>
            <a:off x="91440" y="3803904"/>
            <a:ext cx="1417320" cy="219456"/>
          </a:xfrm>
          <a:prstGeom prst="rect">
            <a:avLst/>
          </a:prstGeom>
          <a:noFill/>
        </p:spPr>
        <p:txBody>
          <a:bodyPr wrap="square" lIns="0" tIns="0" rIns="0" bIns="0" anchor="t">
            <a:spAutoFit/>
          </a:bodyPr>
          <a:lstStyle/>
          <a:p>
            <a:pPr algn="ctr"/>
            <a:r>
              <a:rPr sz="1100" b="1" i="0">
                <a:solidFill>
                  <a:srgbClr val="213C81"/>
                </a:solidFill>
                <a:latin typeface="Century Gothic"/>
              </a:rPr>
              <a:t>POS Machine</a:t>
            </a:r>
          </a:p>
        </p:txBody>
      </p:sp>
      <p:sp>
        <p:nvSpPr>
          <p:cNvPr id="8" name="TextBox 7"/>
          <p:cNvSpPr txBox="1"/>
          <p:nvPr/>
        </p:nvSpPr>
        <p:spPr>
          <a:xfrm>
            <a:off x="91440" y="4023360"/>
            <a:ext cx="1417320" cy="182880"/>
          </a:xfrm>
          <a:prstGeom prst="rect">
            <a:avLst/>
          </a:prstGeom>
          <a:noFill/>
        </p:spPr>
        <p:txBody>
          <a:bodyPr wrap="square" lIns="0" tIns="0" rIns="0" bIns="0" anchor="t">
            <a:spAutoFit/>
          </a:bodyPr>
          <a:lstStyle/>
          <a:p>
            <a:pPr algn="ctr"/>
            <a:r>
              <a:rPr sz="900" b="0" i="0">
                <a:solidFill>
                  <a:srgbClr val="667085"/>
                </a:solidFill>
                <a:latin typeface="Century Gothic"/>
              </a:rPr>
              <a:t>End-point device</a:t>
            </a:r>
          </a:p>
        </p:txBody>
      </p:sp>
      <p:sp>
        <p:nvSpPr>
          <p:cNvPr id="9" name="Rounded Rectangle 8"/>
          <p:cNvSpPr/>
          <p:nvPr/>
        </p:nvSpPr>
        <p:spPr>
          <a:xfrm>
            <a:off x="91440" y="4261104"/>
            <a:ext cx="1444752" cy="548640"/>
          </a:xfrm>
          <a:prstGeom prst="roundRect">
            <a:avLst>
              <a:gd name="adj" fmla="val 25000"/>
            </a:avLst>
          </a:prstGeom>
          <a:solidFill>
            <a:srgbClr val="FDEEE9"/>
          </a:solidFill>
          <a:ln w="9525">
            <a:solidFill>
              <a:srgbClr val="EF4922"/>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1400" b="1">
                <a:solidFill>
                  <a:srgbClr val="EF4922"/>
                </a:solidFill>
                <a:latin typeface="Century Gothic"/>
              </a:rPr>
              <a:t>60,000
</a:t>
            </a:r>
            <a:r>
              <a:rPr sz="800" b="1">
                <a:solidFill>
                  <a:srgbClr val="213C81"/>
                </a:solidFill>
                <a:latin typeface="Century Gothic"/>
              </a:rPr>
              <a:t>POS machines in the field</a:t>
            </a:r>
          </a:p>
        </p:txBody>
      </p:sp>
      <p:sp>
        <p:nvSpPr>
          <p:cNvPr id="10" name="Cloud 9"/>
          <p:cNvSpPr/>
          <p:nvPr/>
        </p:nvSpPr>
        <p:spPr>
          <a:xfrm>
            <a:off x="1783080" y="1783080"/>
            <a:ext cx="1737360" cy="1188720"/>
          </a:xfrm>
          <a:prstGeom prst="cloud">
            <a:avLst/>
          </a:prstGeom>
          <a:solidFill>
            <a:srgbClr val="ECF7EF"/>
          </a:solidFill>
          <a:ln w="15875">
            <a:solidFill>
              <a:srgbClr val="1B8A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Cloud 10"/>
          <p:cNvSpPr/>
          <p:nvPr/>
        </p:nvSpPr>
        <p:spPr>
          <a:xfrm>
            <a:off x="1783080" y="4315968"/>
            <a:ext cx="1737360" cy="1188720"/>
          </a:xfrm>
          <a:prstGeom prst="cloud">
            <a:avLst/>
          </a:prstGeom>
          <a:solidFill>
            <a:srgbClr val="EEF4FD"/>
          </a:solidFill>
          <a:ln w="15875">
            <a:solidFill>
              <a:srgbClr val="1A6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1691640" y="1463040"/>
            <a:ext cx="1920240" cy="219456"/>
          </a:xfrm>
          <a:prstGeom prst="rect">
            <a:avLst/>
          </a:prstGeom>
          <a:noFill/>
        </p:spPr>
        <p:txBody>
          <a:bodyPr wrap="square" lIns="0" tIns="0" rIns="0" bIns="0" anchor="t">
            <a:spAutoFit/>
          </a:bodyPr>
          <a:lstStyle/>
          <a:p>
            <a:pPr algn="ctr"/>
            <a:r>
              <a:rPr sz="1100" b="1" i="0">
                <a:solidFill>
                  <a:srgbClr val="1B8A3E"/>
                </a:solidFill>
                <a:latin typeface="Century Gothic"/>
              </a:rPr>
              <a:t>Etisalat GPRS Cloud</a:t>
            </a:r>
          </a:p>
        </p:txBody>
      </p:sp>
      <p:sp>
        <p:nvSpPr>
          <p:cNvPr id="13" name="TextBox 12"/>
          <p:cNvSpPr txBox="1"/>
          <p:nvPr/>
        </p:nvSpPr>
        <p:spPr>
          <a:xfrm>
            <a:off x="1554480" y="3017520"/>
            <a:ext cx="1737360" cy="182880"/>
          </a:xfrm>
          <a:prstGeom prst="rect">
            <a:avLst/>
          </a:prstGeom>
          <a:noFill/>
        </p:spPr>
        <p:txBody>
          <a:bodyPr wrap="square" lIns="0" tIns="0" rIns="0" bIns="0" anchor="t">
            <a:spAutoFit/>
          </a:bodyPr>
          <a:lstStyle/>
          <a:p>
            <a:pPr algn="ctr"/>
            <a:r>
              <a:rPr sz="900" b="0" i="0">
                <a:solidFill>
                  <a:srgbClr val="667085"/>
                </a:solidFill>
                <a:latin typeface="Century Gothic"/>
              </a:rPr>
              <a:t>2 links to KDC · 1 link to DXB</a:t>
            </a:r>
          </a:p>
        </p:txBody>
      </p:sp>
      <p:sp>
        <p:nvSpPr>
          <p:cNvPr id="14" name="TextBox 13"/>
          <p:cNvSpPr txBox="1"/>
          <p:nvPr/>
        </p:nvSpPr>
        <p:spPr>
          <a:xfrm>
            <a:off x="1691640" y="5541264"/>
            <a:ext cx="1920240" cy="219456"/>
          </a:xfrm>
          <a:prstGeom prst="rect">
            <a:avLst/>
          </a:prstGeom>
          <a:noFill/>
        </p:spPr>
        <p:txBody>
          <a:bodyPr wrap="square" lIns="0" tIns="0" rIns="0" bIns="0" anchor="t">
            <a:spAutoFit/>
          </a:bodyPr>
          <a:lstStyle/>
          <a:p>
            <a:pPr algn="ctr"/>
            <a:r>
              <a:rPr sz="1100" b="1" i="0">
                <a:solidFill>
                  <a:srgbClr val="1A62C4"/>
                </a:solidFill>
                <a:latin typeface="Century Gothic"/>
              </a:rPr>
              <a:t>Du GPRS Cloud</a:t>
            </a:r>
          </a:p>
        </p:txBody>
      </p:sp>
      <p:sp>
        <p:nvSpPr>
          <p:cNvPr id="15" name="TextBox 14"/>
          <p:cNvSpPr txBox="1"/>
          <p:nvPr/>
        </p:nvSpPr>
        <p:spPr>
          <a:xfrm>
            <a:off x="1691640" y="5760720"/>
            <a:ext cx="1920240" cy="182880"/>
          </a:xfrm>
          <a:prstGeom prst="rect">
            <a:avLst/>
          </a:prstGeom>
          <a:noFill/>
        </p:spPr>
        <p:txBody>
          <a:bodyPr wrap="square" lIns="0" tIns="0" rIns="0" bIns="0" anchor="t">
            <a:spAutoFit/>
          </a:bodyPr>
          <a:lstStyle/>
          <a:p>
            <a:pPr algn="ctr"/>
            <a:r>
              <a:rPr sz="900" b="0" i="0">
                <a:solidFill>
                  <a:srgbClr val="667085"/>
                </a:solidFill>
                <a:latin typeface="Century Gothic"/>
              </a:rPr>
              <a:t>2 links to KDC · 1 link to DXB</a:t>
            </a:r>
          </a:p>
        </p:txBody>
      </p:sp>
      <p:sp>
        <p:nvSpPr>
          <p:cNvPr id="18" name="TextBox 17"/>
          <p:cNvSpPr txBox="1"/>
          <p:nvPr/>
        </p:nvSpPr>
        <p:spPr>
          <a:xfrm>
            <a:off x="1243584" y="3529584"/>
            <a:ext cx="548640" cy="182880"/>
          </a:xfrm>
          <a:prstGeom prst="rect">
            <a:avLst/>
          </a:prstGeom>
          <a:noFill/>
        </p:spPr>
        <p:txBody>
          <a:bodyPr wrap="square" lIns="0" tIns="0" rIns="0" bIns="0" anchor="t">
            <a:spAutoFit/>
          </a:bodyPr>
          <a:lstStyle/>
          <a:p>
            <a:pPr algn="l"/>
            <a:r>
              <a:rPr sz="900" b="1" i="0">
                <a:solidFill>
                  <a:srgbClr val="2B3140"/>
                </a:solidFill>
                <a:latin typeface="Century Gothic"/>
              </a:rPr>
              <a:t>GPRS</a:t>
            </a:r>
          </a:p>
        </p:txBody>
      </p:sp>
      <p:sp>
        <p:nvSpPr>
          <p:cNvPr id="19" name="Rounded Rectangle 18"/>
          <p:cNvSpPr/>
          <p:nvPr/>
        </p:nvSpPr>
        <p:spPr>
          <a:xfrm>
            <a:off x="4526280" y="1719072"/>
            <a:ext cx="2926080" cy="1481328"/>
          </a:xfrm>
          <a:prstGeom prst="roundRect">
            <a:avLst>
              <a:gd name="adj" fmla="val 6000"/>
            </a:avLst>
          </a:prstGeom>
          <a:solidFill>
            <a:srgbClr val="F4F7FC"/>
          </a:solidFill>
          <a:ln w="12700">
            <a:solidFill>
              <a:srgbClr val="C7D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0" name="Picture 19" descr="image.png"/>
          <p:cNvPicPr>
            <a:picLocks noChangeAspect="1"/>
          </p:cNvPicPr>
          <p:nvPr/>
        </p:nvPicPr>
        <p:blipFill>
          <a:blip r:embed="rId2"/>
          <a:stretch>
            <a:fillRect/>
          </a:stretch>
        </p:blipFill>
        <p:spPr>
          <a:xfrm>
            <a:off x="4654296" y="1837943"/>
            <a:ext cx="548640" cy="85039"/>
          </a:xfrm>
          <a:prstGeom prst="rect">
            <a:avLst/>
          </a:prstGeom>
        </p:spPr>
      </p:pic>
      <p:sp>
        <p:nvSpPr>
          <p:cNvPr id="21" name="TextBox 20"/>
          <p:cNvSpPr txBox="1"/>
          <p:nvPr/>
        </p:nvSpPr>
        <p:spPr>
          <a:xfrm>
            <a:off x="4654296" y="2002536"/>
            <a:ext cx="1828800" cy="201168"/>
          </a:xfrm>
          <a:prstGeom prst="rect">
            <a:avLst/>
          </a:prstGeom>
          <a:noFill/>
        </p:spPr>
        <p:txBody>
          <a:bodyPr wrap="square" lIns="0" tIns="0" rIns="0" bIns="0" anchor="t">
            <a:spAutoFit/>
          </a:bodyPr>
          <a:lstStyle/>
          <a:p>
            <a:pPr algn="l"/>
            <a:r>
              <a:rPr sz="1000" b="0" i="0">
                <a:solidFill>
                  <a:srgbClr val="4A5568"/>
                </a:solidFill>
                <a:latin typeface="Century Gothic"/>
              </a:rPr>
              <a:t>Primary Datacenter</a:t>
            </a:r>
          </a:p>
        </p:txBody>
      </p:sp>
      <p:sp>
        <p:nvSpPr>
          <p:cNvPr id="22" name="Rounded Rectangle 21"/>
          <p:cNvSpPr/>
          <p:nvPr/>
        </p:nvSpPr>
        <p:spPr>
          <a:xfrm>
            <a:off x="6848856" y="1810512"/>
            <a:ext cx="475488" cy="219456"/>
          </a:xfrm>
          <a:prstGeom prst="roundRect">
            <a:avLst>
              <a:gd name="adj" fmla="val 35000"/>
            </a:avLst>
          </a:prstGeom>
          <a:solidFill>
            <a:srgbClr val="2F374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a:solidFill>
                  <a:srgbClr val="FFFFFF"/>
                </a:solidFill>
                <a:latin typeface="Century Gothic"/>
              </a:rPr>
              <a:t>KDC</a:t>
            </a:r>
          </a:p>
        </p:txBody>
      </p:sp>
      <p:pic>
        <p:nvPicPr>
          <p:cNvPr id="23" name="Picture 22" descr="image.png"/>
          <p:cNvPicPr>
            <a:picLocks noChangeAspect="1"/>
          </p:cNvPicPr>
          <p:nvPr/>
        </p:nvPicPr>
        <p:blipFill>
          <a:blip r:embed="rId4"/>
          <a:stretch>
            <a:fillRect/>
          </a:stretch>
        </p:blipFill>
        <p:spPr>
          <a:xfrm>
            <a:off x="4672584" y="2322576"/>
            <a:ext cx="566928" cy="352044"/>
          </a:xfrm>
          <a:prstGeom prst="rect">
            <a:avLst/>
          </a:prstGeom>
        </p:spPr>
      </p:pic>
      <p:sp>
        <p:nvSpPr>
          <p:cNvPr id="24" name="TextBox 23"/>
          <p:cNvSpPr txBox="1"/>
          <p:nvPr/>
        </p:nvSpPr>
        <p:spPr>
          <a:xfrm>
            <a:off x="4581144" y="2743200"/>
            <a:ext cx="749808" cy="164592"/>
          </a:xfrm>
          <a:prstGeom prst="rect">
            <a:avLst/>
          </a:prstGeom>
          <a:noFill/>
        </p:spPr>
        <p:txBody>
          <a:bodyPr wrap="square" lIns="0" tIns="0" rIns="0" bIns="0" anchor="t">
            <a:spAutoFit/>
          </a:bodyPr>
          <a:lstStyle/>
          <a:p>
            <a:pPr algn="ctr"/>
            <a:r>
              <a:rPr sz="800" b="1" i="0">
                <a:solidFill>
                  <a:srgbClr val="213C81"/>
                </a:solidFill>
                <a:latin typeface="Century Gothic"/>
              </a:rPr>
              <a:t>Router</a:t>
            </a:r>
          </a:p>
        </p:txBody>
      </p:sp>
      <p:sp>
        <p:nvSpPr>
          <p:cNvPr id="25" name="Rounded Rectangle 24"/>
          <p:cNvSpPr/>
          <p:nvPr/>
        </p:nvSpPr>
        <p:spPr>
          <a:xfrm>
            <a:off x="5458968" y="2304288"/>
            <a:ext cx="402336" cy="384048"/>
          </a:xfrm>
          <a:prstGeom prst="roundRect">
            <a:avLst>
              <a:gd name="adj" fmla="val 15000"/>
            </a:avLst>
          </a:prstGeom>
          <a:solidFill>
            <a:srgbClr val="C01A1A"/>
          </a:solidFill>
          <a:ln w="9525">
            <a:solidFill>
              <a:srgbClr val="8A101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a:solidFill>
                  <a:srgbClr val="FFFFFF"/>
                </a:solidFill>
                <a:latin typeface="Century Gothic"/>
              </a:rPr>
              <a:t>FW</a:t>
            </a:r>
          </a:p>
        </p:txBody>
      </p:sp>
      <p:sp>
        <p:nvSpPr>
          <p:cNvPr id="26" name="TextBox 25"/>
          <p:cNvSpPr txBox="1"/>
          <p:nvPr/>
        </p:nvSpPr>
        <p:spPr>
          <a:xfrm>
            <a:off x="5239512" y="2743200"/>
            <a:ext cx="841248" cy="164592"/>
          </a:xfrm>
          <a:prstGeom prst="rect">
            <a:avLst/>
          </a:prstGeom>
          <a:noFill/>
        </p:spPr>
        <p:txBody>
          <a:bodyPr wrap="square" lIns="0" tIns="0" rIns="0" bIns="0" anchor="t">
            <a:spAutoFit/>
          </a:bodyPr>
          <a:lstStyle/>
          <a:p>
            <a:pPr algn="ctr"/>
            <a:r>
              <a:rPr sz="800" b="1" i="0">
                <a:solidFill>
                  <a:srgbClr val="C00000"/>
                </a:solidFill>
                <a:latin typeface="Century Gothic"/>
              </a:rPr>
              <a:t>Firewall</a:t>
            </a:r>
          </a:p>
        </p:txBody>
      </p:sp>
      <p:pic>
        <p:nvPicPr>
          <p:cNvPr id="27" name="Picture 26" descr="image.png"/>
          <p:cNvPicPr>
            <a:picLocks noChangeAspect="1"/>
          </p:cNvPicPr>
          <p:nvPr/>
        </p:nvPicPr>
        <p:blipFill>
          <a:blip r:embed="rId5"/>
          <a:stretch>
            <a:fillRect/>
          </a:stretch>
        </p:blipFill>
        <p:spPr>
          <a:xfrm>
            <a:off x="6227064" y="2304288"/>
            <a:ext cx="301752" cy="374904"/>
          </a:xfrm>
          <a:prstGeom prst="rect">
            <a:avLst/>
          </a:prstGeom>
        </p:spPr>
      </p:pic>
      <p:sp>
        <p:nvSpPr>
          <p:cNvPr id="28" name="TextBox 27"/>
          <p:cNvSpPr txBox="1"/>
          <p:nvPr/>
        </p:nvSpPr>
        <p:spPr>
          <a:xfrm>
            <a:off x="6007608" y="2743200"/>
            <a:ext cx="749808" cy="164592"/>
          </a:xfrm>
          <a:prstGeom prst="rect">
            <a:avLst/>
          </a:prstGeom>
          <a:noFill/>
        </p:spPr>
        <p:txBody>
          <a:bodyPr wrap="square" lIns="0" tIns="0" rIns="0" bIns="0" anchor="t">
            <a:spAutoFit/>
          </a:bodyPr>
          <a:lstStyle/>
          <a:p>
            <a:pPr algn="ctr"/>
            <a:r>
              <a:rPr sz="800" b="1" i="0">
                <a:solidFill>
                  <a:srgbClr val="213C81"/>
                </a:solidFill>
                <a:latin typeface="Century Gothic"/>
              </a:rPr>
              <a:t>Postilion</a:t>
            </a:r>
          </a:p>
        </p:txBody>
      </p:sp>
      <p:pic>
        <p:nvPicPr>
          <p:cNvPr id="29" name="Picture 28" descr="image.png"/>
          <p:cNvPicPr>
            <a:picLocks noChangeAspect="1"/>
          </p:cNvPicPr>
          <p:nvPr/>
        </p:nvPicPr>
        <p:blipFill>
          <a:blip r:embed="rId5"/>
          <a:stretch>
            <a:fillRect/>
          </a:stretch>
        </p:blipFill>
        <p:spPr>
          <a:xfrm>
            <a:off x="6922008" y="2304288"/>
            <a:ext cx="301752" cy="374904"/>
          </a:xfrm>
          <a:prstGeom prst="rect">
            <a:avLst/>
          </a:prstGeom>
        </p:spPr>
      </p:pic>
      <p:sp>
        <p:nvSpPr>
          <p:cNvPr id="30" name="TextBox 29"/>
          <p:cNvSpPr txBox="1"/>
          <p:nvPr/>
        </p:nvSpPr>
        <p:spPr>
          <a:xfrm>
            <a:off x="6702552" y="2743200"/>
            <a:ext cx="749808" cy="164592"/>
          </a:xfrm>
          <a:prstGeom prst="rect">
            <a:avLst/>
          </a:prstGeom>
          <a:noFill/>
        </p:spPr>
        <p:txBody>
          <a:bodyPr wrap="square" lIns="0" tIns="0" rIns="0" bIns="0" anchor="t">
            <a:spAutoFit/>
          </a:bodyPr>
          <a:lstStyle/>
          <a:p>
            <a:pPr algn="ctr"/>
            <a:r>
              <a:rPr sz="800" b="1" i="0">
                <a:solidFill>
                  <a:srgbClr val="213C81"/>
                </a:solidFill>
                <a:latin typeface="Century Gothic"/>
              </a:rPr>
              <a:t>TMS</a:t>
            </a:r>
          </a:p>
        </p:txBody>
      </p:sp>
      <p:cxnSp>
        <p:nvCxnSpPr>
          <p:cNvPr id="31" name="Connector 30"/>
          <p:cNvCxnSpPr/>
          <p:nvPr/>
        </p:nvCxnSpPr>
        <p:spPr>
          <a:xfrm>
            <a:off x="5257800" y="2496312"/>
            <a:ext cx="201168" cy="0"/>
          </a:xfrm>
          <a:prstGeom prst="line">
            <a:avLst/>
          </a:prstGeom>
          <a:ln w="15875">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61304" y="2496312"/>
            <a:ext cx="365760" cy="0"/>
          </a:xfrm>
          <a:prstGeom prst="line">
            <a:avLst/>
          </a:prstGeom>
          <a:ln w="15875">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528816" y="2496312"/>
            <a:ext cx="393192" cy="0"/>
          </a:xfrm>
          <a:prstGeom prst="line">
            <a:avLst/>
          </a:prstGeom>
          <a:ln w="15875">
            <a:solidFill>
              <a:srgbClr val="667085"/>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526280" y="4224528"/>
            <a:ext cx="2926080" cy="1481328"/>
          </a:xfrm>
          <a:prstGeom prst="roundRect">
            <a:avLst>
              <a:gd name="adj" fmla="val 6000"/>
            </a:avLst>
          </a:prstGeom>
          <a:solidFill>
            <a:srgbClr val="F2F9F4"/>
          </a:solidFill>
          <a:ln w="12700">
            <a:solidFill>
              <a:srgbClr val="C7D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35" name="Picture 34" descr="image.png"/>
          <p:cNvPicPr>
            <a:picLocks noChangeAspect="1"/>
          </p:cNvPicPr>
          <p:nvPr/>
        </p:nvPicPr>
        <p:blipFill>
          <a:blip r:embed="rId2"/>
          <a:stretch>
            <a:fillRect/>
          </a:stretch>
        </p:blipFill>
        <p:spPr>
          <a:xfrm>
            <a:off x="4654296" y="4343400"/>
            <a:ext cx="548640" cy="85039"/>
          </a:xfrm>
          <a:prstGeom prst="rect">
            <a:avLst/>
          </a:prstGeom>
        </p:spPr>
      </p:pic>
      <p:sp>
        <p:nvSpPr>
          <p:cNvPr id="36" name="TextBox 35"/>
          <p:cNvSpPr txBox="1"/>
          <p:nvPr/>
        </p:nvSpPr>
        <p:spPr>
          <a:xfrm>
            <a:off x="4654296" y="4507992"/>
            <a:ext cx="1828800" cy="201168"/>
          </a:xfrm>
          <a:prstGeom prst="rect">
            <a:avLst/>
          </a:prstGeom>
          <a:noFill/>
        </p:spPr>
        <p:txBody>
          <a:bodyPr wrap="square" lIns="0" tIns="0" rIns="0" bIns="0" anchor="t">
            <a:spAutoFit/>
          </a:bodyPr>
          <a:lstStyle/>
          <a:p>
            <a:pPr algn="l"/>
            <a:r>
              <a:rPr sz="1000" b="0" i="0">
                <a:solidFill>
                  <a:srgbClr val="4A5568"/>
                </a:solidFill>
                <a:latin typeface="Century Gothic"/>
              </a:rPr>
              <a:t>Secondary Datacenter</a:t>
            </a:r>
          </a:p>
        </p:txBody>
      </p:sp>
      <p:sp>
        <p:nvSpPr>
          <p:cNvPr id="37" name="Rounded Rectangle 36"/>
          <p:cNvSpPr/>
          <p:nvPr/>
        </p:nvSpPr>
        <p:spPr>
          <a:xfrm>
            <a:off x="6848856" y="4315968"/>
            <a:ext cx="475488" cy="219456"/>
          </a:xfrm>
          <a:prstGeom prst="roundRect">
            <a:avLst>
              <a:gd name="adj" fmla="val 35000"/>
            </a:avLst>
          </a:prstGeom>
          <a:solidFill>
            <a:srgbClr val="2F374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a:solidFill>
                  <a:srgbClr val="FFFFFF"/>
                </a:solidFill>
                <a:latin typeface="Century Gothic"/>
              </a:rPr>
              <a:t>DXB</a:t>
            </a:r>
          </a:p>
        </p:txBody>
      </p:sp>
      <p:pic>
        <p:nvPicPr>
          <p:cNvPr id="38" name="Picture 37" descr="image.png"/>
          <p:cNvPicPr>
            <a:picLocks noChangeAspect="1"/>
          </p:cNvPicPr>
          <p:nvPr/>
        </p:nvPicPr>
        <p:blipFill>
          <a:blip r:embed="rId4"/>
          <a:stretch>
            <a:fillRect/>
          </a:stretch>
        </p:blipFill>
        <p:spPr>
          <a:xfrm>
            <a:off x="4672584" y="4828032"/>
            <a:ext cx="566928" cy="352044"/>
          </a:xfrm>
          <a:prstGeom prst="rect">
            <a:avLst/>
          </a:prstGeom>
        </p:spPr>
      </p:pic>
      <p:sp>
        <p:nvSpPr>
          <p:cNvPr id="39" name="TextBox 38"/>
          <p:cNvSpPr txBox="1"/>
          <p:nvPr/>
        </p:nvSpPr>
        <p:spPr>
          <a:xfrm>
            <a:off x="4581144" y="5248656"/>
            <a:ext cx="749808" cy="164592"/>
          </a:xfrm>
          <a:prstGeom prst="rect">
            <a:avLst/>
          </a:prstGeom>
          <a:noFill/>
        </p:spPr>
        <p:txBody>
          <a:bodyPr wrap="square" lIns="0" tIns="0" rIns="0" bIns="0" anchor="t">
            <a:spAutoFit/>
          </a:bodyPr>
          <a:lstStyle/>
          <a:p>
            <a:pPr algn="ctr"/>
            <a:r>
              <a:rPr sz="800" b="1" i="0">
                <a:solidFill>
                  <a:srgbClr val="213C81"/>
                </a:solidFill>
                <a:latin typeface="Century Gothic"/>
              </a:rPr>
              <a:t>Router</a:t>
            </a:r>
          </a:p>
        </p:txBody>
      </p:sp>
      <p:sp>
        <p:nvSpPr>
          <p:cNvPr id="40" name="Rounded Rectangle 39"/>
          <p:cNvSpPr/>
          <p:nvPr/>
        </p:nvSpPr>
        <p:spPr>
          <a:xfrm>
            <a:off x="5458968" y="4809744"/>
            <a:ext cx="402336" cy="384048"/>
          </a:xfrm>
          <a:prstGeom prst="roundRect">
            <a:avLst>
              <a:gd name="adj" fmla="val 15000"/>
            </a:avLst>
          </a:prstGeom>
          <a:solidFill>
            <a:srgbClr val="C01A1A"/>
          </a:solidFill>
          <a:ln w="9525">
            <a:solidFill>
              <a:srgbClr val="8A101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a:solidFill>
                  <a:srgbClr val="FFFFFF"/>
                </a:solidFill>
                <a:latin typeface="Century Gothic"/>
              </a:rPr>
              <a:t>FW</a:t>
            </a:r>
          </a:p>
        </p:txBody>
      </p:sp>
      <p:sp>
        <p:nvSpPr>
          <p:cNvPr id="41" name="TextBox 40"/>
          <p:cNvSpPr txBox="1"/>
          <p:nvPr/>
        </p:nvSpPr>
        <p:spPr>
          <a:xfrm>
            <a:off x="5239512" y="5248656"/>
            <a:ext cx="841248" cy="164592"/>
          </a:xfrm>
          <a:prstGeom prst="rect">
            <a:avLst/>
          </a:prstGeom>
          <a:noFill/>
        </p:spPr>
        <p:txBody>
          <a:bodyPr wrap="square" lIns="0" tIns="0" rIns="0" bIns="0" anchor="t">
            <a:spAutoFit/>
          </a:bodyPr>
          <a:lstStyle/>
          <a:p>
            <a:pPr algn="ctr"/>
            <a:r>
              <a:rPr sz="800" b="1" i="0">
                <a:solidFill>
                  <a:srgbClr val="C00000"/>
                </a:solidFill>
                <a:latin typeface="Century Gothic"/>
              </a:rPr>
              <a:t>Firewall</a:t>
            </a:r>
          </a:p>
        </p:txBody>
      </p:sp>
      <p:pic>
        <p:nvPicPr>
          <p:cNvPr id="42" name="Picture 41" descr="image.png"/>
          <p:cNvPicPr>
            <a:picLocks noChangeAspect="1"/>
          </p:cNvPicPr>
          <p:nvPr/>
        </p:nvPicPr>
        <p:blipFill>
          <a:blip r:embed="rId5"/>
          <a:stretch>
            <a:fillRect/>
          </a:stretch>
        </p:blipFill>
        <p:spPr>
          <a:xfrm>
            <a:off x="6227064" y="4809744"/>
            <a:ext cx="301752" cy="374904"/>
          </a:xfrm>
          <a:prstGeom prst="rect">
            <a:avLst/>
          </a:prstGeom>
        </p:spPr>
      </p:pic>
      <p:sp>
        <p:nvSpPr>
          <p:cNvPr id="43" name="TextBox 42"/>
          <p:cNvSpPr txBox="1"/>
          <p:nvPr/>
        </p:nvSpPr>
        <p:spPr>
          <a:xfrm>
            <a:off x="6007608" y="5248656"/>
            <a:ext cx="749808" cy="164592"/>
          </a:xfrm>
          <a:prstGeom prst="rect">
            <a:avLst/>
          </a:prstGeom>
          <a:noFill/>
        </p:spPr>
        <p:txBody>
          <a:bodyPr wrap="square" lIns="0" tIns="0" rIns="0" bIns="0" anchor="t">
            <a:spAutoFit/>
          </a:bodyPr>
          <a:lstStyle/>
          <a:p>
            <a:pPr algn="ctr"/>
            <a:r>
              <a:rPr sz="800" b="1" i="0">
                <a:solidFill>
                  <a:srgbClr val="213C81"/>
                </a:solidFill>
                <a:latin typeface="Century Gothic"/>
              </a:rPr>
              <a:t>Postilion</a:t>
            </a:r>
          </a:p>
        </p:txBody>
      </p:sp>
      <p:pic>
        <p:nvPicPr>
          <p:cNvPr id="44" name="Picture 43" descr="image.png"/>
          <p:cNvPicPr>
            <a:picLocks noChangeAspect="1"/>
          </p:cNvPicPr>
          <p:nvPr/>
        </p:nvPicPr>
        <p:blipFill>
          <a:blip r:embed="rId5"/>
          <a:stretch>
            <a:fillRect/>
          </a:stretch>
        </p:blipFill>
        <p:spPr>
          <a:xfrm>
            <a:off x="6922008" y="4809744"/>
            <a:ext cx="301752" cy="374904"/>
          </a:xfrm>
          <a:prstGeom prst="rect">
            <a:avLst/>
          </a:prstGeom>
        </p:spPr>
      </p:pic>
      <p:sp>
        <p:nvSpPr>
          <p:cNvPr id="45" name="TextBox 44"/>
          <p:cNvSpPr txBox="1"/>
          <p:nvPr/>
        </p:nvSpPr>
        <p:spPr>
          <a:xfrm>
            <a:off x="6702552" y="5248656"/>
            <a:ext cx="749808" cy="164592"/>
          </a:xfrm>
          <a:prstGeom prst="rect">
            <a:avLst/>
          </a:prstGeom>
          <a:noFill/>
        </p:spPr>
        <p:txBody>
          <a:bodyPr wrap="square" lIns="0" tIns="0" rIns="0" bIns="0" anchor="t">
            <a:spAutoFit/>
          </a:bodyPr>
          <a:lstStyle/>
          <a:p>
            <a:pPr algn="ctr"/>
            <a:r>
              <a:rPr sz="800" b="1" i="0">
                <a:solidFill>
                  <a:srgbClr val="213C81"/>
                </a:solidFill>
                <a:latin typeface="Century Gothic"/>
              </a:rPr>
              <a:t>TMS</a:t>
            </a:r>
          </a:p>
        </p:txBody>
      </p:sp>
      <p:cxnSp>
        <p:nvCxnSpPr>
          <p:cNvPr id="46" name="Connector 45"/>
          <p:cNvCxnSpPr/>
          <p:nvPr/>
        </p:nvCxnSpPr>
        <p:spPr>
          <a:xfrm>
            <a:off x="5257800" y="5001768"/>
            <a:ext cx="201168" cy="0"/>
          </a:xfrm>
          <a:prstGeom prst="line">
            <a:avLst/>
          </a:prstGeom>
          <a:ln w="15875">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861304" y="5001768"/>
            <a:ext cx="365760" cy="0"/>
          </a:xfrm>
          <a:prstGeom prst="line">
            <a:avLst/>
          </a:prstGeom>
          <a:ln w="15875">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528816" y="5001768"/>
            <a:ext cx="393192" cy="0"/>
          </a:xfrm>
          <a:prstGeom prst="line">
            <a:avLst/>
          </a:prstGeom>
          <a:ln w="15875">
            <a:solidFill>
              <a:srgbClr val="66708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654296" y="1444751"/>
            <a:ext cx="1463040" cy="237744"/>
          </a:xfrm>
          <a:prstGeom prst="rect">
            <a:avLst/>
          </a:prstGeom>
          <a:noFill/>
        </p:spPr>
        <p:txBody>
          <a:bodyPr wrap="square" lIns="0" tIns="0" rIns="0" bIns="0" anchor="t">
            <a:spAutoFit/>
          </a:bodyPr>
          <a:lstStyle/>
          <a:p>
            <a:pPr algn="l"/>
            <a:r>
              <a:rPr sz="1200" b="1" i="0">
                <a:solidFill>
                  <a:srgbClr val="213C81"/>
                </a:solidFill>
                <a:latin typeface="Century Gothic"/>
              </a:rPr>
              <a:t>NeoPay</a:t>
            </a:r>
          </a:p>
        </p:txBody>
      </p:sp>
      <p:sp>
        <p:nvSpPr>
          <p:cNvPr id="50" name="TextBox 49"/>
          <p:cNvSpPr txBox="1"/>
          <p:nvPr/>
        </p:nvSpPr>
        <p:spPr>
          <a:xfrm>
            <a:off x="4654296" y="3950208"/>
            <a:ext cx="1463040" cy="237744"/>
          </a:xfrm>
          <a:prstGeom prst="rect">
            <a:avLst/>
          </a:prstGeom>
          <a:noFill/>
        </p:spPr>
        <p:txBody>
          <a:bodyPr wrap="square" lIns="0" tIns="0" rIns="0" bIns="0" anchor="t">
            <a:spAutoFit/>
          </a:bodyPr>
          <a:lstStyle/>
          <a:p>
            <a:pPr algn="l"/>
            <a:r>
              <a:rPr sz="1200" b="1" i="0">
                <a:solidFill>
                  <a:srgbClr val="213C81"/>
                </a:solidFill>
                <a:latin typeface="Century Gothic"/>
              </a:rPr>
              <a:t>NeoPay</a:t>
            </a:r>
          </a:p>
        </p:txBody>
      </p:sp>
      <p:cxnSp>
        <p:nvCxnSpPr>
          <p:cNvPr id="51" name="Connector 50"/>
          <p:cNvCxnSpPr/>
          <p:nvPr/>
        </p:nvCxnSpPr>
        <p:spPr>
          <a:xfrm>
            <a:off x="5760720" y="3200400"/>
            <a:ext cx="0" cy="1024128"/>
          </a:xfrm>
          <a:prstGeom prst="line">
            <a:avLst/>
          </a:prstGeom>
          <a:ln w="38100">
            <a:solidFill>
              <a:srgbClr val="2F3747"/>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7024" y="3200400"/>
            <a:ext cx="0" cy="1024128"/>
          </a:xfrm>
          <a:prstGeom prst="line">
            <a:avLst/>
          </a:prstGeom>
          <a:ln w="38100">
            <a:solidFill>
              <a:srgbClr val="2F3747"/>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5193792" y="3547872"/>
            <a:ext cx="1298448" cy="274320"/>
          </a:xfrm>
          <a:prstGeom prst="roundRect">
            <a:avLst>
              <a:gd name="adj" fmla="val 35000"/>
            </a:avLst>
          </a:prstGeom>
          <a:solidFill>
            <a:srgbClr val="FFFFFF"/>
          </a:solidFill>
          <a:ln w="12700">
            <a:solidFill>
              <a:srgbClr val="2F3747"/>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a:solidFill>
                  <a:srgbClr val="2F3747"/>
                </a:solidFill>
                <a:latin typeface="Century Gothic"/>
              </a:rPr>
              <a:t>Inter-DC link · 2G</a:t>
            </a:r>
          </a:p>
        </p:txBody>
      </p:sp>
      <p:sp>
        <p:nvSpPr>
          <p:cNvPr id="60" name="TextBox 59"/>
          <p:cNvSpPr txBox="1"/>
          <p:nvPr/>
        </p:nvSpPr>
        <p:spPr>
          <a:xfrm>
            <a:off x="7726679" y="1426464"/>
            <a:ext cx="4279392" cy="237744"/>
          </a:xfrm>
          <a:prstGeom prst="rect">
            <a:avLst/>
          </a:prstGeom>
          <a:noFill/>
        </p:spPr>
        <p:txBody>
          <a:bodyPr wrap="square" lIns="0" tIns="0" rIns="0" bIns="0" anchor="t">
            <a:spAutoFit/>
          </a:bodyPr>
          <a:lstStyle/>
          <a:p>
            <a:pPr algn="l"/>
            <a:r>
              <a:rPr sz="1100" b="1" i="0">
                <a:solidFill>
                  <a:srgbClr val="213C81"/>
                </a:solidFill>
                <a:latin typeface="Century Gothic"/>
              </a:rPr>
              <a:t>Migration steps – POS links from Mashreq to NeoPay</a:t>
            </a:r>
          </a:p>
        </p:txBody>
      </p:sp>
      <p:graphicFrame>
        <p:nvGraphicFramePr>
          <p:cNvPr id="61" name="Table 60"/>
          <p:cNvGraphicFramePr>
            <a:graphicFrameLocks noGrp="1"/>
          </p:cNvGraphicFramePr>
          <p:nvPr/>
        </p:nvGraphicFramePr>
        <p:xfrm>
          <a:off x="7726679" y="1700784"/>
          <a:ext cx="4279392" cy="274320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2907792">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74320">
                <a:tc>
                  <a:txBody>
                    <a:bodyPr/>
                    <a:lstStyle/>
                    <a:p>
                      <a:pPr algn="ctr"/>
                      <a:r>
                        <a:rPr sz="900" b="1">
                          <a:solidFill>
                            <a:srgbClr val="FFFFFF"/>
                          </a:solidFill>
                          <a:latin typeface="Century Gothic"/>
                        </a:rPr>
                        <a:t>#</a:t>
                      </a:r>
                    </a:p>
                  </a:txBody>
                  <a:tcPr marL="64008" marR="45720" marT="18288" marB="18288" anchor="ctr">
                    <a:solidFill>
                      <a:srgbClr val="213C81"/>
                    </a:solidFill>
                  </a:tcPr>
                </a:tc>
                <a:tc>
                  <a:txBody>
                    <a:bodyPr/>
                    <a:lstStyle/>
                    <a:p>
                      <a:pPr algn="l"/>
                      <a:r>
                        <a:rPr sz="900" b="1">
                          <a:solidFill>
                            <a:srgbClr val="FFFFFF"/>
                          </a:solidFill>
                          <a:latin typeface="Century Gothic"/>
                        </a:rPr>
                        <a:t>Migration activity</a:t>
                      </a:r>
                    </a:p>
                  </a:txBody>
                  <a:tcPr marL="64008" marR="45720" marT="18288" marB="18288" anchor="ctr">
                    <a:solidFill>
                      <a:srgbClr val="213C81"/>
                    </a:solidFill>
                  </a:tcPr>
                </a:tc>
                <a:tc>
                  <a:txBody>
                    <a:bodyPr/>
                    <a:lstStyle/>
                    <a:p>
                      <a:pPr algn="ctr"/>
                      <a:r>
                        <a:rPr sz="900" b="1">
                          <a:solidFill>
                            <a:srgbClr val="FFFFFF"/>
                          </a:solidFill>
                          <a:latin typeface="Century Gothic"/>
                        </a:rPr>
                        <a:t>Target date</a:t>
                      </a:r>
                    </a:p>
                  </a:txBody>
                  <a:tcPr marL="64008" marR="45720" marT="18288" marB="18288" anchor="ctr">
                    <a:solidFill>
                      <a:srgbClr val="213C81"/>
                    </a:solidFill>
                  </a:tcPr>
                </a:tc>
                <a:extLst>
                  <a:ext uri="{0D108BD9-81ED-4DB2-BD59-A6C34878D82A}">
                    <a16:rowId xmlns:a16="http://schemas.microsoft.com/office/drawing/2014/main" val="10000"/>
                  </a:ext>
                </a:extLst>
              </a:tr>
              <a:tr h="274320">
                <a:tc>
                  <a:txBody>
                    <a:bodyPr/>
                    <a:lstStyle/>
                    <a:p>
                      <a:pPr algn="ctr"/>
                      <a:r>
                        <a:rPr sz="900" b="0">
                          <a:solidFill>
                            <a:srgbClr val="2B3140"/>
                          </a:solidFill>
                          <a:latin typeface="Century Gothic"/>
                        </a:rPr>
                        <a:t>1</a:t>
                      </a:r>
                    </a:p>
                  </a:txBody>
                  <a:tcPr marL="64008" marR="45720" marT="18288" marB="18288" anchor="ctr">
                    <a:solidFill>
                      <a:srgbClr val="FFFFFF"/>
                    </a:solidFill>
                  </a:tcPr>
                </a:tc>
                <a:tc>
                  <a:txBody>
                    <a:bodyPr/>
                    <a:lstStyle/>
                    <a:p>
                      <a:pPr algn="l"/>
                      <a:r>
                        <a:rPr sz="900" b="0">
                          <a:solidFill>
                            <a:srgbClr val="2B3140"/>
                          </a:solidFill>
                          <a:latin typeface="Century Gothic"/>
                        </a:rPr>
                        <a:t>Etisalat GPRS link 1 delivery &amp; testing – KDC</a:t>
                      </a:r>
                    </a:p>
                  </a:txBody>
                  <a:tcPr marL="64008" marR="45720" marT="18288" marB="18288" anchor="ctr">
                    <a:solidFill>
                      <a:srgbClr val="FFFFFF"/>
                    </a:solidFill>
                  </a:tcPr>
                </a:tc>
                <a:tc>
                  <a:txBody>
                    <a:bodyPr/>
                    <a:lstStyle/>
                    <a:p>
                      <a:pPr algn="ctr"/>
                      <a:r>
                        <a:rPr sz="900" b="0">
                          <a:solidFill>
                            <a:srgbClr val="2B3140"/>
                          </a:solidFill>
                          <a:latin typeface="Century Gothic"/>
                        </a:rPr>
                        <a:t>TBC</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pPr algn="ctr"/>
                      <a:r>
                        <a:rPr sz="900" b="0">
                          <a:solidFill>
                            <a:srgbClr val="2B3140"/>
                          </a:solidFill>
                          <a:latin typeface="Century Gothic"/>
                        </a:rPr>
                        <a:t>2</a:t>
                      </a:r>
                    </a:p>
                  </a:txBody>
                  <a:tcPr marL="64008" marR="45720" marT="18288" marB="18288" anchor="ctr">
                    <a:solidFill>
                      <a:srgbClr val="F2F5FB"/>
                    </a:solidFill>
                  </a:tcPr>
                </a:tc>
                <a:tc>
                  <a:txBody>
                    <a:bodyPr/>
                    <a:lstStyle/>
                    <a:p>
                      <a:pPr algn="l"/>
                      <a:r>
                        <a:rPr sz="900" b="0">
                          <a:solidFill>
                            <a:srgbClr val="2B3140"/>
                          </a:solidFill>
                          <a:latin typeface="Century Gothic"/>
                        </a:rPr>
                        <a:t>Etisalat GPRS link 2 delivery &amp; testing – KDC</a:t>
                      </a:r>
                    </a:p>
                  </a:txBody>
                  <a:tcPr marL="64008" marR="45720" marT="18288" marB="18288" anchor="ctr">
                    <a:solidFill>
                      <a:srgbClr val="F2F5FB"/>
                    </a:solidFill>
                  </a:tcPr>
                </a:tc>
                <a:tc>
                  <a:txBody>
                    <a:bodyPr/>
                    <a:lstStyle/>
                    <a:p>
                      <a:pPr algn="ctr"/>
                      <a:r>
                        <a:rPr sz="900" b="0">
                          <a:solidFill>
                            <a:srgbClr val="2B3140"/>
                          </a:solidFill>
                          <a:latin typeface="Century Gothic"/>
                        </a:rPr>
                        <a:t>TBC</a:t>
                      </a:r>
                    </a:p>
                  </a:txBody>
                  <a:tcPr marL="64008" marR="45720" marT="18288" marB="18288" anchor="ctr">
                    <a:solidFill>
                      <a:srgbClr val="F2F5FB"/>
                    </a:solidFill>
                  </a:tcPr>
                </a:tc>
                <a:extLst>
                  <a:ext uri="{0D108BD9-81ED-4DB2-BD59-A6C34878D82A}">
                    <a16:rowId xmlns:a16="http://schemas.microsoft.com/office/drawing/2014/main" val="10002"/>
                  </a:ext>
                </a:extLst>
              </a:tr>
              <a:tr h="274320">
                <a:tc>
                  <a:txBody>
                    <a:bodyPr/>
                    <a:lstStyle/>
                    <a:p>
                      <a:pPr algn="ctr"/>
                      <a:r>
                        <a:rPr sz="900" b="0">
                          <a:solidFill>
                            <a:srgbClr val="2B3140"/>
                          </a:solidFill>
                          <a:latin typeface="Century Gothic"/>
                        </a:rPr>
                        <a:t>3</a:t>
                      </a:r>
                    </a:p>
                  </a:txBody>
                  <a:tcPr marL="64008" marR="45720" marT="18288" marB="18288" anchor="ctr">
                    <a:solidFill>
                      <a:srgbClr val="FFFFFF"/>
                    </a:solidFill>
                  </a:tcPr>
                </a:tc>
                <a:tc>
                  <a:txBody>
                    <a:bodyPr/>
                    <a:lstStyle/>
                    <a:p>
                      <a:pPr algn="l"/>
                      <a:r>
                        <a:rPr sz="900" b="0">
                          <a:solidFill>
                            <a:srgbClr val="2B3140"/>
                          </a:solidFill>
                          <a:latin typeface="Century Gothic"/>
                        </a:rPr>
                        <a:t>Etisalat GPRS link delivery &amp; testing – DXB</a:t>
                      </a:r>
                    </a:p>
                  </a:txBody>
                  <a:tcPr marL="64008" marR="45720" marT="18288" marB="18288" anchor="ctr">
                    <a:solidFill>
                      <a:srgbClr val="FFFFFF"/>
                    </a:solidFill>
                  </a:tcPr>
                </a:tc>
                <a:tc>
                  <a:txBody>
                    <a:bodyPr/>
                    <a:lstStyle/>
                    <a:p>
                      <a:pPr algn="ctr"/>
                      <a:r>
                        <a:rPr sz="900" b="0">
                          <a:solidFill>
                            <a:srgbClr val="2B3140"/>
                          </a:solidFill>
                          <a:latin typeface="Century Gothic"/>
                        </a:rPr>
                        <a:t>TBC</a:t>
                      </a:r>
                    </a:p>
                  </a:txBody>
                  <a:tcPr marL="64008" marR="45720" marT="18288" marB="18288" anchor="ctr">
                    <a:solidFill>
                      <a:srgbClr val="FFFFFF"/>
                    </a:solidFill>
                  </a:tcPr>
                </a:tc>
                <a:extLst>
                  <a:ext uri="{0D108BD9-81ED-4DB2-BD59-A6C34878D82A}">
                    <a16:rowId xmlns:a16="http://schemas.microsoft.com/office/drawing/2014/main" val="10003"/>
                  </a:ext>
                </a:extLst>
              </a:tr>
              <a:tr h="274320">
                <a:tc>
                  <a:txBody>
                    <a:bodyPr/>
                    <a:lstStyle/>
                    <a:p>
                      <a:pPr algn="ctr"/>
                      <a:r>
                        <a:rPr sz="900" b="0">
                          <a:solidFill>
                            <a:srgbClr val="2B3140"/>
                          </a:solidFill>
                          <a:latin typeface="Century Gothic"/>
                        </a:rPr>
                        <a:t>4</a:t>
                      </a:r>
                    </a:p>
                  </a:txBody>
                  <a:tcPr marL="64008" marR="45720" marT="18288" marB="18288" anchor="ctr">
                    <a:solidFill>
                      <a:srgbClr val="F2F5FB"/>
                    </a:solidFill>
                  </a:tcPr>
                </a:tc>
                <a:tc>
                  <a:txBody>
                    <a:bodyPr/>
                    <a:lstStyle/>
                    <a:p>
                      <a:pPr algn="l"/>
                      <a:r>
                        <a:rPr sz="900" b="0">
                          <a:solidFill>
                            <a:srgbClr val="2B3140"/>
                          </a:solidFill>
                          <a:latin typeface="Century Gothic"/>
                        </a:rPr>
                        <a:t>Du GPRS link delivery &amp; testing – KDC / DXB</a:t>
                      </a:r>
                    </a:p>
                  </a:txBody>
                  <a:tcPr marL="64008" marR="45720" marT="18288" marB="18288" anchor="ctr">
                    <a:solidFill>
                      <a:srgbClr val="F2F5FB"/>
                    </a:solidFill>
                  </a:tcPr>
                </a:tc>
                <a:tc>
                  <a:txBody>
                    <a:bodyPr/>
                    <a:lstStyle/>
                    <a:p>
                      <a:pPr algn="ctr"/>
                      <a:r>
                        <a:rPr sz="900" b="0">
                          <a:solidFill>
                            <a:srgbClr val="2B3140"/>
                          </a:solidFill>
                          <a:latin typeface="Century Gothic"/>
                        </a:rPr>
                        <a:t>TBC</a:t>
                      </a:r>
                    </a:p>
                  </a:txBody>
                  <a:tcPr marL="64008" marR="45720" marT="18288" marB="18288" anchor="ctr">
                    <a:solidFill>
                      <a:srgbClr val="F2F5FB"/>
                    </a:solidFill>
                  </a:tcPr>
                </a:tc>
                <a:extLst>
                  <a:ext uri="{0D108BD9-81ED-4DB2-BD59-A6C34878D82A}">
                    <a16:rowId xmlns:a16="http://schemas.microsoft.com/office/drawing/2014/main" val="10004"/>
                  </a:ext>
                </a:extLst>
              </a:tr>
              <a:tr h="274320">
                <a:tc>
                  <a:txBody>
                    <a:bodyPr/>
                    <a:lstStyle/>
                    <a:p>
                      <a:pPr algn="ctr"/>
                      <a:r>
                        <a:rPr sz="900" b="0">
                          <a:solidFill>
                            <a:srgbClr val="2B3140"/>
                          </a:solidFill>
                          <a:latin typeface="Century Gothic"/>
                        </a:rPr>
                        <a:t>5</a:t>
                      </a:r>
                    </a:p>
                  </a:txBody>
                  <a:tcPr marL="64008" marR="45720" marT="18288" marB="18288" anchor="ctr">
                    <a:solidFill>
                      <a:srgbClr val="FFFFFF"/>
                    </a:solidFill>
                  </a:tcPr>
                </a:tc>
                <a:tc>
                  <a:txBody>
                    <a:bodyPr/>
                    <a:lstStyle/>
                    <a:p>
                      <a:pPr algn="l"/>
                      <a:r>
                        <a:rPr sz="900" b="0">
                          <a:solidFill>
                            <a:srgbClr val="2B3140"/>
                          </a:solidFill>
                          <a:latin typeface="Century Gothic"/>
                        </a:rPr>
                        <a:t>Router &amp; centralized firewall configuration</a:t>
                      </a:r>
                    </a:p>
                  </a:txBody>
                  <a:tcPr marL="64008" marR="45720" marT="18288" marB="18288" anchor="ctr">
                    <a:solidFill>
                      <a:srgbClr val="FFFFFF"/>
                    </a:solidFill>
                  </a:tcPr>
                </a:tc>
                <a:tc>
                  <a:txBody>
                    <a:bodyPr/>
                    <a:lstStyle/>
                    <a:p>
                      <a:pPr algn="ctr"/>
                      <a:r>
                        <a:rPr sz="900" b="0">
                          <a:solidFill>
                            <a:srgbClr val="2B3140"/>
                          </a:solidFill>
                          <a:latin typeface="Century Gothic"/>
                        </a:rPr>
                        <a:t>TBC</a:t>
                      </a:r>
                    </a:p>
                  </a:txBody>
                  <a:tcPr marL="64008" marR="45720" marT="18288" marB="18288" anchor="ctr">
                    <a:solidFill>
                      <a:srgbClr val="FFFFFF"/>
                    </a:solidFill>
                  </a:tcPr>
                </a:tc>
                <a:extLst>
                  <a:ext uri="{0D108BD9-81ED-4DB2-BD59-A6C34878D82A}">
                    <a16:rowId xmlns:a16="http://schemas.microsoft.com/office/drawing/2014/main" val="10005"/>
                  </a:ext>
                </a:extLst>
              </a:tr>
              <a:tr h="274320">
                <a:tc>
                  <a:txBody>
                    <a:bodyPr/>
                    <a:lstStyle/>
                    <a:p>
                      <a:pPr algn="ctr"/>
                      <a:r>
                        <a:rPr sz="900" b="0">
                          <a:solidFill>
                            <a:srgbClr val="2B3140"/>
                          </a:solidFill>
                          <a:latin typeface="Century Gothic"/>
                        </a:rPr>
                        <a:t>6</a:t>
                      </a:r>
                    </a:p>
                  </a:txBody>
                  <a:tcPr marL="64008" marR="45720" marT="18288" marB="18288" anchor="ctr">
                    <a:solidFill>
                      <a:srgbClr val="F2F5FB"/>
                    </a:solidFill>
                  </a:tcPr>
                </a:tc>
                <a:tc>
                  <a:txBody>
                    <a:bodyPr/>
                    <a:lstStyle/>
                    <a:p>
                      <a:pPr algn="l"/>
                      <a:r>
                        <a:rPr sz="900" b="0">
                          <a:solidFill>
                            <a:srgbClr val="2B3140"/>
                          </a:solidFill>
                          <a:latin typeface="Century Gothic"/>
                        </a:rPr>
                        <a:t>Routing / NAT cutover with ISP – KDC</a:t>
                      </a:r>
                    </a:p>
                  </a:txBody>
                  <a:tcPr marL="64008" marR="45720" marT="18288" marB="18288" anchor="ctr">
                    <a:solidFill>
                      <a:srgbClr val="F2F5FB"/>
                    </a:solidFill>
                  </a:tcPr>
                </a:tc>
                <a:tc>
                  <a:txBody>
                    <a:bodyPr/>
                    <a:lstStyle/>
                    <a:p>
                      <a:pPr algn="ctr"/>
                      <a:r>
                        <a:rPr sz="900" b="0">
                          <a:solidFill>
                            <a:srgbClr val="2B3140"/>
                          </a:solidFill>
                          <a:latin typeface="Century Gothic"/>
                        </a:rPr>
                        <a:t>TBC</a:t>
                      </a:r>
                    </a:p>
                  </a:txBody>
                  <a:tcPr marL="64008" marR="45720" marT="18288" marB="18288" anchor="ctr">
                    <a:solidFill>
                      <a:srgbClr val="F2F5FB"/>
                    </a:solidFill>
                  </a:tcPr>
                </a:tc>
                <a:extLst>
                  <a:ext uri="{0D108BD9-81ED-4DB2-BD59-A6C34878D82A}">
                    <a16:rowId xmlns:a16="http://schemas.microsoft.com/office/drawing/2014/main" val="10006"/>
                  </a:ext>
                </a:extLst>
              </a:tr>
              <a:tr h="274320">
                <a:tc>
                  <a:txBody>
                    <a:bodyPr/>
                    <a:lstStyle/>
                    <a:p>
                      <a:pPr algn="ctr"/>
                      <a:r>
                        <a:rPr sz="900" b="0">
                          <a:solidFill>
                            <a:srgbClr val="2B3140"/>
                          </a:solidFill>
                          <a:latin typeface="Century Gothic"/>
                        </a:rPr>
                        <a:t>7</a:t>
                      </a:r>
                    </a:p>
                  </a:txBody>
                  <a:tcPr marL="64008" marR="45720" marT="18288" marB="18288" anchor="ctr">
                    <a:solidFill>
                      <a:srgbClr val="FFFFFF"/>
                    </a:solidFill>
                  </a:tcPr>
                </a:tc>
                <a:tc>
                  <a:txBody>
                    <a:bodyPr/>
                    <a:lstStyle/>
                    <a:p>
                      <a:pPr algn="l"/>
                      <a:r>
                        <a:rPr sz="900" b="0">
                          <a:solidFill>
                            <a:srgbClr val="2B3140"/>
                          </a:solidFill>
                          <a:latin typeface="Century Gothic"/>
                        </a:rPr>
                        <a:t>Pilot POS migration &amp; transaction validation</a:t>
                      </a:r>
                    </a:p>
                  </a:txBody>
                  <a:tcPr marL="64008" marR="45720" marT="18288" marB="18288" anchor="ctr">
                    <a:solidFill>
                      <a:srgbClr val="FFFFFF"/>
                    </a:solidFill>
                  </a:tcPr>
                </a:tc>
                <a:tc>
                  <a:txBody>
                    <a:bodyPr/>
                    <a:lstStyle/>
                    <a:p>
                      <a:pPr algn="ctr"/>
                      <a:r>
                        <a:rPr sz="900" b="0">
                          <a:solidFill>
                            <a:srgbClr val="2B3140"/>
                          </a:solidFill>
                          <a:latin typeface="Century Gothic"/>
                        </a:rPr>
                        <a:t>TBC</a:t>
                      </a:r>
                    </a:p>
                  </a:txBody>
                  <a:tcPr marL="64008" marR="45720" marT="18288" marB="18288" anchor="ctr">
                    <a:solidFill>
                      <a:srgbClr val="FFFFFF"/>
                    </a:solidFill>
                  </a:tcPr>
                </a:tc>
                <a:extLst>
                  <a:ext uri="{0D108BD9-81ED-4DB2-BD59-A6C34878D82A}">
                    <a16:rowId xmlns:a16="http://schemas.microsoft.com/office/drawing/2014/main" val="10007"/>
                  </a:ext>
                </a:extLst>
              </a:tr>
              <a:tr h="274320">
                <a:tc>
                  <a:txBody>
                    <a:bodyPr/>
                    <a:lstStyle/>
                    <a:p>
                      <a:pPr algn="ctr"/>
                      <a:r>
                        <a:rPr sz="900" b="0">
                          <a:solidFill>
                            <a:srgbClr val="2B3140"/>
                          </a:solidFill>
                          <a:latin typeface="Century Gothic"/>
                        </a:rPr>
                        <a:t>8</a:t>
                      </a:r>
                    </a:p>
                  </a:txBody>
                  <a:tcPr marL="64008" marR="45720" marT="18288" marB="18288" anchor="ctr">
                    <a:solidFill>
                      <a:srgbClr val="F2F5FB"/>
                    </a:solidFill>
                  </a:tcPr>
                </a:tc>
                <a:tc>
                  <a:txBody>
                    <a:bodyPr/>
                    <a:lstStyle/>
                    <a:p>
                      <a:pPr algn="l"/>
                      <a:r>
                        <a:rPr sz="900" b="0">
                          <a:solidFill>
                            <a:srgbClr val="2B3140"/>
                          </a:solidFill>
                          <a:latin typeface="Century Gothic"/>
                        </a:rPr>
                        <a:t>Bulk POS migration in phases (60,000 terminals)</a:t>
                      </a:r>
                    </a:p>
                  </a:txBody>
                  <a:tcPr marL="64008" marR="45720" marT="18288" marB="18288" anchor="ctr">
                    <a:solidFill>
                      <a:srgbClr val="F2F5FB"/>
                    </a:solidFill>
                  </a:tcPr>
                </a:tc>
                <a:tc>
                  <a:txBody>
                    <a:bodyPr/>
                    <a:lstStyle/>
                    <a:p>
                      <a:pPr algn="ctr"/>
                      <a:r>
                        <a:rPr sz="900" b="0">
                          <a:solidFill>
                            <a:srgbClr val="2B3140"/>
                          </a:solidFill>
                          <a:latin typeface="Century Gothic"/>
                        </a:rPr>
                        <a:t>TBC</a:t>
                      </a:r>
                    </a:p>
                  </a:txBody>
                  <a:tcPr marL="64008" marR="45720" marT="18288" marB="18288" anchor="ctr">
                    <a:solidFill>
                      <a:srgbClr val="F2F5FB"/>
                    </a:solidFill>
                  </a:tcPr>
                </a:tc>
                <a:extLst>
                  <a:ext uri="{0D108BD9-81ED-4DB2-BD59-A6C34878D82A}">
                    <a16:rowId xmlns:a16="http://schemas.microsoft.com/office/drawing/2014/main" val="10008"/>
                  </a:ext>
                </a:extLst>
              </a:tr>
              <a:tr h="274320">
                <a:tc>
                  <a:txBody>
                    <a:bodyPr/>
                    <a:lstStyle/>
                    <a:p>
                      <a:pPr algn="ctr"/>
                      <a:r>
                        <a:rPr sz="900" b="0">
                          <a:solidFill>
                            <a:srgbClr val="2B3140"/>
                          </a:solidFill>
                          <a:latin typeface="Century Gothic"/>
                        </a:rPr>
                        <a:t>9</a:t>
                      </a:r>
                    </a:p>
                  </a:txBody>
                  <a:tcPr marL="64008" marR="45720" marT="18288" marB="18288" anchor="ctr">
                    <a:solidFill>
                      <a:srgbClr val="FFFFFF"/>
                    </a:solidFill>
                  </a:tcPr>
                </a:tc>
                <a:tc>
                  <a:txBody>
                    <a:bodyPr/>
                    <a:lstStyle/>
                    <a:p>
                      <a:pPr algn="l"/>
                      <a:r>
                        <a:rPr sz="900" b="0">
                          <a:solidFill>
                            <a:srgbClr val="2B3140"/>
                          </a:solidFill>
                          <a:latin typeface="Century Gothic"/>
                        </a:rPr>
                        <a:t>Decommission GRE tunnels &amp; Mashreq links</a:t>
                      </a:r>
                    </a:p>
                  </a:txBody>
                  <a:tcPr marL="64008" marR="45720" marT="18288" marB="18288" anchor="ctr">
                    <a:solidFill>
                      <a:srgbClr val="FFFFFF"/>
                    </a:solidFill>
                  </a:tcPr>
                </a:tc>
                <a:tc>
                  <a:txBody>
                    <a:bodyPr/>
                    <a:lstStyle/>
                    <a:p>
                      <a:pPr algn="ctr"/>
                      <a:r>
                        <a:rPr sz="900" b="0">
                          <a:solidFill>
                            <a:srgbClr val="2B3140"/>
                          </a:solidFill>
                          <a:latin typeface="Century Gothic"/>
                        </a:rPr>
                        <a:t>TBC</a:t>
                      </a:r>
                    </a:p>
                  </a:txBody>
                  <a:tcPr marL="64008" marR="45720" marT="18288" marB="18288" anchor="ctr">
                    <a:solidFill>
                      <a:srgbClr val="FFFFFF"/>
                    </a:solidFill>
                  </a:tcPr>
                </a:tc>
                <a:extLst>
                  <a:ext uri="{0D108BD9-81ED-4DB2-BD59-A6C34878D82A}">
                    <a16:rowId xmlns:a16="http://schemas.microsoft.com/office/drawing/2014/main" val="10009"/>
                  </a:ext>
                </a:extLst>
              </a:tr>
            </a:tbl>
          </a:graphicData>
        </a:graphic>
      </p:graphicFrame>
      <p:sp>
        <p:nvSpPr>
          <p:cNvPr id="62" name="TextBox 61"/>
          <p:cNvSpPr txBox="1"/>
          <p:nvPr/>
        </p:nvSpPr>
        <p:spPr>
          <a:xfrm>
            <a:off x="7726679" y="4553712"/>
            <a:ext cx="4279392" cy="365760"/>
          </a:xfrm>
          <a:prstGeom prst="rect">
            <a:avLst/>
          </a:prstGeom>
          <a:noFill/>
        </p:spPr>
        <p:txBody>
          <a:bodyPr wrap="square" lIns="0" tIns="0" rIns="0" bIns="0" anchor="t">
            <a:spAutoFit/>
          </a:bodyPr>
          <a:lstStyle/>
          <a:p>
            <a:pPr algn="l"/>
            <a:r>
              <a:rPr sz="900" b="0" i="1">
                <a:solidFill>
                  <a:srgbClr val="667085"/>
                </a:solidFill>
                <a:latin typeface="Century Gothic"/>
              </a:rPr>
              <a:t>Target state: POS traffic terminates directly at NeoPay – no Mashreq hop, no GRE tunnels. Dates to be confirmed with Etisalat, Du and Mashreq.</a:t>
            </a:r>
          </a:p>
        </p:txBody>
      </p:sp>
      <p:cxnSp>
        <p:nvCxnSpPr>
          <p:cNvPr id="63" name="Connector 62"/>
          <p:cNvCxnSpPr/>
          <p:nvPr/>
        </p:nvCxnSpPr>
        <p:spPr>
          <a:xfrm>
            <a:off x="731520" y="6245352"/>
            <a:ext cx="457200" cy="0"/>
          </a:xfrm>
          <a:prstGeom prst="line">
            <a:avLst/>
          </a:prstGeom>
          <a:ln w="25400">
            <a:solidFill>
              <a:srgbClr val="1B8A3E"/>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280160" y="6144768"/>
            <a:ext cx="1600200" cy="201168"/>
          </a:xfrm>
          <a:prstGeom prst="rect">
            <a:avLst/>
          </a:prstGeom>
          <a:noFill/>
        </p:spPr>
        <p:txBody>
          <a:bodyPr wrap="square" lIns="0" tIns="0" rIns="0" bIns="0" anchor="t">
            <a:spAutoFit/>
          </a:bodyPr>
          <a:lstStyle/>
          <a:p>
            <a:pPr algn="l"/>
            <a:r>
              <a:rPr sz="1000" b="0" i="0">
                <a:solidFill>
                  <a:srgbClr val="2B3140"/>
                </a:solidFill>
                <a:latin typeface="Century Gothic"/>
              </a:rPr>
              <a:t>Etisalat physical link</a:t>
            </a:r>
          </a:p>
        </p:txBody>
      </p:sp>
      <p:cxnSp>
        <p:nvCxnSpPr>
          <p:cNvPr id="65" name="Connector 64"/>
          <p:cNvCxnSpPr/>
          <p:nvPr/>
        </p:nvCxnSpPr>
        <p:spPr>
          <a:xfrm>
            <a:off x="3246120" y="6245352"/>
            <a:ext cx="457200" cy="0"/>
          </a:xfrm>
          <a:prstGeom prst="line">
            <a:avLst/>
          </a:prstGeom>
          <a:ln w="25400">
            <a:solidFill>
              <a:srgbClr val="1A62C4"/>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3794759" y="6144768"/>
            <a:ext cx="1371600" cy="201168"/>
          </a:xfrm>
          <a:prstGeom prst="rect">
            <a:avLst/>
          </a:prstGeom>
          <a:noFill/>
        </p:spPr>
        <p:txBody>
          <a:bodyPr wrap="square" lIns="0" tIns="0" rIns="0" bIns="0" anchor="t">
            <a:spAutoFit/>
          </a:bodyPr>
          <a:lstStyle/>
          <a:p>
            <a:pPr algn="l"/>
            <a:r>
              <a:rPr sz="1000" b="0" i="0">
                <a:solidFill>
                  <a:srgbClr val="2B3140"/>
                </a:solidFill>
                <a:latin typeface="Century Gothic"/>
              </a:rPr>
              <a:t>Du physical link</a:t>
            </a:r>
          </a:p>
        </p:txBody>
      </p:sp>
      <p:cxnSp>
        <p:nvCxnSpPr>
          <p:cNvPr id="67" name="Connector 66"/>
          <p:cNvCxnSpPr/>
          <p:nvPr/>
        </p:nvCxnSpPr>
        <p:spPr>
          <a:xfrm>
            <a:off x="5532120" y="6245352"/>
            <a:ext cx="457200" cy="0"/>
          </a:xfrm>
          <a:prstGeom prst="line">
            <a:avLst/>
          </a:prstGeom>
          <a:ln w="38100">
            <a:solidFill>
              <a:srgbClr val="2F3747"/>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080759" y="6144768"/>
            <a:ext cx="1188720" cy="201168"/>
          </a:xfrm>
          <a:prstGeom prst="rect">
            <a:avLst/>
          </a:prstGeom>
          <a:noFill/>
        </p:spPr>
        <p:txBody>
          <a:bodyPr wrap="square" lIns="0" tIns="0" rIns="0" bIns="0" anchor="t">
            <a:spAutoFit/>
          </a:bodyPr>
          <a:lstStyle/>
          <a:p>
            <a:pPr algn="l"/>
            <a:r>
              <a:rPr sz="1000" b="0" i="0">
                <a:solidFill>
                  <a:srgbClr val="2B3140"/>
                </a:solidFill>
                <a:latin typeface="Century Gothic"/>
              </a:rPr>
              <a:t>Inter-DC link</a:t>
            </a:r>
          </a:p>
        </p:txBody>
      </p:sp>
      <p:cxnSp>
        <p:nvCxnSpPr>
          <p:cNvPr id="69" name="Connector 68"/>
          <p:cNvCxnSpPr/>
          <p:nvPr/>
        </p:nvCxnSpPr>
        <p:spPr>
          <a:xfrm>
            <a:off x="7635240" y="6245352"/>
            <a:ext cx="457200" cy="0"/>
          </a:xfrm>
          <a:prstGeom prst="line">
            <a:avLst/>
          </a:prstGeom>
          <a:ln w="25400">
            <a:solidFill>
              <a:srgbClr val="667085"/>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8183879" y="6144768"/>
            <a:ext cx="1371600" cy="201168"/>
          </a:xfrm>
          <a:prstGeom prst="rect">
            <a:avLst/>
          </a:prstGeom>
          <a:noFill/>
        </p:spPr>
        <p:txBody>
          <a:bodyPr wrap="square" lIns="0" tIns="0" rIns="0" bIns="0" anchor="t">
            <a:spAutoFit/>
          </a:bodyPr>
          <a:lstStyle/>
          <a:p>
            <a:pPr algn="l"/>
            <a:r>
              <a:rPr sz="1000" b="0" i="0">
                <a:solidFill>
                  <a:srgbClr val="2B3140"/>
                </a:solidFill>
                <a:latin typeface="Century Gothic"/>
              </a:rPr>
              <a:t>GPRS radio link</a:t>
            </a:r>
          </a:p>
        </p:txBody>
      </p:sp>
      <p:sp>
        <p:nvSpPr>
          <p:cNvPr id="72" name="Shape 17">
            <a:extLst>
              <a:ext uri="{FF2B5EF4-FFF2-40B4-BE49-F238E27FC236}">
                <a16:creationId xmlns:a16="http://schemas.microsoft.com/office/drawing/2014/main" id="{32CD40E5-5594-A342-3BEB-B9FB25A271AB}"/>
              </a:ext>
            </a:extLst>
          </p:cNvPr>
          <p:cNvSpPr/>
          <p:nvPr/>
        </p:nvSpPr>
        <p:spPr>
          <a:xfrm>
            <a:off x="1187862" y="2307573"/>
            <a:ext cx="1458468" cy="630936"/>
          </a:xfrm>
          <a:custGeom>
            <a:avLst/>
            <a:gdLst/>
            <a:ahLst/>
            <a:cxnLst/>
            <a:rect l="l" t="t" r="r" b="b"/>
            <a:pathLst>
              <a:path w="1458468" h="630936">
                <a:moveTo>
                  <a:pt x="18288" y="612648"/>
                </a:moveTo>
                <a:lnTo>
                  <a:pt x="340583" y="477927"/>
                </a:lnTo>
                <a:lnTo>
                  <a:pt x="515744" y="493905"/>
                </a:lnTo>
                <a:lnTo>
                  <a:pt x="334154" y="391418"/>
                </a:lnTo>
                <a:lnTo>
                  <a:pt x="509315" y="407396"/>
                </a:lnTo>
                <a:lnTo>
                  <a:pt x="1440180" y="18288"/>
                </a:lnTo>
              </a:path>
            </a:pathLst>
          </a:custGeom>
          <a:noFill/>
          <a:ln w="25400">
            <a:solidFill>
              <a:srgbClr val="23A04A"/>
            </a:solidFill>
            <a:prstDash val="solid"/>
          </a:ln>
        </p:spPr>
        <p:txBody>
          <a:bodyPr/>
          <a:lstStyle/>
          <a:p>
            <a:endParaRPr lang="en-US"/>
          </a:p>
        </p:txBody>
      </p:sp>
      <p:sp>
        <p:nvSpPr>
          <p:cNvPr id="74" name="Shape 18">
            <a:extLst>
              <a:ext uri="{FF2B5EF4-FFF2-40B4-BE49-F238E27FC236}">
                <a16:creationId xmlns:a16="http://schemas.microsoft.com/office/drawing/2014/main" id="{D323B351-AE55-DEC7-6693-D2016A33571E}"/>
              </a:ext>
            </a:extLst>
          </p:cNvPr>
          <p:cNvSpPr/>
          <p:nvPr/>
        </p:nvSpPr>
        <p:spPr>
          <a:xfrm>
            <a:off x="1187862" y="3309092"/>
            <a:ext cx="1458468" cy="1508760"/>
          </a:xfrm>
          <a:custGeom>
            <a:avLst/>
            <a:gdLst/>
            <a:ahLst/>
            <a:cxnLst/>
            <a:rect l="l" t="t" r="r" b="b"/>
            <a:pathLst>
              <a:path w="1458468" h="1508760">
                <a:moveTo>
                  <a:pt x="18288" y="18288"/>
                </a:moveTo>
                <a:lnTo>
                  <a:pt x="460957" y="476614"/>
                </a:lnTo>
                <a:lnTo>
                  <a:pt x="509754" y="645598"/>
                </a:lnTo>
                <a:lnTo>
                  <a:pt x="539209" y="439173"/>
                </a:lnTo>
                <a:lnTo>
                  <a:pt x="588006" y="608157"/>
                </a:lnTo>
                <a:lnTo>
                  <a:pt x="1440180" y="1490472"/>
                </a:lnTo>
              </a:path>
            </a:pathLst>
          </a:custGeom>
          <a:noFill/>
          <a:ln w="25400">
            <a:solidFill>
              <a:srgbClr val="1E73E8"/>
            </a:solidFill>
            <a:prstDash val="solid"/>
          </a:ln>
        </p:spPr>
        <p:txBody>
          <a:bodyPr/>
          <a:lstStyle/>
          <a:p>
            <a:endParaRPr lang="en-US"/>
          </a:p>
        </p:txBody>
      </p:sp>
      <p:pic>
        <p:nvPicPr>
          <p:cNvPr id="76" name="Image 1" descr="preencoded.png">
            <a:extLst>
              <a:ext uri="{FF2B5EF4-FFF2-40B4-BE49-F238E27FC236}">
                <a16:creationId xmlns:a16="http://schemas.microsoft.com/office/drawing/2014/main" id="{E99BA5A6-8E2F-F1CE-FB32-BF7DE35ED8C7}"/>
              </a:ext>
            </a:extLst>
          </p:cNvPr>
          <p:cNvPicPr>
            <a:picLocks noChangeAspect="1"/>
          </p:cNvPicPr>
          <p:nvPr/>
        </p:nvPicPr>
        <p:blipFill>
          <a:blip r:embed="rId6"/>
          <a:stretch>
            <a:fillRect/>
          </a:stretch>
        </p:blipFill>
        <p:spPr>
          <a:xfrm>
            <a:off x="2381154" y="2078973"/>
            <a:ext cx="493776" cy="493776"/>
          </a:xfrm>
          <a:prstGeom prst="rect">
            <a:avLst/>
          </a:prstGeom>
        </p:spPr>
      </p:pic>
      <p:pic>
        <p:nvPicPr>
          <p:cNvPr id="78" name="Image 2" descr="preencoded.png">
            <a:extLst>
              <a:ext uri="{FF2B5EF4-FFF2-40B4-BE49-F238E27FC236}">
                <a16:creationId xmlns:a16="http://schemas.microsoft.com/office/drawing/2014/main" id="{6B366E0F-DE5F-F57A-D42F-181618BFC8D3}"/>
              </a:ext>
            </a:extLst>
          </p:cNvPr>
          <p:cNvPicPr>
            <a:picLocks noChangeAspect="1"/>
          </p:cNvPicPr>
          <p:nvPr/>
        </p:nvPicPr>
        <p:blipFill>
          <a:blip r:embed="rId7"/>
          <a:stretch>
            <a:fillRect/>
          </a:stretch>
        </p:blipFill>
        <p:spPr>
          <a:xfrm>
            <a:off x="2381154" y="4552676"/>
            <a:ext cx="493776" cy="4937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9D0B6F2B5458D478774C0C1FC7FC854" ma:contentTypeVersion="13" ma:contentTypeDescription="Create a new document." ma:contentTypeScope="" ma:versionID="0355218d867daa771ae592e1e18752e3">
  <xsd:schema xmlns:xsd="http://www.w3.org/2001/XMLSchema" xmlns:xs="http://www.w3.org/2001/XMLSchema" xmlns:p="http://schemas.microsoft.com/office/2006/metadata/properties" xmlns:ns2="8c35bf0c-9fce-4a76-861a-218ec0b73af9" xmlns:ns3="d5191d45-54a1-4079-9476-0613e4026b73" targetNamespace="http://schemas.microsoft.com/office/2006/metadata/properties" ma:root="true" ma:fieldsID="0c90697ce4fc1cc8ddc7ae072258fad6" ns2:_="" ns3:_="">
    <xsd:import namespace="8c35bf0c-9fce-4a76-861a-218ec0b73af9"/>
    <xsd:import namespace="d5191d45-54a1-4079-9476-0613e4026b73"/>
    <xsd:element name="properties">
      <xsd:complexType>
        <xsd:sequence>
          <xsd:element name="documentManagement">
            <xsd:complexType>
              <xsd:all>
                <xsd:element ref="ns2:MediaServiceSearchProperties" minOccurs="0"/>
                <xsd:element ref="ns2:MediaServiceOCR" minOccurs="0"/>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35bf0c-9fce-4a76-861a-218ec0b73af9" elementFormDefault="qualified">
    <xsd:import namespace="http://schemas.microsoft.com/office/2006/documentManagement/types"/>
    <xsd:import namespace="http://schemas.microsoft.com/office/infopath/2007/PartnerControls"/>
    <xsd:element name="MediaServiceSearchProperties" ma:index="8" nillable="true" ma:displayName="MediaServiceSearchProperties" ma:hidden="true" ma:internalName="MediaServiceSearchProperties" ma:readOnly="true">
      <xsd:simpleType>
        <xsd:restriction base="dms:Note"/>
      </xsd:simpleType>
    </xsd:element>
    <xsd:element name="MediaServiceOCR" ma:index="9" nillable="true" ma:displayName="Extracted Text" ma:internalName="MediaServiceOCR" ma:readOnly="true">
      <xsd:simpleType>
        <xsd:restriction base="dms:Note">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3319406-bff7-448c-87c0-33949168196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5191d45-54a1-4079-9476-0613e4026b7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73cb18d-4607-43ec-8346-9b5c763dfa85}" ma:internalName="TaxCatchAll" ma:showField="CatchAllData" ma:web="d5191d45-54a1-4079-9476-0613e4026b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35bf0c-9fce-4a76-861a-218ec0b73af9">
      <Terms xmlns="http://schemas.microsoft.com/office/infopath/2007/PartnerControls"/>
    </lcf76f155ced4ddcb4097134ff3c332f>
    <TaxCatchAll xmlns="d5191d45-54a1-4079-9476-0613e4026b73" xsi:nil="true"/>
  </documentManagement>
</p:properties>
</file>

<file path=customXml/itemProps1.xml><?xml version="1.0" encoding="utf-8"?>
<ds:datastoreItem xmlns:ds="http://schemas.openxmlformats.org/officeDocument/2006/customXml" ds:itemID="{3989FE6B-4E45-4DF3-B095-E285EEA2B308}"/>
</file>

<file path=customXml/itemProps2.xml><?xml version="1.0" encoding="utf-8"?>
<ds:datastoreItem xmlns:ds="http://schemas.openxmlformats.org/officeDocument/2006/customXml" ds:itemID="{CC7368E9-3576-4CD5-A034-BD3226A4BBE7}"/>
</file>

<file path=customXml/itemProps3.xml><?xml version="1.0" encoding="utf-8"?>
<ds:datastoreItem xmlns:ds="http://schemas.openxmlformats.org/officeDocument/2006/customXml" ds:itemID="{9FEFE70D-FA4E-4822-B5CB-862F34C39E1F}"/>
</file>

<file path=docProps/app.xml><?xml version="1.0" encoding="utf-8"?>
<Properties xmlns="http://schemas.openxmlformats.org/officeDocument/2006/extended-properties" xmlns:vt="http://schemas.openxmlformats.org/officeDocument/2006/docPropsVTypes">
  <TotalTime>552</TotalTime>
  <Words>1235</Words>
  <Application>Microsoft Office PowerPoint</Application>
  <PresentationFormat>Widescreen</PresentationFormat>
  <Paragraphs>259</Paragraphs>
  <Slides>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 Narrow</vt:lpstr>
      <vt:lpstr>Arial</vt:lpstr>
      <vt:lpstr>Century Gothic</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WAN Links Migration — Executive Summary &amp; POS Connectivity</dc:title>
  <dc:subject>PptxGenJS Presentation</dc:subject>
  <dc:creator>Ramesh Kumar Ponram</dc:creator>
  <cp:lastModifiedBy>Ramesh Kumar Ponram</cp:lastModifiedBy>
  <cp:revision>7</cp:revision>
  <dcterms:created xsi:type="dcterms:W3CDTF">2026-09-27T05:36:18Z</dcterms:created>
  <dcterms:modified xsi:type="dcterms:W3CDTF">2026-09-27T06:17:55Z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0x010100D9D0B6F2B5458D478774C0C1FC7FC854</vt:lpwstr>
  </property>
</Properties>
</file>